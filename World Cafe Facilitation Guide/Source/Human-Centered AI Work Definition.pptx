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
  </p:notesMasterIdLst>
  <p:sldIdLst>
    <p:sldId id="256" r:id="rId2"/>
  </p:sldIdLst>
  <p:sldSz cx="12192000" cy="6858000"/>
  <p:notesSz cx="6858000" cy="12192000"/>
  <p:embeddedFontLst>
    <p:embeddedFont>
      <p:font typeface="IBM Plex Mono" panose="020B0509050203000203" pitchFamily="49" charset="0"/>
      <p:regular r:id="rId4"/>
      <p:bold r:id="rId5"/>
    </p:embeddedFont>
    <p:embeddedFont>
      <p:font typeface="Inter"/>
      <p:regular r:id="rId6"/>
      <p:bold r:id="rId7"/>
    </p:embeddedFont>
    <p:embeddedFont>
      <p:font typeface="Sora" pitchFamily="2" charset="0"/>
      <p:regular r:id="rId8"/>
      <p:bold r:id="rId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1" d="100"/>
          <a:sy n="121" d="100"/>
        </p:scale>
        <p:origin x="485"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viewProps" Target="viewProps.xml"/><Relationship Id="rId5" Type="http://schemas.openxmlformats.org/officeDocument/2006/relationships/font" Target="fonts/font2.fntdata"/><Relationship Id="rId10" Type="http://schemas.openxmlformats.org/officeDocument/2006/relationships/presProps" Target="presProps.xml"/><Relationship Id="rId4" Type="http://schemas.openxmlformats.org/officeDocument/2006/relationships/font" Target="fonts/font1.fntdata"/><Relationship Id="rId9"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56719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444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305" y="0"/>
            <a:ext cx="12191695" cy="6858000"/>
          </a:xfrm>
          <a:prstGeom prst="rect">
            <a:avLst/>
          </a:prstGeom>
        </p:spPr>
      </p:pic>
      <p:sp>
        <p:nvSpPr>
          <p:cNvPr id="3" name="Shape 0"/>
          <p:cNvSpPr/>
          <p:nvPr/>
        </p:nvSpPr>
        <p:spPr>
          <a:xfrm>
            <a:off x="0" y="0"/>
            <a:ext cx="4063898" cy="146304"/>
          </a:xfrm>
          <a:prstGeom prst="rect">
            <a:avLst/>
          </a:prstGeom>
          <a:solidFill>
            <a:srgbClr val="0F9E8E"/>
          </a:solidFill>
          <a:ln/>
        </p:spPr>
        <p:txBody>
          <a:bodyPr/>
          <a:lstStyle/>
          <a:p>
            <a:endParaRPr lang="LID4096"/>
          </a:p>
        </p:txBody>
      </p:sp>
      <p:sp>
        <p:nvSpPr>
          <p:cNvPr id="4" name="Shape 1"/>
          <p:cNvSpPr/>
          <p:nvPr/>
        </p:nvSpPr>
        <p:spPr>
          <a:xfrm>
            <a:off x="4063898" y="0"/>
            <a:ext cx="4063898" cy="146304"/>
          </a:xfrm>
          <a:prstGeom prst="rect">
            <a:avLst/>
          </a:prstGeom>
          <a:solidFill>
            <a:srgbClr val="2B3F9E"/>
          </a:solidFill>
          <a:ln/>
        </p:spPr>
        <p:txBody>
          <a:bodyPr/>
          <a:lstStyle/>
          <a:p>
            <a:endParaRPr lang="LID4096"/>
          </a:p>
        </p:txBody>
      </p:sp>
      <p:sp>
        <p:nvSpPr>
          <p:cNvPr id="5" name="Shape 2"/>
          <p:cNvSpPr/>
          <p:nvPr/>
        </p:nvSpPr>
        <p:spPr>
          <a:xfrm>
            <a:off x="8127797" y="0"/>
            <a:ext cx="4063898" cy="146304"/>
          </a:xfrm>
          <a:prstGeom prst="rect">
            <a:avLst/>
          </a:prstGeom>
          <a:solidFill>
            <a:srgbClr val="F5A623"/>
          </a:solidFill>
          <a:ln/>
        </p:spPr>
        <p:txBody>
          <a:bodyPr/>
          <a:lstStyle/>
          <a:p>
            <a:endParaRPr lang="LID4096"/>
          </a:p>
        </p:txBody>
      </p:sp>
      <p:sp>
        <p:nvSpPr>
          <p:cNvPr id="6" name="Shape 3"/>
          <p:cNvSpPr/>
          <p:nvPr/>
        </p:nvSpPr>
        <p:spPr>
          <a:xfrm>
            <a:off x="822960" y="685800"/>
            <a:ext cx="3017520" cy="749808"/>
          </a:xfrm>
          <a:prstGeom prst="roundRect">
            <a:avLst>
              <a:gd name="adj" fmla="val 12195"/>
            </a:avLst>
          </a:prstGeom>
          <a:solidFill>
            <a:srgbClr val="FFFFFF"/>
          </a:solidFill>
          <a:ln/>
        </p:spPr>
        <p:txBody>
          <a:bodyPr/>
          <a:lstStyle/>
          <a:p>
            <a:endParaRPr lang="LID4096"/>
          </a:p>
        </p:txBody>
      </p:sp>
      <p:pic>
        <p:nvPicPr>
          <p:cNvPr id="7" name="Image 1" descr="logo.png"/>
          <p:cNvPicPr>
            <a:picLocks noChangeAspect="1"/>
          </p:cNvPicPr>
          <p:nvPr/>
        </p:nvPicPr>
        <p:blipFill>
          <a:blip r:embed="rId4"/>
          <a:stretch>
            <a:fillRect/>
          </a:stretch>
        </p:blipFill>
        <p:spPr>
          <a:xfrm>
            <a:off x="969264" y="822960"/>
            <a:ext cx="2187245" cy="475488"/>
          </a:xfrm>
          <a:prstGeom prst="rect">
            <a:avLst/>
          </a:prstGeom>
        </p:spPr>
      </p:pic>
      <p:sp>
        <p:nvSpPr>
          <p:cNvPr id="8" name="Text 4"/>
          <p:cNvSpPr/>
          <p:nvPr/>
        </p:nvSpPr>
        <p:spPr>
          <a:xfrm>
            <a:off x="822960" y="1965960"/>
            <a:ext cx="9144000" cy="320040"/>
          </a:xfrm>
          <a:prstGeom prst="rect">
            <a:avLst/>
          </a:prstGeom>
          <a:noFill/>
          <a:ln/>
        </p:spPr>
        <p:txBody>
          <a:bodyPr wrap="square" rtlCol="0" anchor="ctr"/>
          <a:lstStyle/>
          <a:p>
            <a:pPr marL="0" indent="0" algn="l">
              <a:buNone/>
            </a:pPr>
            <a:r>
              <a:rPr lang="en-US" sz="1250" b="1" kern="0" spc="300" dirty="0">
                <a:solidFill>
                  <a:srgbClr val="5EE6D6"/>
                </a:solidFill>
                <a:latin typeface="IBM Plex Mono" pitchFamily="34" charset="0"/>
                <a:ea typeface="IBM Plex Mono" pitchFamily="34" charset="-122"/>
                <a:cs typeface="IBM Plex Mono" pitchFamily="34" charset="-120"/>
              </a:rPr>
              <a:t>TEMPORARY WORKING DEFINITION</a:t>
            </a:r>
            <a:endParaRPr lang="en-US" sz="1250" dirty="0"/>
          </a:p>
        </p:txBody>
      </p:sp>
      <p:sp>
        <p:nvSpPr>
          <p:cNvPr id="9" name="Text 5"/>
          <p:cNvSpPr/>
          <p:nvPr/>
        </p:nvSpPr>
        <p:spPr>
          <a:xfrm>
            <a:off x="786384" y="2377440"/>
            <a:ext cx="10241280" cy="1188720"/>
          </a:xfrm>
          <a:prstGeom prst="rect">
            <a:avLst/>
          </a:prstGeom>
          <a:noFill/>
          <a:ln/>
        </p:spPr>
        <p:txBody>
          <a:bodyPr wrap="square" rtlCol="0" anchor="ctr"/>
          <a:lstStyle/>
          <a:p>
            <a:pPr marL="0" indent="0" algn="l">
              <a:buNone/>
            </a:pPr>
            <a:r>
              <a:rPr lang="en-US" sz="5200" b="1" dirty="0">
                <a:solidFill>
                  <a:srgbClr val="FFFFFF"/>
                </a:solidFill>
                <a:latin typeface="Sora" pitchFamily="34" charset="0"/>
                <a:ea typeface="Sora" pitchFamily="34" charset="-122"/>
                <a:cs typeface="Sora" pitchFamily="34" charset="-120"/>
              </a:rPr>
              <a:t>Human-Centered AI is:</a:t>
            </a:r>
            <a:endParaRPr lang="en-US" sz="5200" dirty="0"/>
          </a:p>
        </p:txBody>
      </p:sp>
      <p:sp>
        <p:nvSpPr>
          <p:cNvPr id="10" name="Text 6"/>
          <p:cNvSpPr/>
          <p:nvPr/>
        </p:nvSpPr>
        <p:spPr>
          <a:xfrm>
            <a:off x="822960" y="4002863"/>
            <a:ext cx="9601200" cy="626207"/>
          </a:xfrm>
          <a:prstGeom prst="rect">
            <a:avLst/>
          </a:prstGeom>
          <a:noFill/>
          <a:ln/>
        </p:spPr>
        <p:txBody>
          <a:bodyPr wrap="square" rtlCol="0" anchor="ctr"/>
          <a:lstStyle/>
          <a:p>
            <a:r>
              <a:rPr lang="en-US" sz="2400" dirty="0">
                <a:solidFill>
                  <a:srgbClr val="D7E6E4"/>
                </a:solidFill>
                <a:latin typeface="Inter" pitchFamily="34" charset="0"/>
                <a:ea typeface="Inter" pitchFamily="34" charset="-122"/>
                <a:cs typeface="Inter" pitchFamily="34" charset="-120"/>
              </a:rPr>
              <a:t>“creating and using AI to help people perform their work in a more efficient way (faster and more accurately), while making sure that they remain in control, feel motivated, stay connected socially to their colleagues, and understand how AI affects them with autonomy to question, change, or reject its decisions”</a:t>
            </a:r>
            <a:endParaRPr lang="en-US" sz="2400" dirty="0"/>
          </a:p>
        </p:txBody>
      </p:sp>
      <p:sp>
        <p:nvSpPr>
          <p:cNvPr id="11" name="Text 7"/>
          <p:cNvSpPr/>
          <p:nvPr/>
        </p:nvSpPr>
        <p:spPr>
          <a:xfrm>
            <a:off x="822960" y="5478514"/>
            <a:ext cx="9144000" cy="365760"/>
          </a:xfrm>
          <a:prstGeom prst="rect">
            <a:avLst/>
          </a:prstGeom>
          <a:noFill/>
          <a:ln/>
        </p:spPr>
        <p:txBody>
          <a:bodyPr wrap="square" rtlCol="0" anchor="ctr"/>
          <a:lstStyle/>
          <a:p>
            <a:pPr marL="0" indent="0" algn="l">
              <a:buNone/>
            </a:pPr>
            <a:r>
              <a:rPr lang="en-US" sz="1400" b="1" dirty="0">
                <a:solidFill>
                  <a:srgbClr val="FFFFFF"/>
                </a:solidFill>
                <a:latin typeface="Inter" pitchFamily="34" charset="0"/>
                <a:ea typeface="Inter" pitchFamily="34" charset="-122"/>
                <a:cs typeface="Inter" pitchFamily="34" charset="-120"/>
              </a:rPr>
              <a:t>Yes, this definition is incomplete, lacking and imperfect in many ways. This initiative aims to improve it collaboratively.</a:t>
            </a:r>
            <a:endParaRPr lang="en-US" sz="1400" dirty="0"/>
          </a:p>
        </p:txBody>
      </p:sp>
      <p:sp>
        <p:nvSpPr>
          <p:cNvPr id="12" name="Text 8"/>
          <p:cNvSpPr/>
          <p:nvPr/>
        </p:nvSpPr>
        <p:spPr>
          <a:xfrm>
            <a:off x="822960" y="6419088"/>
            <a:ext cx="10515600" cy="274320"/>
          </a:xfrm>
          <a:prstGeom prst="rect">
            <a:avLst/>
          </a:prstGeom>
          <a:noFill/>
          <a:ln/>
        </p:spPr>
        <p:txBody>
          <a:bodyPr wrap="square" rtlCol="0" anchor="ctr"/>
          <a:lstStyle/>
          <a:p>
            <a:pPr marL="0" indent="0" algn="l">
              <a:buNone/>
            </a:pPr>
            <a:r>
              <a:rPr lang="en-US" sz="900" dirty="0">
                <a:solidFill>
                  <a:srgbClr val="A9BCCB"/>
                </a:solidFill>
                <a:latin typeface="Inter" pitchFamily="34" charset="0"/>
                <a:ea typeface="Inter" pitchFamily="34" charset="-122"/>
                <a:cs typeface="Inter" pitchFamily="34" charset="-120"/>
              </a:rPr>
              <a:t>Reflexive AI Research Initiative · Lucid Institute for Organizational Science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TotalTime>
  <Words>99</Words>
  <Application>Microsoft Office PowerPoint</Application>
  <PresentationFormat>Widescreen</PresentationFormat>
  <Paragraphs>6</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Sora</vt:lpstr>
      <vt:lpstr>IBM Plex Mono</vt:lpstr>
      <vt:lpstr>Arial</vt:lpstr>
      <vt:lpstr>Inter</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Chistiaan Verwijs</cp:lastModifiedBy>
  <cp:revision>26</cp:revision>
  <dcterms:created xsi:type="dcterms:W3CDTF">2026-08-16T17:47:46Z</dcterms:created>
  <dcterms:modified xsi:type="dcterms:W3CDTF">2026-09-28T08:33:36Z</dcterms:modified>
</cp:coreProperties>
</file>