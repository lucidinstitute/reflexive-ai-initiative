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0"/>
  </p:notesMasterIdLst>
  <p:sldIdLst>
    <p:sldId id="266" r:id="rId2"/>
    <p:sldId id="267" r:id="rId3"/>
    <p:sldId id="269" r:id="rId4"/>
    <p:sldId id="270" r:id="rId5"/>
    <p:sldId id="271" r:id="rId6"/>
    <p:sldId id="272" r:id="rId7"/>
    <p:sldId id="273" r:id="rId8"/>
    <p:sldId id="274" r:id="rId9"/>
    <p:sldId id="275" r:id="rId10"/>
    <p:sldId id="276" r:id="rId11"/>
    <p:sldId id="277" r:id="rId12"/>
    <p:sldId id="278" r:id="rId13"/>
    <p:sldId id="279" r:id="rId14"/>
    <p:sldId id="280" r:id="rId15"/>
    <p:sldId id="281" r:id="rId16"/>
    <p:sldId id="282" r:id="rId17"/>
    <p:sldId id="283" r:id="rId18"/>
    <p:sldId id="284" r:id="rId19"/>
  </p:sldIdLst>
  <p:sldSz cx="12192000" cy="6858000"/>
  <p:notesSz cx="6858000" cy="12192000"/>
  <p:embeddedFontLst>
    <p:embeddedFont>
      <p:font typeface="IBM Plex Mono" panose="020B0509050203000203" pitchFamily="49" charset="0"/>
      <p:regular r:id="rId21"/>
      <p:bold r:id="rId22"/>
    </p:embeddedFont>
    <p:embeddedFont>
      <p:font typeface="Inter"/>
      <p:regular r:id="rId23"/>
      <p:bold r:id="rId24"/>
    </p:embeddedFont>
    <p:embeddedFont>
      <p:font typeface="Sora" pitchFamily="2" charset="0"/>
      <p:regular r:id="rId25"/>
      <p:bold r:id="rId2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755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56719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Welcome everyone. Today is short and interactive: we start with your own experience, give a brief overview of the research and how we work, think together in breakouts, and end with two concrete ways to get involved. Keep the chat open.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Walk through the flow. Highlight that half of the session is interactive, marked in green and amber.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Show the prompt and give people about a minute to type. Read a few answers aloud if it helps the energy. Prompt 1 of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Show the prompt and give people about a minute to type. Read a few answers aloud if it helps the energy. Prompt 2 of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Show the prompt and give people about a minute to type. Read a few answers aloud if it helps the energy. Prompt 3 of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Show the prompt and give people about a minute to type. Read a few answers aloud if it helps the energy. Prompt 4 of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Show the prompt and give people about a minute to type. Read a few answers aloud if it helps the energy. Prompt 5 of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Show the prompt and give people about a minute to type. Read a few answers aloud if it helps the energy. Prompt 6 of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Short debrief, 3 to 5 minutes. Ask for patterns, not individual answers. Capture them visibly if you can.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Keep this to two minutes. The point: AI is different from earlier technology because it takes over thinking; productivity gains don't automatically reach teams or people; the human experience depends on trust and culture; and existing guidelines tell organizations what to value, not how to organize it. That gap is our research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question we answer together. Note that we focus on the organizational 'how': procedures, rules and processes, not just values.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Two minutes. Action research: we learn by doing it in real organizations, in cycles. Design science: the outcome is a usable artifact, a governance framework, that we keep testing and improving. Everyone, from researcher to practitioner, contributes to the same framework.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Make this explicit: nobody gets paid for their contribution, and everything we produce is open. Numbers are from reflexiveai.org.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Send people into breakouts for 5 minutes max. Then a shared debrief: each group shares one concrete idea. Tip: link the ideas to the framework themes, which shows how their input feeds the research.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Two concrete options. Option A is for people who want to work on the framework itself. Option B brings the conversation into their own organization.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Dates are from reflexiveai.org; check them before presenting. The Amersfoort face-to-face series (#1) started on Oct 2. Sign up via info@reflexiveai.org.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World Cafe guide is on GitHub: github.com/LucidInstitute/Reflexive-AI-Initiative (World Cafe Facilitation Guide folder). Let us know at info@reflexiveai.org when you plan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 the floor. Close by repeating the two options and the contact address.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44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Decorative backgrou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Brand bar 1"/>
          <p:cNvSpPr/>
          <p:nvPr/>
        </p:nvSpPr>
        <p:spPr>
          <a:xfrm>
            <a:off x="0" y="0"/>
            <a:ext cx="4063898" cy="146304"/>
          </a:xfrm>
          <a:prstGeom prst="rect">
            <a:avLst/>
          </a:prstGeom>
          <a:solidFill>
            <a:srgbClr val="0F9E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Brand bar 2"/>
          <p:cNvSpPr/>
          <p:nvPr/>
        </p:nvSpPr>
        <p:spPr>
          <a:xfrm>
            <a:off x="4063898" y="0"/>
            <a:ext cx="4063898" cy="146304"/>
          </a:xfrm>
          <a:prstGeom prst="rect">
            <a:avLst/>
          </a:prstGeom>
          <a:solidFill>
            <a:srgbClr val="2B3F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Brand bar 3"/>
          <p:cNvSpPr/>
          <p:nvPr/>
        </p:nvSpPr>
        <p:spPr>
          <a:xfrm>
            <a:off x="8127797" y="0"/>
            <a:ext cx="4063898" cy="146304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Logo card"/>
          <p:cNvSpPr/>
          <p:nvPr/>
        </p:nvSpPr>
        <p:spPr>
          <a:xfrm>
            <a:off x="822960" y="685800"/>
            <a:ext cx="301752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Logo" descr="Reflexive AI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822960"/>
            <a:ext cx="2187245" cy="475488"/>
          </a:xfrm>
          <a:prstGeom prst="rect">
            <a:avLst/>
          </a:prstGeom>
        </p:spPr>
      </p:pic>
      <p:sp>
        <p:nvSpPr>
          <p:cNvPr id="11" name="Text 11"/>
          <p:cNvSpPr txBox="1"/>
          <p:nvPr/>
        </p:nvSpPr>
        <p:spPr>
          <a:xfrm>
            <a:off x="822960" y="187452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250" b="1" spc="300" dirty="0">
                <a:solidFill>
                  <a:srgbClr val="5EE6D6"/>
                </a:solidFill>
                <a:latin typeface="IBM Plex Mono"/>
                <a:ea typeface="IBM Plex Mono"/>
                <a:cs typeface="IBM Plex Mono"/>
              </a:rPr>
              <a:t>REFLEXIVE AI RESEARCH INITIATIVE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786384" y="2240280"/>
            <a:ext cx="10241280" cy="1600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l">
              <a:lnSpc>
                <a:spcPct val="95000"/>
              </a:lnSpc>
              <a:spcAft>
                <a:spcPts val="0"/>
              </a:spcAft>
              <a:buNone/>
            </a:pPr>
            <a:r>
              <a:rPr lang="en-US" sz="4400" b="1" dirty="0">
                <a:solidFill>
                  <a:srgbClr val="FFFFFF"/>
                </a:solidFill>
                <a:latin typeface="Sora"/>
                <a:ea typeface="Sora"/>
                <a:cs typeface="Sora"/>
              </a:rPr>
              <a:t>Let's shape human-centered AI, together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822960" y="3886200"/>
            <a:ext cx="96012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800" b="0" dirty="0">
                <a:solidFill>
                  <a:srgbClr val="D7E6E4"/>
                </a:solidFill>
                <a:latin typeface="Inter"/>
                <a:ea typeface="Inter"/>
                <a:cs typeface="Inter"/>
              </a:rPr>
              <a:t>A short introduction to the initiative, and an invitation to join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822960" y="4709160"/>
            <a:ext cx="96012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Inter"/>
                <a:ea typeface="Inter"/>
                <a:cs typeface="Inter"/>
              </a:rPr>
              <a:t>Interactive session · keep the chat open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en-US" sz="1400" b="0" u="sng" dirty="0">
                <a:solidFill>
                  <a:srgbClr val="FFFFFF"/>
                </a:solidFill>
                <a:latin typeface="Inter"/>
                <a:ea typeface="Inter"/>
                <a:cs typeface="Inter"/>
              </a:rPr>
              <a:t>reflexiveai.org</a:t>
            </a:r>
          </a:p>
        </p:txBody>
      </p:sp>
      <p:sp>
        <p:nvSpPr>
          <p:cNvPr id="15" name="Footer"/>
          <p:cNvSpPr txBox="1"/>
          <p:nvPr/>
        </p:nvSpPr>
        <p:spPr>
          <a:xfrm>
            <a:off x="822960" y="6419088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00" b="0" dirty="0">
                <a:solidFill>
                  <a:srgbClr val="A9BCCB"/>
                </a:solidFill>
                <a:latin typeface="Inter"/>
                <a:ea typeface="Inter"/>
                <a:cs typeface="Inter"/>
              </a:rPr>
              <a:t>Reflexive AI Research Initiative · Lucid Institute for Organizational 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rand bar 1"/>
          <p:cNvSpPr/>
          <p:nvPr/>
        </p:nvSpPr>
        <p:spPr>
          <a:xfrm>
            <a:off x="0" y="0"/>
            <a:ext cx="4063898" cy="146304"/>
          </a:xfrm>
          <a:prstGeom prst="rect">
            <a:avLst/>
          </a:prstGeom>
          <a:solidFill>
            <a:srgbClr val="0F9E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Brand bar 2"/>
          <p:cNvSpPr/>
          <p:nvPr/>
        </p:nvSpPr>
        <p:spPr>
          <a:xfrm>
            <a:off x="4063898" y="0"/>
            <a:ext cx="4063898" cy="146304"/>
          </a:xfrm>
          <a:prstGeom prst="rect">
            <a:avLst/>
          </a:prstGeom>
          <a:solidFill>
            <a:srgbClr val="2B3F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Brand bar 3"/>
          <p:cNvSpPr/>
          <p:nvPr/>
        </p:nvSpPr>
        <p:spPr>
          <a:xfrm>
            <a:off x="8127797" y="0"/>
            <a:ext cx="4063898" cy="146304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Eyebrow"/>
          <p:cNvSpPr txBox="1"/>
          <p:nvPr/>
        </p:nvSpPr>
        <p:spPr>
          <a:xfrm>
            <a:off x="822960" y="96012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200" b="1" spc="200" dirty="0">
                <a:solidFill>
                  <a:srgbClr val="0B6F63"/>
                </a:solidFill>
                <a:latin typeface="IBM Plex Mono"/>
                <a:ea typeface="IBM Plex Mono"/>
                <a:cs typeface="IBM Plex Mono"/>
              </a:rPr>
              <a:t>TODAY</a:t>
            </a:r>
          </a:p>
        </p:txBody>
      </p:sp>
      <p:sp>
        <p:nvSpPr>
          <p:cNvPr id="12" name="Title"/>
          <p:cNvSpPr txBox="1"/>
          <p:nvPr/>
        </p:nvSpPr>
        <p:spPr>
          <a:xfrm>
            <a:off x="786384" y="1463040"/>
            <a:ext cx="10515600" cy="11887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3200" b="1" dirty="0">
                <a:solidFill>
                  <a:srgbClr val="14202B"/>
                </a:solidFill>
                <a:latin typeface="Sora"/>
                <a:ea typeface="Sora"/>
                <a:cs typeface="Sora"/>
              </a:rPr>
              <a:t>From your own experience to concrete next steps</a:t>
            </a:r>
          </a:p>
        </p:txBody>
      </p:sp>
      <p:cxnSp>
        <p:nvCxnSpPr>
          <p:cNvPr id="13" name="Connector 13"/>
          <p:cNvCxnSpPr/>
          <p:nvPr/>
        </p:nvCxnSpPr>
        <p:spPr>
          <a:xfrm>
            <a:off x="1024128" y="3127248"/>
            <a:ext cx="8763000" cy="0"/>
          </a:xfrm>
          <a:prstGeom prst="line">
            <a:avLst/>
          </a:prstGeom>
          <a:ln w="19050">
            <a:solidFill>
              <a:srgbClr val="BFE3DC"/>
            </a:solidFill>
          </a:ln>
        </p:spPr>
      </p:cxnSp>
      <p:sp>
        <p:nvSpPr>
          <p:cNvPr id="14" name="Number 1"/>
          <p:cNvSpPr/>
          <p:nvPr/>
        </p:nvSpPr>
        <p:spPr>
          <a:xfrm>
            <a:off x="822960" y="2926080"/>
            <a:ext cx="402336" cy="402336"/>
          </a:xfrm>
          <a:prstGeom prst="ellipse">
            <a:avLst/>
          </a:prstGeom>
          <a:solidFill>
            <a:srgbClr val="0F9E8E"/>
          </a:solidFill>
          <a:ln w="12700">
            <a:solidFill>
              <a:srgbClr val="0F9E8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IBM Plex Mono"/>
                <a:ea typeface="IBM Plex Mono"/>
                <a:cs typeface="IBM Plex Mono"/>
              </a:rPr>
              <a:t>1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822960" y="3520440"/>
            <a:ext cx="15240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500" b="1" dirty="0">
                <a:solidFill>
                  <a:srgbClr val="14202B"/>
                </a:solidFill>
                <a:latin typeface="Sora"/>
                <a:ea typeface="Sora"/>
                <a:cs typeface="Sora"/>
              </a:rPr>
              <a:t>Check-in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822960" y="3931920"/>
            <a:ext cx="14782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1250" b="0" dirty="0">
                <a:solidFill>
                  <a:srgbClr val="33424D"/>
                </a:solidFill>
                <a:latin typeface="Inter"/>
                <a:ea typeface="Inter"/>
                <a:cs typeface="Inter"/>
              </a:rPr>
              <a:t>Six prompts, answered in silence in the chat</a:t>
            </a:r>
          </a:p>
        </p:txBody>
      </p:sp>
      <p:sp>
        <p:nvSpPr>
          <p:cNvPr id="17" name="Pill"/>
          <p:cNvSpPr/>
          <p:nvPr/>
        </p:nvSpPr>
        <p:spPr>
          <a:xfrm>
            <a:off x="822960" y="4937760"/>
            <a:ext cx="1325880" cy="274320"/>
          </a:xfrm>
          <a:prstGeom prst="roundRect">
            <a:avLst>
              <a:gd name="adj" fmla="val 50000"/>
            </a:avLst>
          </a:prstGeom>
          <a:solidFill>
            <a:srgbClr val="FFF4E0"/>
          </a:solidFill>
          <a:ln w="12700">
            <a:solidFill>
              <a:srgbClr val="F7D18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850" b="1" spc="80" dirty="0">
                <a:solidFill>
                  <a:srgbClr val="9A5B00"/>
                </a:solidFill>
                <a:latin typeface="IBM Plex Mono"/>
                <a:ea typeface="IBM Plex Mono"/>
                <a:cs typeface="IBM Plex Mono"/>
              </a:rPr>
              <a:t>INTERACTIVE</a:t>
            </a:r>
          </a:p>
        </p:txBody>
      </p:sp>
      <p:sp>
        <p:nvSpPr>
          <p:cNvPr id="18" name="Number 2"/>
          <p:cNvSpPr/>
          <p:nvPr/>
        </p:nvSpPr>
        <p:spPr>
          <a:xfrm>
            <a:off x="2575560" y="2926080"/>
            <a:ext cx="402336" cy="402336"/>
          </a:xfrm>
          <a:prstGeom prst="ellipse">
            <a:avLst/>
          </a:prstGeom>
          <a:solidFill>
            <a:srgbClr val="EAF6F3"/>
          </a:solidFill>
          <a:ln w="12700">
            <a:solidFill>
              <a:srgbClr val="BFE3D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300" b="1" dirty="0">
                <a:solidFill>
                  <a:srgbClr val="0B6F63"/>
                </a:solidFill>
                <a:latin typeface="IBM Plex Mono"/>
                <a:ea typeface="IBM Plex Mono"/>
                <a:cs typeface="IBM Plex Mono"/>
              </a:rPr>
              <a:t>2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2575560" y="3520440"/>
            <a:ext cx="15240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500" b="1" dirty="0">
                <a:solidFill>
                  <a:srgbClr val="14202B"/>
                </a:solidFill>
                <a:latin typeface="Sora"/>
                <a:ea typeface="Sora"/>
                <a:cs typeface="Sora"/>
              </a:rPr>
              <a:t>Research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2575560" y="3931920"/>
            <a:ext cx="14782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1250" b="0" dirty="0">
                <a:solidFill>
                  <a:srgbClr val="33424D"/>
                </a:solidFill>
                <a:latin typeface="Inter"/>
                <a:ea typeface="Inter"/>
                <a:cs typeface="Inter"/>
              </a:rPr>
              <a:t>What science tells us so far, in a few minutes</a:t>
            </a:r>
          </a:p>
        </p:txBody>
      </p:sp>
      <p:sp>
        <p:nvSpPr>
          <p:cNvPr id="21" name="Number 3"/>
          <p:cNvSpPr/>
          <p:nvPr/>
        </p:nvSpPr>
        <p:spPr>
          <a:xfrm>
            <a:off x="4328160" y="2926080"/>
            <a:ext cx="402336" cy="402336"/>
          </a:xfrm>
          <a:prstGeom prst="ellipse">
            <a:avLst/>
          </a:prstGeom>
          <a:solidFill>
            <a:srgbClr val="EAF6F3"/>
          </a:solidFill>
          <a:ln w="12700">
            <a:solidFill>
              <a:srgbClr val="BFE3D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300" b="1" dirty="0">
                <a:solidFill>
                  <a:srgbClr val="0B6F63"/>
                </a:solidFill>
                <a:latin typeface="IBM Plex Mono"/>
                <a:ea typeface="IBM Plex Mono"/>
                <a:cs typeface="IBM Plex Mono"/>
              </a:rPr>
              <a:t>3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4328160" y="3520440"/>
            <a:ext cx="15240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500" b="1" dirty="0">
                <a:solidFill>
                  <a:srgbClr val="14202B"/>
                </a:solidFill>
                <a:latin typeface="Sora"/>
                <a:ea typeface="Sora"/>
                <a:cs typeface="Sora"/>
              </a:rPr>
              <a:t>Approach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4328160" y="3931920"/>
            <a:ext cx="14782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1250" b="0" dirty="0">
                <a:solidFill>
                  <a:srgbClr val="33424D"/>
                </a:solidFill>
                <a:latin typeface="Inter"/>
                <a:ea typeface="Inter"/>
                <a:cs typeface="Inter"/>
              </a:rPr>
              <a:t>How we work: together, open and non-profit</a:t>
            </a:r>
          </a:p>
        </p:txBody>
      </p:sp>
      <p:sp>
        <p:nvSpPr>
          <p:cNvPr id="24" name="Number 4"/>
          <p:cNvSpPr/>
          <p:nvPr/>
        </p:nvSpPr>
        <p:spPr>
          <a:xfrm>
            <a:off x="6080760" y="2926080"/>
            <a:ext cx="402336" cy="402336"/>
          </a:xfrm>
          <a:prstGeom prst="ellipse">
            <a:avLst/>
          </a:prstGeom>
          <a:solidFill>
            <a:srgbClr val="0F9E8E"/>
          </a:solidFill>
          <a:ln w="12700">
            <a:solidFill>
              <a:srgbClr val="0F9E8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IBM Plex Mono"/>
                <a:ea typeface="IBM Plex Mono"/>
                <a:cs typeface="IBM Plex Mono"/>
              </a:rPr>
              <a:t>4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6080760" y="3520440"/>
            <a:ext cx="15240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500" b="1" dirty="0">
                <a:solidFill>
                  <a:srgbClr val="14202B"/>
                </a:solidFill>
                <a:latin typeface="Sora"/>
                <a:ea typeface="Sora"/>
                <a:cs typeface="Sora"/>
              </a:rPr>
              <a:t>Breakouts</a:t>
            </a:r>
          </a:p>
        </p:txBody>
      </p:sp>
      <p:sp>
        <p:nvSpPr>
          <p:cNvPr id="26" name="Text 26"/>
          <p:cNvSpPr txBox="1"/>
          <p:nvPr/>
        </p:nvSpPr>
        <p:spPr>
          <a:xfrm>
            <a:off x="6080760" y="3931920"/>
            <a:ext cx="14782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1250" b="0" dirty="0">
                <a:solidFill>
                  <a:srgbClr val="33424D"/>
                </a:solidFill>
                <a:latin typeface="Inter"/>
                <a:ea typeface="Inter"/>
                <a:cs typeface="Inter"/>
              </a:rPr>
              <a:t>What should your organization put in place?</a:t>
            </a:r>
          </a:p>
        </p:txBody>
      </p:sp>
      <p:sp>
        <p:nvSpPr>
          <p:cNvPr id="27" name="Pill"/>
          <p:cNvSpPr/>
          <p:nvPr/>
        </p:nvSpPr>
        <p:spPr>
          <a:xfrm>
            <a:off x="6080760" y="4937760"/>
            <a:ext cx="1325880" cy="274320"/>
          </a:xfrm>
          <a:prstGeom prst="roundRect">
            <a:avLst>
              <a:gd name="adj" fmla="val 50000"/>
            </a:avLst>
          </a:prstGeom>
          <a:solidFill>
            <a:srgbClr val="FFF4E0"/>
          </a:solidFill>
          <a:ln w="12700">
            <a:solidFill>
              <a:srgbClr val="F7D18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850" b="1" spc="80" dirty="0">
                <a:solidFill>
                  <a:srgbClr val="9A5B00"/>
                </a:solidFill>
                <a:latin typeface="IBM Plex Mono"/>
                <a:ea typeface="IBM Plex Mono"/>
                <a:cs typeface="IBM Plex Mono"/>
              </a:rPr>
              <a:t>INTERACTIVE</a:t>
            </a:r>
          </a:p>
        </p:txBody>
      </p:sp>
      <p:sp>
        <p:nvSpPr>
          <p:cNvPr id="28" name="Number 5"/>
          <p:cNvSpPr/>
          <p:nvPr/>
        </p:nvSpPr>
        <p:spPr>
          <a:xfrm>
            <a:off x="7833360" y="2926080"/>
            <a:ext cx="402336" cy="402336"/>
          </a:xfrm>
          <a:prstGeom prst="ellipse">
            <a:avLst/>
          </a:prstGeom>
          <a:solidFill>
            <a:srgbClr val="EAF6F3"/>
          </a:solidFill>
          <a:ln w="12700">
            <a:solidFill>
              <a:srgbClr val="BFE3D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300" b="1" dirty="0">
                <a:solidFill>
                  <a:srgbClr val="0B6F63"/>
                </a:solidFill>
                <a:latin typeface="IBM Plex Mono"/>
                <a:ea typeface="IBM Plex Mono"/>
                <a:cs typeface="IBM Plex Mono"/>
              </a:rPr>
              <a:t>5</a:t>
            </a:r>
          </a:p>
        </p:txBody>
      </p:sp>
      <p:sp>
        <p:nvSpPr>
          <p:cNvPr id="29" name="Text 29"/>
          <p:cNvSpPr txBox="1"/>
          <p:nvPr/>
        </p:nvSpPr>
        <p:spPr>
          <a:xfrm>
            <a:off x="7833360" y="3520440"/>
            <a:ext cx="15240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500" b="1" dirty="0">
                <a:solidFill>
                  <a:srgbClr val="14202B"/>
                </a:solidFill>
                <a:latin typeface="Sora"/>
                <a:ea typeface="Sora"/>
                <a:cs typeface="Sora"/>
              </a:rPr>
              <a:t>Get involved</a:t>
            </a:r>
          </a:p>
        </p:txBody>
      </p:sp>
      <p:sp>
        <p:nvSpPr>
          <p:cNvPr id="30" name="Text 30"/>
          <p:cNvSpPr txBox="1"/>
          <p:nvPr/>
        </p:nvSpPr>
        <p:spPr>
          <a:xfrm>
            <a:off x="7833360" y="3931920"/>
            <a:ext cx="14782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1250" b="0" dirty="0">
                <a:solidFill>
                  <a:srgbClr val="33424D"/>
                </a:solidFill>
                <a:latin typeface="Inter"/>
                <a:ea typeface="Inter"/>
                <a:cs typeface="Inter"/>
              </a:rPr>
              <a:t>Join a work group or host a World Cafe</a:t>
            </a:r>
          </a:p>
        </p:txBody>
      </p:sp>
      <p:sp>
        <p:nvSpPr>
          <p:cNvPr id="31" name="Number 6"/>
          <p:cNvSpPr/>
          <p:nvPr/>
        </p:nvSpPr>
        <p:spPr>
          <a:xfrm>
            <a:off x="9585960" y="2926080"/>
            <a:ext cx="402336" cy="402336"/>
          </a:xfrm>
          <a:prstGeom prst="ellipse">
            <a:avLst/>
          </a:prstGeom>
          <a:solidFill>
            <a:srgbClr val="0F9E8E"/>
          </a:solidFill>
          <a:ln w="12700">
            <a:solidFill>
              <a:srgbClr val="0F9E8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IBM Plex Mono"/>
                <a:ea typeface="IBM Plex Mono"/>
                <a:cs typeface="IBM Plex Mono"/>
              </a:rPr>
              <a:t>6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9585960" y="3520440"/>
            <a:ext cx="15240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500" b="1" dirty="0">
                <a:solidFill>
                  <a:srgbClr val="14202B"/>
                </a:solidFill>
                <a:latin typeface="Sora"/>
                <a:ea typeface="Sora"/>
                <a:cs typeface="Sora"/>
              </a:rPr>
              <a:t>Q&amp;A</a:t>
            </a:r>
          </a:p>
        </p:txBody>
      </p:sp>
      <p:sp>
        <p:nvSpPr>
          <p:cNvPr id="33" name="Text 33"/>
          <p:cNvSpPr txBox="1"/>
          <p:nvPr/>
        </p:nvSpPr>
        <p:spPr>
          <a:xfrm>
            <a:off x="9585960" y="3931920"/>
            <a:ext cx="14782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1250" b="0" dirty="0">
                <a:solidFill>
                  <a:srgbClr val="33424D"/>
                </a:solidFill>
                <a:latin typeface="Inter"/>
                <a:ea typeface="Inter"/>
                <a:cs typeface="Inter"/>
              </a:rPr>
              <a:t>Your questions, our answers</a:t>
            </a:r>
          </a:p>
        </p:txBody>
      </p:sp>
      <p:sp>
        <p:nvSpPr>
          <p:cNvPr id="34" name="Pill"/>
          <p:cNvSpPr/>
          <p:nvPr/>
        </p:nvSpPr>
        <p:spPr>
          <a:xfrm>
            <a:off x="9585960" y="4937760"/>
            <a:ext cx="1325880" cy="274320"/>
          </a:xfrm>
          <a:prstGeom prst="roundRect">
            <a:avLst>
              <a:gd name="adj" fmla="val 50000"/>
            </a:avLst>
          </a:prstGeom>
          <a:solidFill>
            <a:srgbClr val="FFF4E0"/>
          </a:solidFill>
          <a:ln w="12700">
            <a:solidFill>
              <a:srgbClr val="F7D18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850" b="1" spc="80" dirty="0">
                <a:solidFill>
                  <a:srgbClr val="9A5B00"/>
                </a:solidFill>
                <a:latin typeface="IBM Plex Mono"/>
                <a:ea typeface="IBM Plex Mono"/>
                <a:cs typeface="IBM Plex Mono"/>
              </a:rPr>
              <a:t>INTERACTIVE</a:t>
            </a:r>
          </a:p>
        </p:txBody>
      </p:sp>
      <p:sp>
        <p:nvSpPr>
          <p:cNvPr id="35" name="Footer"/>
          <p:cNvSpPr txBox="1"/>
          <p:nvPr/>
        </p:nvSpPr>
        <p:spPr>
          <a:xfrm>
            <a:off x="822960" y="6419088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00" b="0" dirty="0">
                <a:solidFill>
                  <a:srgbClr val="5B6B77"/>
                </a:solidFill>
                <a:latin typeface="Inter"/>
                <a:ea typeface="Inter"/>
                <a:cs typeface="Inter"/>
              </a:rPr>
              <a:t>Reflexive AI Research Initiative · Lucid Institute for Organizational Science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rand bar 1"/>
          <p:cNvSpPr/>
          <p:nvPr/>
        </p:nvSpPr>
        <p:spPr>
          <a:xfrm>
            <a:off x="0" y="0"/>
            <a:ext cx="4063898" cy="146304"/>
          </a:xfrm>
          <a:prstGeom prst="rect">
            <a:avLst/>
          </a:prstGeom>
          <a:solidFill>
            <a:srgbClr val="0F9E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Brand bar 2"/>
          <p:cNvSpPr/>
          <p:nvPr/>
        </p:nvSpPr>
        <p:spPr>
          <a:xfrm>
            <a:off x="4063898" y="0"/>
            <a:ext cx="4063898" cy="146304"/>
          </a:xfrm>
          <a:prstGeom prst="rect">
            <a:avLst/>
          </a:prstGeom>
          <a:solidFill>
            <a:srgbClr val="2B3F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Brand bar 3"/>
          <p:cNvSpPr/>
          <p:nvPr/>
        </p:nvSpPr>
        <p:spPr>
          <a:xfrm>
            <a:off x="8127797" y="0"/>
            <a:ext cx="4063898" cy="146304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Eyebrow"/>
          <p:cNvSpPr txBox="1"/>
          <p:nvPr/>
        </p:nvSpPr>
        <p:spPr>
          <a:xfrm>
            <a:off x="822960" y="96012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200" b="1" spc="200" dirty="0">
                <a:solidFill>
                  <a:srgbClr val="0B6F63"/>
                </a:solidFill>
                <a:latin typeface="IBM Plex Mono"/>
                <a:ea typeface="IBM Plex Mono"/>
                <a:cs typeface="IBM Plex Mono"/>
              </a:rPr>
              <a:t>CHECK-IN · PROMPT 1 OF 6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786384" y="1554480"/>
            <a:ext cx="10424160" cy="2286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4600" b="1" dirty="0">
                <a:solidFill>
                  <a:srgbClr val="14202B"/>
                </a:solidFill>
                <a:latin typeface="Sora"/>
                <a:ea typeface="Sora"/>
                <a:cs typeface="Sora"/>
              </a:rPr>
              <a:t>My own experience with AI in the workplace is </a:t>
            </a:r>
            <a:r>
              <a:rPr lang="en-US" sz="4600" b="1" dirty="0">
                <a:solidFill>
                  <a:srgbClr val="0F9E8E"/>
                </a:solidFill>
                <a:latin typeface="Sora"/>
                <a:ea typeface="Sora"/>
                <a:cs typeface="Sora"/>
              </a:rPr>
              <a:t>…</a:t>
            </a:r>
          </a:p>
        </p:txBody>
      </p:sp>
      <p:sp>
        <p:nvSpPr>
          <p:cNvPr id="13" name="Chat pill"/>
          <p:cNvSpPr/>
          <p:nvPr/>
        </p:nvSpPr>
        <p:spPr>
          <a:xfrm>
            <a:off x="822960" y="4206240"/>
            <a:ext cx="45720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FE3DC"/>
            </a:solidFill>
          </a:ln>
        </p:spPr>
        <p:txBody>
          <a:bodyPr wrap="square" rtlCol="0" anchor="t"/>
          <a:lstStyle/>
          <a:p>
            <a:endParaRPr lang="en-US"/>
          </a:p>
        </p:txBody>
      </p:sp>
      <p:pic>
        <p:nvPicPr>
          <p:cNvPr id="14" name="Icon 14" descr="Chat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306824"/>
            <a:ext cx="256032" cy="256032"/>
          </a:xfrm>
          <a:prstGeom prst="rect">
            <a:avLst/>
          </a:prstGeom>
        </p:spPr>
      </p:pic>
      <p:sp>
        <p:nvSpPr>
          <p:cNvPr id="15" name="Text 15"/>
          <p:cNvSpPr txBox="1"/>
          <p:nvPr/>
        </p:nvSpPr>
        <p:spPr>
          <a:xfrm>
            <a:off x="1371600" y="420624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50" b="1" spc="100" dirty="0">
                <a:solidFill>
                  <a:srgbClr val="0B6F63"/>
                </a:solidFill>
                <a:latin typeface="IBM Plex Mono"/>
                <a:ea typeface="IBM Plex Mono"/>
                <a:cs typeface="IBM Plex Mono"/>
              </a:rPr>
              <a:t>REPLY IN THE CHAT · IN SILENCE</a:t>
            </a:r>
          </a:p>
        </p:txBody>
      </p:sp>
      <p:sp>
        <p:nvSpPr>
          <p:cNvPr id="16" name="Number 1"/>
          <p:cNvSpPr/>
          <p:nvPr/>
        </p:nvSpPr>
        <p:spPr>
          <a:xfrm>
            <a:off x="822960" y="5257800"/>
            <a:ext cx="365760" cy="365760"/>
          </a:xfrm>
          <a:prstGeom prst="ellipse">
            <a:avLst/>
          </a:prstGeom>
          <a:solidFill>
            <a:srgbClr val="0F9E8E"/>
          </a:solidFill>
          <a:ln w="12700">
            <a:solidFill>
              <a:srgbClr val="0F9E8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IBM Plex Mono"/>
                <a:ea typeface="IBM Plex Mono"/>
                <a:cs typeface="IBM Plex Mono"/>
              </a:rPr>
              <a:t>1</a:t>
            </a:r>
          </a:p>
        </p:txBody>
      </p:sp>
      <p:sp>
        <p:nvSpPr>
          <p:cNvPr id="17" name="Number 2"/>
          <p:cNvSpPr/>
          <p:nvPr/>
        </p:nvSpPr>
        <p:spPr>
          <a:xfrm>
            <a:off x="1389888" y="525780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E8E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300" b="1" dirty="0">
                <a:solidFill>
                  <a:srgbClr val="9AA8B2"/>
                </a:solidFill>
                <a:latin typeface="IBM Plex Mono"/>
                <a:ea typeface="IBM Plex Mono"/>
                <a:cs typeface="IBM Plex Mono"/>
              </a:rPr>
              <a:t>2</a:t>
            </a:r>
          </a:p>
        </p:txBody>
      </p:sp>
      <p:sp>
        <p:nvSpPr>
          <p:cNvPr id="18" name="Number 3"/>
          <p:cNvSpPr/>
          <p:nvPr/>
        </p:nvSpPr>
        <p:spPr>
          <a:xfrm>
            <a:off x="1956816" y="525780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E8E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300" b="1" dirty="0">
                <a:solidFill>
                  <a:srgbClr val="9AA8B2"/>
                </a:solidFill>
                <a:latin typeface="IBM Plex Mono"/>
                <a:ea typeface="IBM Plex Mono"/>
                <a:cs typeface="IBM Plex Mono"/>
              </a:rPr>
              <a:t>3</a:t>
            </a:r>
          </a:p>
        </p:txBody>
      </p:sp>
      <p:sp>
        <p:nvSpPr>
          <p:cNvPr id="19" name="Number 4"/>
          <p:cNvSpPr/>
          <p:nvPr/>
        </p:nvSpPr>
        <p:spPr>
          <a:xfrm>
            <a:off x="2523744" y="525780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E8E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300" b="1" dirty="0">
                <a:solidFill>
                  <a:srgbClr val="9AA8B2"/>
                </a:solidFill>
                <a:latin typeface="IBM Plex Mono"/>
                <a:ea typeface="IBM Plex Mono"/>
                <a:cs typeface="IBM Plex Mono"/>
              </a:rPr>
              <a:t>4</a:t>
            </a:r>
          </a:p>
        </p:txBody>
      </p:sp>
      <p:sp>
        <p:nvSpPr>
          <p:cNvPr id="20" name="Number 5"/>
          <p:cNvSpPr/>
          <p:nvPr/>
        </p:nvSpPr>
        <p:spPr>
          <a:xfrm>
            <a:off x="3090672" y="525780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E8E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300" b="1" dirty="0">
                <a:solidFill>
                  <a:srgbClr val="9AA8B2"/>
                </a:solidFill>
                <a:latin typeface="IBM Plex Mono"/>
                <a:ea typeface="IBM Plex Mono"/>
                <a:cs typeface="IBM Plex Mono"/>
              </a:rPr>
              <a:t>5</a:t>
            </a:r>
          </a:p>
        </p:txBody>
      </p:sp>
      <p:sp>
        <p:nvSpPr>
          <p:cNvPr id="21" name="Number 6"/>
          <p:cNvSpPr/>
          <p:nvPr/>
        </p:nvSpPr>
        <p:spPr>
          <a:xfrm>
            <a:off x="3657600" y="525780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E8E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300" b="1" dirty="0">
                <a:solidFill>
                  <a:srgbClr val="9AA8B2"/>
                </a:solidFill>
                <a:latin typeface="IBM Plex Mono"/>
                <a:ea typeface="IBM Plex Mono"/>
                <a:cs typeface="IBM Plex Mono"/>
              </a:rPr>
              <a:t>6</a:t>
            </a:r>
          </a:p>
        </p:txBody>
      </p:sp>
      <p:sp>
        <p:nvSpPr>
          <p:cNvPr id="22" name="Footer"/>
          <p:cNvSpPr txBox="1"/>
          <p:nvPr/>
        </p:nvSpPr>
        <p:spPr>
          <a:xfrm>
            <a:off x="822960" y="6419088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00" b="0" dirty="0">
                <a:solidFill>
                  <a:srgbClr val="5B6B77"/>
                </a:solidFill>
                <a:latin typeface="Inter"/>
                <a:ea typeface="Inter"/>
                <a:cs typeface="Inter"/>
              </a:rPr>
              <a:t>Reflexive AI Research Initiative · Lucid Institute for Organizational Science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rand bar 1"/>
          <p:cNvSpPr/>
          <p:nvPr/>
        </p:nvSpPr>
        <p:spPr>
          <a:xfrm>
            <a:off x="0" y="0"/>
            <a:ext cx="4063898" cy="146304"/>
          </a:xfrm>
          <a:prstGeom prst="rect">
            <a:avLst/>
          </a:prstGeom>
          <a:solidFill>
            <a:srgbClr val="0F9E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Brand bar 2"/>
          <p:cNvSpPr/>
          <p:nvPr/>
        </p:nvSpPr>
        <p:spPr>
          <a:xfrm>
            <a:off x="4063898" y="0"/>
            <a:ext cx="4063898" cy="146304"/>
          </a:xfrm>
          <a:prstGeom prst="rect">
            <a:avLst/>
          </a:prstGeom>
          <a:solidFill>
            <a:srgbClr val="2B3F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Brand bar 3"/>
          <p:cNvSpPr/>
          <p:nvPr/>
        </p:nvSpPr>
        <p:spPr>
          <a:xfrm>
            <a:off x="8127797" y="0"/>
            <a:ext cx="4063898" cy="146304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Eyebrow"/>
          <p:cNvSpPr txBox="1"/>
          <p:nvPr/>
        </p:nvSpPr>
        <p:spPr>
          <a:xfrm>
            <a:off x="822960" y="96012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200" b="1" spc="200" dirty="0">
                <a:solidFill>
                  <a:srgbClr val="0B6F63"/>
                </a:solidFill>
                <a:latin typeface="IBM Plex Mono"/>
                <a:ea typeface="IBM Plex Mono"/>
                <a:cs typeface="IBM Plex Mono"/>
              </a:rPr>
              <a:t>CHECK-IN · PROMPT 2 OF 6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786384" y="1554480"/>
            <a:ext cx="10424160" cy="2286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4600" b="1" dirty="0">
                <a:solidFill>
                  <a:srgbClr val="14202B"/>
                </a:solidFill>
                <a:latin typeface="Sora"/>
                <a:ea typeface="Sora"/>
                <a:cs typeface="Sora"/>
              </a:rPr>
              <a:t>When I think about AI in the workplace, I think about </a:t>
            </a:r>
            <a:r>
              <a:rPr lang="en-US" sz="4600" b="1" dirty="0">
                <a:solidFill>
                  <a:srgbClr val="0F9E8E"/>
                </a:solidFill>
                <a:latin typeface="Sora"/>
                <a:ea typeface="Sora"/>
                <a:cs typeface="Sora"/>
              </a:rPr>
              <a:t>…</a:t>
            </a:r>
          </a:p>
        </p:txBody>
      </p:sp>
      <p:sp>
        <p:nvSpPr>
          <p:cNvPr id="13" name="Chat pill"/>
          <p:cNvSpPr/>
          <p:nvPr/>
        </p:nvSpPr>
        <p:spPr>
          <a:xfrm>
            <a:off x="822960" y="4206240"/>
            <a:ext cx="45720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FE3DC"/>
            </a:solidFill>
          </a:ln>
        </p:spPr>
        <p:txBody>
          <a:bodyPr wrap="square" rtlCol="0" anchor="t"/>
          <a:lstStyle/>
          <a:p>
            <a:endParaRPr lang="en-US"/>
          </a:p>
        </p:txBody>
      </p:sp>
      <p:pic>
        <p:nvPicPr>
          <p:cNvPr id="14" name="Icon 14" descr="Chat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306824"/>
            <a:ext cx="256032" cy="256032"/>
          </a:xfrm>
          <a:prstGeom prst="rect">
            <a:avLst/>
          </a:prstGeom>
        </p:spPr>
      </p:pic>
      <p:sp>
        <p:nvSpPr>
          <p:cNvPr id="15" name="Text 15"/>
          <p:cNvSpPr txBox="1"/>
          <p:nvPr/>
        </p:nvSpPr>
        <p:spPr>
          <a:xfrm>
            <a:off x="1371600" y="420624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50" b="1" spc="100" dirty="0">
                <a:solidFill>
                  <a:srgbClr val="0B6F63"/>
                </a:solidFill>
                <a:latin typeface="IBM Plex Mono"/>
                <a:ea typeface="IBM Plex Mono"/>
                <a:cs typeface="IBM Plex Mono"/>
              </a:rPr>
              <a:t>REPLY IN THE CHAT · IN SILENCE</a:t>
            </a:r>
          </a:p>
        </p:txBody>
      </p:sp>
      <p:sp>
        <p:nvSpPr>
          <p:cNvPr id="16" name="Number 1"/>
          <p:cNvSpPr/>
          <p:nvPr/>
        </p:nvSpPr>
        <p:spPr>
          <a:xfrm>
            <a:off x="822960" y="5257800"/>
            <a:ext cx="365760" cy="365760"/>
          </a:xfrm>
          <a:prstGeom prst="ellipse">
            <a:avLst/>
          </a:prstGeom>
          <a:solidFill>
            <a:srgbClr val="EAF6F3"/>
          </a:solidFill>
          <a:ln w="12700">
            <a:solidFill>
              <a:srgbClr val="BFE3D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300" b="1" dirty="0">
                <a:solidFill>
                  <a:srgbClr val="0B6F63"/>
                </a:solidFill>
                <a:latin typeface="IBM Plex Mono"/>
                <a:ea typeface="IBM Plex Mono"/>
                <a:cs typeface="IBM Plex Mono"/>
              </a:rPr>
              <a:t>1</a:t>
            </a:r>
          </a:p>
        </p:txBody>
      </p:sp>
      <p:sp>
        <p:nvSpPr>
          <p:cNvPr id="17" name="Number 2"/>
          <p:cNvSpPr/>
          <p:nvPr/>
        </p:nvSpPr>
        <p:spPr>
          <a:xfrm>
            <a:off x="1389888" y="5257800"/>
            <a:ext cx="365760" cy="365760"/>
          </a:xfrm>
          <a:prstGeom prst="ellipse">
            <a:avLst/>
          </a:prstGeom>
          <a:solidFill>
            <a:srgbClr val="0F9E8E"/>
          </a:solidFill>
          <a:ln w="12700">
            <a:solidFill>
              <a:srgbClr val="0F9E8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IBM Plex Mono"/>
                <a:ea typeface="IBM Plex Mono"/>
                <a:cs typeface="IBM Plex Mono"/>
              </a:rPr>
              <a:t>2</a:t>
            </a:r>
          </a:p>
        </p:txBody>
      </p:sp>
      <p:sp>
        <p:nvSpPr>
          <p:cNvPr id="18" name="Number 3"/>
          <p:cNvSpPr/>
          <p:nvPr/>
        </p:nvSpPr>
        <p:spPr>
          <a:xfrm>
            <a:off x="1956816" y="525780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E8E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300" b="1" dirty="0">
                <a:solidFill>
                  <a:srgbClr val="9AA8B2"/>
                </a:solidFill>
                <a:latin typeface="IBM Plex Mono"/>
                <a:ea typeface="IBM Plex Mono"/>
                <a:cs typeface="IBM Plex Mono"/>
              </a:rPr>
              <a:t>3</a:t>
            </a:r>
          </a:p>
        </p:txBody>
      </p:sp>
      <p:sp>
        <p:nvSpPr>
          <p:cNvPr id="19" name="Number 4"/>
          <p:cNvSpPr/>
          <p:nvPr/>
        </p:nvSpPr>
        <p:spPr>
          <a:xfrm>
            <a:off x="2523744" y="525780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E8E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300" b="1" dirty="0">
                <a:solidFill>
                  <a:srgbClr val="9AA8B2"/>
                </a:solidFill>
                <a:latin typeface="IBM Plex Mono"/>
                <a:ea typeface="IBM Plex Mono"/>
                <a:cs typeface="IBM Plex Mono"/>
              </a:rPr>
              <a:t>4</a:t>
            </a:r>
          </a:p>
        </p:txBody>
      </p:sp>
      <p:sp>
        <p:nvSpPr>
          <p:cNvPr id="20" name="Number 5"/>
          <p:cNvSpPr/>
          <p:nvPr/>
        </p:nvSpPr>
        <p:spPr>
          <a:xfrm>
            <a:off x="3090672" y="525780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E8E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300" b="1" dirty="0">
                <a:solidFill>
                  <a:srgbClr val="9AA8B2"/>
                </a:solidFill>
                <a:latin typeface="IBM Plex Mono"/>
                <a:ea typeface="IBM Plex Mono"/>
                <a:cs typeface="IBM Plex Mono"/>
              </a:rPr>
              <a:t>5</a:t>
            </a:r>
          </a:p>
        </p:txBody>
      </p:sp>
      <p:sp>
        <p:nvSpPr>
          <p:cNvPr id="21" name="Number 6"/>
          <p:cNvSpPr/>
          <p:nvPr/>
        </p:nvSpPr>
        <p:spPr>
          <a:xfrm>
            <a:off x="3657600" y="525780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E8E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300" b="1" dirty="0">
                <a:solidFill>
                  <a:srgbClr val="9AA8B2"/>
                </a:solidFill>
                <a:latin typeface="IBM Plex Mono"/>
                <a:ea typeface="IBM Plex Mono"/>
                <a:cs typeface="IBM Plex Mono"/>
              </a:rPr>
              <a:t>6</a:t>
            </a:r>
          </a:p>
        </p:txBody>
      </p:sp>
      <p:sp>
        <p:nvSpPr>
          <p:cNvPr id="22" name="Footer"/>
          <p:cNvSpPr txBox="1"/>
          <p:nvPr/>
        </p:nvSpPr>
        <p:spPr>
          <a:xfrm>
            <a:off x="822960" y="6419088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00" b="0" dirty="0">
                <a:solidFill>
                  <a:srgbClr val="5B6B77"/>
                </a:solidFill>
                <a:latin typeface="Inter"/>
                <a:ea typeface="Inter"/>
                <a:cs typeface="Inter"/>
              </a:rPr>
              <a:t>Reflexive AI Research Initiative · Lucid Institute for Organizational Science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rand bar 1"/>
          <p:cNvSpPr/>
          <p:nvPr/>
        </p:nvSpPr>
        <p:spPr>
          <a:xfrm>
            <a:off x="0" y="0"/>
            <a:ext cx="4063898" cy="146304"/>
          </a:xfrm>
          <a:prstGeom prst="rect">
            <a:avLst/>
          </a:prstGeom>
          <a:solidFill>
            <a:srgbClr val="0F9E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Brand bar 2"/>
          <p:cNvSpPr/>
          <p:nvPr/>
        </p:nvSpPr>
        <p:spPr>
          <a:xfrm>
            <a:off x="4063898" y="0"/>
            <a:ext cx="4063898" cy="146304"/>
          </a:xfrm>
          <a:prstGeom prst="rect">
            <a:avLst/>
          </a:prstGeom>
          <a:solidFill>
            <a:srgbClr val="2B3F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Brand bar 3"/>
          <p:cNvSpPr/>
          <p:nvPr/>
        </p:nvSpPr>
        <p:spPr>
          <a:xfrm>
            <a:off x="8127797" y="0"/>
            <a:ext cx="4063898" cy="146304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Eyebrow"/>
          <p:cNvSpPr txBox="1"/>
          <p:nvPr/>
        </p:nvSpPr>
        <p:spPr>
          <a:xfrm>
            <a:off x="822960" y="96012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200" b="1" spc="200" dirty="0">
                <a:solidFill>
                  <a:srgbClr val="0B6F63"/>
                </a:solidFill>
                <a:latin typeface="IBM Plex Mono"/>
                <a:ea typeface="IBM Plex Mono"/>
                <a:cs typeface="IBM Plex Mono"/>
              </a:rPr>
              <a:t>CHECK-IN · PROMPT 3 OF 6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786384" y="1554480"/>
            <a:ext cx="10424160" cy="2286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4600" b="1" dirty="0">
                <a:solidFill>
                  <a:srgbClr val="14202B"/>
                </a:solidFill>
                <a:latin typeface="Sora"/>
                <a:ea typeface="Sora"/>
                <a:cs typeface="Sora"/>
              </a:rPr>
              <a:t>A huge opportunity I see for AI in the workplace is </a:t>
            </a:r>
            <a:r>
              <a:rPr lang="en-US" sz="4600" b="1" dirty="0">
                <a:solidFill>
                  <a:srgbClr val="0F9E8E"/>
                </a:solidFill>
                <a:latin typeface="Sora"/>
                <a:ea typeface="Sora"/>
                <a:cs typeface="Sora"/>
              </a:rPr>
              <a:t>…</a:t>
            </a:r>
          </a:p>
        </p:txBody>
      </p:sp>
      <p:sp>
        <p:nvSpPr>
          <p:cNvPr id="13" name="Chat pill"/>
          <p:cNvSpPr/>
          <p:nvPr/>
        </p:nvSpPr>
        <p:spPr>
          <a:xfrm>
            <a:off x="822960" y="4206240"/>
            <a:ext cx="45720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FE3DC"/>
            </a:solidFill>
          </a:ln>
        </p:spPr>
        <p:txBody>
          <a:bodyPr wrap="square" rtlCol="0" anchor="t"/>
          <a:lstStyle/>
          <a:p>
            <a:endParaRPr lang="en-US"/>
          </a:p>
        </p:txBody>
      </p:sp>
      <p:pic>
        <p:nvPicPr>
          <p:cNvPr id="14" name="Icon 14" descr="Chat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306824"/>
            <a:ext cx="256032" cy="256032"/>
          </a:xfrm>
          <a:prstGeom prst="rect">
            <a:avLst/>
          </a:prstGeom>
        </p:spPr>
      </p:pic>
      <p:sp>
        <p:nvSpPr>
          <p:cNvPr id="15" name="Text 15"/>
          <p:cNvSpPr txBox="1"/>
          <p:nvPr/>
        </p:nvSpPr>
        <p:spPr>
          <a:xfrm>
            <a:off x="1371600" y="420624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50" b="1" spc="100" dirty="0">
                <a:solidFill>
                  <a:srgbClr val="0B6F63"/>
                </a:solidFill>
                <a:latin typeface="IBM Plex Mono"/>
                <a:ea typeface="IBM Plex Mono"/>
                <a:cs typeface="IBM Plex Mono"/>
              </a:rPr>
              <a:t>REPLY IN THE CHAT · IN SILENCE</a:t>
            </a:r>
          </a:p>
        </p:txBody>
      </p:sp>
      <p:sp>
        <p:nvSpPr>
          <p:cNvPr id="16" name="Number 1"/>
          <p:cNvSpPr/>
          <p:nvPr/>
        </p:nvSpPr>
        <p:spPr>
          <a:xfrm>
            <a:off x="822960" y="5257800"/>
            <a:ext cx="365760" cy="365760"/>
          </a:xfrm>
          <a:prstGeom prst="ellipse">
            <a:avLst/>
          </a:prstGeom>
          <a:solidFill>
            <a:srgbClr val="EAF6F3"/>
          </a:solidFill>
          <a:ln w="12700">
            <a:solidFill>
              <a:srgbClr val="BFE3D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300" b="1" dirty="0">
                <a:solidFill>
                  <a:srgbClr val="0B6F63"/>
                </a:solidFill>
                <a:latin typeface="IBM Plex Mono"/>
                <a:ea typeface="IBM Plex Mono"/>
                <a:cs typeface="IBM Plex Mono"/>
              </a:rPr>
              <a:t>1</a:t>
            </a:r>
          </a:p>
        </p:txBody>
      </p:sp>
      <p:sp>
        <p:nvSpPr>
          <p:cNvPr id="17" name="Number 2"/>
          <p:cNvSpPr/>
          <p:nvPr/>
        </p:nvSpPr>
        <p:spPr>
          <a:xfrm>
            <a:off x="1389888" y="5257800"/>
            <a:ext cx="365760" cy="365760"/>
          </a:xfrm>
          <a:prstGeom prst="ellipse">
            <a:avLst/>
          </a:prstGeom>
          <a:solidFill>
            <a:srgbClr val="EAF6F3"/>
          </a:solidFill>
          <a:ln w="12700">
            <a:solidFill>
              <a:srgbClr val="BFE3D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300" b="1" dirty="0">
                <a:solidFill>
                  <a:srgbClr val="0B6F63"/>
                </a:solidFill>
                <a:latin typeface="IBM Plex Mono"/>
                <a:ea typeface="IBM Plex Mono"/>
                <a:cs typeface="IBM Plex Mono"/>
              </a:rPr>
              <a:t>2</a:t>
            </a:r>
          </a:p>
        </p:txBody>
      </p:sp>
      <p:sp>
        <p:nvSpPr>
          <p:cNvPr id="18" name="Number 3"/>
          <p:cNvSpPr/>
          <p:nvPr/>
        </p:nvSpPr>
        <p:spPr>
          <a:xfrm>
            <a:off x="1956816" y="5257800"/>
            <a:ext cx="365760" cy="365760"/>
          </a:xfrm>
          <a:prstGeom prst="ellipse">
            <a:avLst/>
          </a:prstGeom>
          <a:solidFill>
            <a:srgbClr val="0F9E8E"/>
          </a:solidFill>
          <a:ln w="12700">
            <a:solidFill>
              <a:srgbClr val="0F9E8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IBM Plex Mono"/>
                <a:ea typeface="IBM Plex Mono"/>
                <a:cs typeface="IBM Plex Mono"/>
              </a:rPr>
              <a:t>3</a:t>
            </a:r>
          </a:p>
        </p:txBody>
      </p:sp>
      <p:sp>
        <p:nvSpPr>
          <p:cNvPr id="19" name="Number 4"/>
          <p:cNvSpPr/>
          <p:nvPr/>
        </p:nvSpPr>
        <p:spPr>
          <a:xfrm>
            <a:off x="2523744" y="525780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E8E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300" b="1" dirty="0">
                <a:solidFill>
                  <a:srgbClr val="9AA8B2"/>
                </a:solidFill>
                <a:latin typeface="IBM Plex Mono"/>
                <a:ea typeface="IBM Plex Mono"/>
                <a:cs typeface="IBM Plex Mono"/>
              </a:rPr>
              <a:t>4</a:t>
            </a:r>
          </a:p>
        </p:txBody>
      </p:sp>
      <p:sp>
        <p:nvSpPr>
          <p:cNvPr id="20" name="Number 5"/>
          <p:cNvSpPr/>
          <p:nvPr/>
        </p:nvSpPr>
        <p:spPr>
          <a:xfrm>
            <a:off x="3090672" y="525780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E8E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300" b="1" dirty="0">
                <a:solidFill>
                  <a:srgbClr val="9AA8B2"/>
                </a:solidFill>
                <a:latin typeface="IBM Plex Mono"/>
                <a:ea typeface="IBM Plex Mono"/>
                <a:cs typeface="IBM Plex Mono"/>
              </a:rPr>
              <a:t>5</a:t>
            </a:r>
          </a:p>
        </p:txBody>
      </p:sp>
      <p:sp>
        <p:nvSpPr>
          <p:cNvPr id="21" name="Number 6"/>
          <p:cNvSpPr/>
          <p:nvPr/>
        </p:nvSpPr>
        <p:spPr>
          <a:xfrm>
            <a:off x="3657600" y="525780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E8E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300" b="1" dirty="0">
                <a:solidFill>
                  <a:srgbClr val="9AA8B2"/>
                </a:solidFill>
                <a:latin typeface="IBM Plex Mono"/>
                <a:ea typeface="IBM Plex Mono"/>
                <a:cs typeface="IBM Plex Mono"/>
              </a:rPr>
              <a:t>6</a:t>
            </a:r>
          </a:p>
        </p:txBody>
      </p:sp>
      <p:sp>
        <p:nvSpPr>
          <p:cNvPr id="22" name="Footer"/>
          <p:cNvSpPr txBox="1"/>
          <p:nvPr/>
        </p:nvSpPr>
        <p:spPr>
          <a:xfrm>
            <a:off x="822960" y="6419088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00" b="0" dirty="0">
                <a:solidFill>
                  <a:srgbClr val="5B6B77"/>
                </a:solidFill>
                <a:latin typeface="Inter"/>
                <a:ea typeface="Inter"/>
                <a:cs typeface="Inter"/>
              </a:rPr>
              <a:t>Reflexive AI Research Initiative · Lucid Institute for Organizational Science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rand bar 1"/>
          <p:cNvSpPr/>
          <p:nvPr/>
        </p:nvSpPr>
        <p:spPr>
          <a:xfrm>
            <a:off x="0" y="0"/>
            <a:ext cx="4063898" cy="146304"/>
          </a:xfrm>
          <a:prstGeom prst="rect">
            <a:avLst/>
          </a:prstGeom>
          <a:solidFill>
            <a:srgbClr val="0F9E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Brand bar 2"/>
          <p:cNvSpPr/>
          <p:nvPr/>
        </p:nvSpPr>
        <p:spPr>
          <a:xfrm>
            <a:off x="4063898" y="0"/>
            <a:ext cx="4063898" cy="146304"/>
          </a:xfrm>
          <a:prstGeom prst="rect">
            <a:avLst/>
          </a:prstGeom>
          <a:solidFill>
            <a:srgbClr val="2B3F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Brand bar 3"/>
          <p:cNvSpPr/>
          <p:nvPr/>
        </p:nvSpPr>
        <p:spPr>
          <a:xfrm>
            <a:off x="8127797" y="0"/>
            <a:ext cx="4063898" cy="146304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Eyebrow"/>
          <p:cNvSpPr txBox="1"/>
          <p:nvPr/>
        </p:nvSpPr>
        <p:spPr>
          <a:xfrm>
            <a:off x="822960" y="96012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200" b="1" spc="200" dirty="0">
                <a:solidFill>
                  <a:srgbClr val="0B6F63"/>
                </a:solidFill>
                <a:latin typeface="IBM Plex Mono"/>
                <a:ea typeface="IBM Plex Mono"/>
                <a:cs typeface="IBM Plex Mono"/>
              </a:rPr>
              <a:t>CHECK-IN · PROMPT 4 OF 6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786384" y="1554480"/>
            <a:ext cx="10424160" cy="2286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4600" b="1" dirty="0">
                <a:solidFill>
                  <a:srgbClr val="14202B"/>
                </a:solidFill>
                <a:latin typeface="Sora"/>
                <a:ea typeface="Sora"/>
                <a:cs typeface="Sora"/>
              </a:rPr>
              <a:t>A huge risk I see for AI in the workplace is </a:t>
            </a:r>
            <a:r>
              <a:rPr lang="en-US" sz="4600" b="1" dirty="0">
                <a:solidFill>
                  <a:srgbClr val="0F9E8E"/>
                </a:solidFill>
                <a:latin typeface="Sora"/>
                <a:ea typeface="Sora"/>
                <a:cs typeface="Sora"/>
              </a:rPr>
              <a:t>…</a:t>
            </a:r>
          </a:p>
        </p:txBody>
      </p:sp>
      <p:sp>
        <p:nvSpPr>
          <p:cNvPr id="13" name="Chat pill"/>
          <p:cNvSpPr/>
          <p:nvPr/>
        </p:nvSpPr>
        <p:spPr>
          <a:xfrm>
            <a:off x="822960" y="4206240"/>
            <a:ext cx="45720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FE3DC"/>
            </a:solidFill>
          </a:ln>
        </p:spPr>
        <p:txBody>
          <a:bodyPr wrap="square" rtlCol="0" anchor="t"/>
          <a:lstStyle/>
          <a:p>
            <a:endParaRPr lang="en-US"/>
          </a:p>
        </p:txBody>
      </p:sp>
      <p:pic>
        <p:nvPicPr>
          <p:cNvPr id="14" name="Icon 14" descr="Chat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306824"/>
            <a:ext cx="256032" cy="256032"/>
          </a:xfrm>
          <a:prstGeom prst="rect">
            <a:avLst/>
          </a:prstGeom>
        </p:spPr>
      </p:pic>
      <p:sp>
        <p:nvSpPr>
          <p:cNvPr id="15" name="Text 15"/>
          <p:cNvSpPr txBox="1"/>
          <p:nvPr/>
        </p:nvSpPr>
        <p:spPr>
          <a:xfrm>
            <a:off x="1371600" y="420624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50" b="1" spc="100" dirty="0">
                <a:solidFill>
                  <a:srgbClr val="0B6F63"/>
                </a:solidFill>
                <a:latin typeface="IBM Plex Mono"/>
                <a:ea typeface="IBM Plex Mono"/>
                <a:cs typeface="IBM Plex Mono"/>
              </a:rPr>
              <a:t>REPLY IN THE CHAT · IN SILENCE</a:t>
            </a:r>
          </a:p>
        </p:txBody>
      </p:sp>
      <p:sp>
        <p:nvSpPr>
          <p:cNvPr id="16" name="Number 1"/>
          <p:cNvSpPr/>
          <p:nvPr/>
        </p:nvSpPr>
        <p:spPr>
          <a:xfrm>
            <a:off x="822960" y="5257800"/>
            <a:ext cx="365760" cy="365760"/>
          </a:xfrm>
          <a:prstGeom prst="ellipse">
            <a:avLst/>
          </a:prstGeom>
          <a:solidFill>
            <a:srgbClr val="EAF6F3"/>
          </a:solidFill>
          <a:ln w="12700">
            <a:solidFill>
              <a:srgbClr val="BFE3D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300" b="1" dirty="0">
                <a:solidFill>
                  <a:srgbClr val="0B6F63"/>
                </a:solidFill>
                <a:latin typeface="IBM Plex Mono"/>
                <a:ea typeface="IBM Plex Mono"/>
                <a:cs typeface="IBM Plex Mono"/>
              </a:rPr>
              <a:t>1</a:t>
            </a:r>
          </a:p>
        </p:txBody>
      </p:sp>
      <p:sp>
        <p:nvSpPr>
          <p:cNvPr id="17" name="Number 2"/>
          <p:cNvSpPr/>
          <p:nvPr/>
        </p:nvSpPr>
        <p:spPr>
          <a:xfrm>
            <a:off x="1389888" y="5257800"/>
            <a:ext cx="365760" cy="365760"/>
          </a:xfrm>
          <a:prstGeom prst="ellipse">
            <a:avLst/>
          </a:prstGeom>
          <a:solidFill>
            <a:srgbClr val="EAF6F3"/>
          </a:solidFill>
          <a:ln w="12700">
            <a:solidFill>
              <a:srgbClr val="BFE3D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300" b="1" dirty="0">
                <a:solidFill>
                  <a:srgbClr val="0B6F63"/>
                </a:solidFill>
                <a:latin typeface="IBM Plex Mono"/>
                <a:ea typeface="IBM Plex Mono"/>
                <a:cs typeface="IBM Plex Mono"/>
              </a:rPr>
              <a:t>2</a:t>
            </a:r>
          </a:p>
        </p:txBody>
      </p:sp>
      <p:sp>
        <p:nvSpPr>
          <p:cNvPr id="18" name="Number 3"/>
          <p:cNvSpPr/>
          <p:nvPr/>
        </p:nvSpPr>
        <p:spPr>
          <a:xfrm>
            <a:off x="1956816" y="5257800"/>
            <a:ext cx="365760" cy="365760"/>
          </a:xfrm>
          <a:prstGeom prst="ellipse">
            <a:avLst/>
          </a:prstGeom>
          <a:solidFill>
            <a:srgbClr val="EAF6F3"/>
          </a:solidFill>
          <a:ln w="12700">
            <a:solidFill>
              <a:srgbClr val="BFE3D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300" b="1" dirty="0">
                <a:solidFill>
                  <a:srgbClr val="0B6F63"/>
                </a:solidFill>
                <a:latin typeface="IBM Plex Mono"/>
                <a:ea typeface="IBM Plex Mono"/>
                <a:cs typeface="IBM Plex Mono"/>
              </a:rPr>
              <a:t>3</a:t>
            </a:r>
          </a:p>
        </p:txBody>
      </p:sp>
      <p:sp>
        <p:nvSpPr>
          <p:cNvPr id="19" name="Number 4"/>
          <p:cNvSpPr/>
          <p:nvPr/>
        </p:nvSpPr>
        <p:spPr>
          <a:xfrm>
            <a:off x="2523744" y="5257800"/>
            <a:ext cx="365760" cy="365760"/>
          </a:xfrm>
          <a:prstGeom prst="ellipse">
            <a:avLst/>
          </a:prstGeom>
          <a:solidFill>
            <a:srgbClr val="0F9E8E"/>
          </a:solidFill>
          <a:ln w="12700">
            <a:solidFill>
              <a:srgbClr val="0F9E8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IBM Plex Mono"/>
                <a:ea typeface="IBM Plex Mono"/>
                <a:cs typeface="IBM Plex Mono"/>
              </a:rPr>
              <a:t>4</a:t>
            </a:r>
          </a:p>
        </p:txBody>
      </p:sp>
      <p:sp>
        <p:nvSpPr>
          <p:cNvPr id="20" name="Number 5"/>
          <p:cNvSpPr/>
          <p:nvPr/>
        </p:nvSpPr>
        <p:spPr>
          <a:xfrm>
            <a:off x="3090672" y="525780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E8E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300" b="1" dirty="0">
                <a:solidFill>
                  <a:srgbClr val="9AA8B2"/>
                </a:solidFill>
                <a:latin typeface="IBM Plex Mono"/>
                <a:ea typeface="IBM Plex Mono"/>
                <a:cs typeface="IBM Plex Mono"/>
              </a:rPr>
              <a:t>5</a:t>
            </a:r>
          </a:p>
        </p:txBody>
      </p:sp>
      <p:sp>
        <p:nvSpPr>
          <p:cNvPr id="21" name="Number 6"/>
          <p:cNvSpPr/>
          <p:nvPr/>
        </p:nvSpPr>
        <p:spPr>
          <a:xfrm>
            <a:off x="3657600" y="525780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E8E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300" b="1" dirty="0">
                <a:solidFill>
                  <a:srgbClr val="9AA8B2"/>
                </a:solidFill>
                <a:latin typeface="IBM Plex Mono"/>
                <a:ea typeface="IBM Plex Mono"/>
                <a:cs typeface="IBM Plex Mono"/>
              </a:rPr>
              <a:t>6</a:t>
            </a:r>
          </a:p>
        </p:txBody>
      </p:sp>
      <p:sp>
        <p:nvSpPr>
          <p:cNvPr id="22" name="Footer"/>
          <p:cNvSpPr txBox="1"/>
          <p:nvPr/>
        </p:nvSpPr>
        <p:spPr>
          <a:xfrm>
            <a:off x="822960" y="6419088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00" b="0" dirty="0">
                <a:solidFill>
                  <a:srgbClr val="5B6B77"/>
                </a:solidFill>
                <a:latin typeface="Inter"/>
                <a:ea typeface="Inter"/>
                <a:cs typeface="Inter"/>
              </a:rPr>
              <a:t>Reflexive AI Research Initiative · Lucid Institute for Organizational Science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rand bar 1"/>
          <p:cNvSpPr/>
          <p:nvPr/>
        </p:nvSpPr>
        <p:spPr>
          <a:xfrm>
            <a:off x="0" y="0"/>
            <a:ext cx="4063898" cy="146304"/>
          </a:xfrm>
          <a:prstGeom prst="rect">
            <a:avLst/>
          </a:prstGeom>
          <a:solidFill>
            <a:srgbClr val="0F9E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Brand bar 2"/>
          <p:cNvSpPr/>
          <p:nvPr/>
        </p:nvSpPr>
        <p:spPr>
          <a:xfrm>
            <a:off x="4063898" y="0"/>
            <a:ext cx="4063898" cy="146304"/>
          </a:xfrm>
          <a:prstGeom prst="rect">
            <a:avLst/>
          </a:prstGeom>
          <a:solidFill>
            <a:srgbClr val="2B3F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Brand bar 3"/>
          <p:cNvSpPr/>
          <p:nvPr/>
        </p:nvSpPr>
        <p:spPr>
          <a:xfrm>
            <a:off x="8127797" y="0"/>
            <a:ext cx="4063898" cy="146304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Eyebrow"/>
          <p:cNvSpPr txBox="1"/>
          <p:nvPr/>
        </p:nvSpPr>
        <p:spPr>
          <a:xfrm>
            <a:off x="822960" y="96012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200" b="1" spc="200" dirty="0">
                <a:solidFill>
                  <a:srgbClr val="0B6F63"/>
                </a:solidFill>
                <a:latin typeface="IBM Plex Mono"/>
                <a:ea typeface="IBM Plex Mono"/>
                <a:cs typeface="IBM Plex Mono"/>
              </a:rPr>
              <a:t>CHECK-IN · PROMPT 5 OF 6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786384" y="1554480"/>
            <a:ext cx="10424160" cy="2286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4600" b="1" dirty="0">
                <a:solidFill>
                  <a:srgbClr val="14202B"/>
                </a:solidFill>
                <a:latin typeface="Sora"/>
                <a:ea typeface="Sora"/>
                <a:cs typeface="Sora"/>
              </a:rPr>
              <a:t>If only we could </a:t>
            </a:r>
            <a:r>
              <a:rPr lang="en-US" sz="4600" b="1" dirty="0">
                <a:solidFill>
                  <a:srgbClr val="0F9E8E"/>
                </a:solidFill>
                <a:latin typeface="Sora"/>
                <a:ea typeface="Sora"/>
                <a:cs typeface="Sora"/>
              </a:rPr>
              <a:t>…</a:t>
            </a:r>
          </a:p>
        </p:txBody>
      </p:sp>
      <p:sp>
        <p:nvSpPr>
          <p:cNvPr id="13" name="Chat pill"/>
          <p:cNvSpPr/>
          <p:nvPr/>
        </p:nvSpPr>
        <p:spPr>
          <a:xfrm>
            <a:off x="822960" y="4206240"/>
            <a:ext cx="45720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FE3DC"/>
            </a:solidFill>
          </a:ln>
        </p:spPr>
        <p:txBody>
          <a:bodyPr wrap="square" rtlCol="0" anchor="t"/>
          <a:lstStyle/>
          <a:p>
            <a:endParaRPr lang="en-US"/>
          </a:p>
        </p:txBody>
      </p:sp>
      <p:pic>
        <p:nvPicPr>
          <p:cNvPr id="14" name="Icon 14" descr="Chat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306824"/>
            <a:ext cx="256032" cy="256032"/>
          </a:xfrm>
          <a:prstGeom prst="rect">
            <a:avLst/>
          </a:prstGeom>
        </p:spPr>
      </p:pic>
      <p:sp>
        <p:nvSpPr>
          <p:cNvPr id="15" name="Text 15"/>
          <p:cNvSpPr txBox="1"/>
          <p:nvPr/>
        </p:nvSpPr>
        <p:spPr>
          <a:xfrm>
            <a:off x="1371600" y="420624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50" b="1" spc="100" dirty="0">
                <a:solidFill>
                  <a:srgbClr val="0B6F63"/>
                </a:solidFill>
                <a:latin typeface="IBM Plex Mono"/>
                <a:ea typeface="IBM Plex Mono"/>
                <a:cs typeface="IBM Plex Mono"/>
              </a:rPr>
              <a:t>REPLY IN THE CHAT · IN SILENCE</a:t>
            </a:r>
          </a:p>
        </p:txBody>
      </p:sp>
      <p:sp>
        <p:nvSpPr>
          <p:cNvPr id="16" name="Number 1"/>
          <p:cNvSpPr/>
          <p:nvPr/>
        </p:nvSpPr>
        <p:spPr>
          <a:xfrm>
            <a:off x="822960" y="5257800"/>
            <a:ext cx="365760" cy="365760"/>
          </a:xfrm>
          <a:prstGeom prst="ellipse">
            <a:avLst/>
          </a:prstGeom>
          <a:solidFill>
            <a:srgbClr val="EAF6F3"/>
          </a:solidFill>
          <a:ln w="12700">
            <a:solidFill>
              <a:srgbClr val="BFE3D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300" b="1" dirty="0">
                <a:solidFill>
                  <a:srgbClr val="0B6F63"/>
                </a:solidFill>
                <a:latin typeface="IBM Plex Mono"/>
                <a:ea typeface="IBM Plex Mono"/>
                <a:cs typeface="IBM Plex Mono"/>
              </a:rPr>
              <a:t>1</a:t>
            </a:r>
          </a:p>
        </p:txBody>
      </p:sp>
      <p:sp>
        <p:nvSpPr>
          <p:cNvPr id="17" name="Number 2"/>
          <p:cNvSpPr/>
          <p:nvPr/>
        </p:nvSpPr>
        <p:spPr>
          <a:xfrm>
            <a:off x="1389888" y="5257800"/>
            <a:ext cx="365760" cy="365760"/>
          </a:xfrm>
          <a:prstGeom prst="ellipse">
            <a:avLst/>
          </a:prstGeom>
          <a:solidFill>
            <a:srgbClr val="EAF6F3"/>
          </a:solidFill>
          <a:ln w="12700">
            <a:solidFill>
              <a:srgbClr val="BFE3D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300" b="1" dirty="0">
                <a:solidFill>
                  <a:srgbClr val="0B6F63"/>
                </a:solidFill>
                <a:latin typeface="IBM Plex Mono"/>
                <a:ea typeface="IBM Plex Mono"/>
                <a:cs typeface="IBM Plex Mono"/>
              </a:rPr>
              <a:t>2</a:t>
            </a:r>
          </a:p>
        </p:txBody>
      </p:sp>
      <p:sp>
        <p:nvSpPr>
          <p:cNvPr id="18" name="Number 3"/>
          <p:cNvSpPr/>
          <p:nvPr/>
        </p:nvSpPr>
        <p:spPr>
          <a:xfrm>
            <a:off x="1956816" y="5257800"/>
            <a:ext cx="365760" cy="365760"/>
          </a:xfrm>
          <a:prstGeom prst="ellipse">
            <a:avLst/>
          </a:prstGeom>
          <a:solidFill>
            <a:srgbClr val="EAF6F3"/>
          </a:solidFill>
          <a:ln w="12700">
            <a:solidFill>
              <a:srgbClr val="BFE3D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300" b="1" dirty="0">
                <a:solidFill>
                  <a:srgbClr val="0B6F63"/>
                </a:solidFill>
                <a:latin typeface="IBM Plex Mono"/>
                <a:ea typeface="IBM Plex Mono"/>
                <a:cs typeface="IBM Plex Mono"/>
              </a:rPr>
              <a:t>3</a:t>
            </a:r>
          </a:p>
        </p:txBody>
      </p:sp>
      <p:sp>
        <p:nvSpPr>
          <p:cNvPr id="19" name="Number 4"/>
          <p:cNvSpPr/>
          <p:nvPr/>
        </p:nvSpPr>
        <p:spPr>
          <a:xfrm>
            <a:off x="2523744" y="5257800"/>
            <a:ext cx="365760" cy="365760"/>
          </a:xfrm>
          <a:prstGeom prst="ellipse">
            <a:avLst/>
          </a:prstGeom>
          <a:solidFill>
            <a:srgbClr val="EAF6F3"/>
          </a:solidFill>
          <a:ln w="12700">
            <a:solidFill>
              <a:srgbClr val="BFE3D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300" b="1" dirty="0">
                <a:solidFill>
                  <a:srgbClr val="0B6F63"/>
                </a:solidFill>
                <a:latin typeface="IBM Plex Mono"/>
                <a:ea typeface="IBM Plex Mono"/>
                <a:cs typeface="IBM Plex Mono"/>
              </a:rPr>
              <a:t>4</a:t>
            </a:r>
          </a:p>
        </p:txBody>
      </p:sp>
      <p:sp>
        <p:nvSpPr>
          <p:cNvPr id="20" name="Number 5"/>
          <p:cNvSpPr/>
          <p:nvPr/>
        </p:nvSpPr>
        <p:spPr>
          <a:xfrm>
            <a:off x="3090672" y="5257800"/>
            <a:ext cx="365760" cy="365760"/>
          </a:xfrm>
          <a:prstGeom prst="ellipse">
            <a:avLst/>
          </a:prstGeom>
          <a:solidFill>
            <a:srgbClr val="0F9E8E"/>
          </a:solidFill>
          <a:ln w="12700">
            <a:solidFill>
              <a:srgbClr val="0F9E8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IBM Plex Mono"/>
                <a:ea typeface="IBM Plex Mono"/>
                <a:cs typeface="IBM Plex Mono"/>
              </a:rPr>
              <a:t>5</a:t>
            </a:r>
          </a:p>
        </p:txBody>
      </p:sp>
      <p:sp>
        <p:nvSpPr>
          <p:cNvPr id="21" name="Number 6"/>
          <p:cNvSpPr/>
          <p:nvPr/>
        </p:nvSpPr>
        <p:spPr>
          <a:xfrm>
            <a:off x="3657600" y="525780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E8E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300" b="1" dirty="0">
                <a:solidFill>
                  <a:srgbClr val="9AA8B2"/>
                </a:solidFill>
                <a:latin typeface="IBM Plex Mono"/>
                <a:ea typeface="IBM Plex Mono"/>
                <a:cs typeface="IBM Plex Mono"/>
              </a:rPr>
              <a:t>6</a:t>
            </a:r>
          </a:p>
        </p:txBody>
      </p:sp>
      <p:sp>
        <p:nvSpPr>
          <p:cNvPr id="22" name="Footer"/>
          <p:cNvSpPr txBox="1"/>
          <p:nvPr/>
        </p:nvSpPr>
        <p:spPr>
          <a:xfrm>
            <a:off x="822960" y="6419088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00" b="0" dirty="0">
                <a:solidFill>
                  <a:srgbClr val="5B6B77"/>
                </a:solidFill>
                <a:latin typeface="Inter"/>
                <a:ea typeface="Inter"/>
                <a:cs typeface="Inter"/>
              </a:rPr>
              <a:t>Reflexive AI Research Initiative · Lucid Institute for Organizational Science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rand bar 1"/>
          <p:cNvSpPr/>
          <p:nvPr/>
        </p:nvSpPr>
        <p:spPr>
          <a:xfrm>
            <a:off x="0" y="0"/>
            <a:ext cx="4063898" cy="146304"/>
          </a:xfrm>
          <a:prstGeom prst="rect">
            <a:avLst/>
          </a:prstGeom>
          <a:solidFill>
            <a:srgbClr val="0F9E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Brand bar 2"/>
          <p:cNvSpPr/>
          <p:nvPr/>
        </p:nvSpPr>
        <p:spPr>
          <a:xfrm>
            <a:off x="4063898" y="0"/>
            <a:ext cx="4063898" cy="146304"/>
          </a:xfrm>
          <a:prstGeom prst="rect">
            <a:avLst/>
          </a:prstGeom>
          <a:solidFill>
            <a:srgbClr val="2B3F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Brand bar 3"/>
          <p:cNvSpPr/>
          <p:nvPr/>
        </p:nvSpPr>
        <p:spPr>
          <a:xfrm>
            <a:off x="8127797" y="0"/>
            <a:ext cx="4063898" cy="146304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Eyebrow"/>
          <p:cNvSpPr txBox="1"/>
          <p:nvPr/>
        </p:nvSpPr>
        <p:spPr>
          <a:xfrm>
            <a:off x="822960" y="96012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200" b="1" spc="200" dirty="0">
                <a:solidFill>
                  <a:srgbClr val="0B6F63"/>
                </a:solidFill>
                <a:latin typeface="IBM Plex Mono"/>
                <a:ea typeface="IBM Plex Mono"/>
                <a:cs typeface="IBM Plex Mono"/>
              </a:rPr>
              <a:t>CHECK-IN · PROMPT 6 OF 6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786384" y="1554480"/>
            <a:ext cx="10424160" cy="2286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4600" b="1" dirty="0">
                <a:solidFill>
                  <a:srgbClr val="14202B"/>
                </a:solidFill>
                <a:latin typeface="Sora"/>
                <a:ea typeface="Sora"/>
                <a:cs typeface="Sora"/>
              </a:rPr>
              <a:t>What gives me hope is that </a:t>
            </a:r>
            <a:r>
              <a:rPr lang="en-US" sz="4600" b="1" dirty="0">
                <a:solidFill>
                  <a:srgbClr val="0F9E8E"/>
                </a:solidFill>
                <a:latin typeface="Sora"/>
                <a:ea typeface="Sora"/>
                <a:cs typeface="Sora"/>
              </a:rPr>
              <a:t>…</a:t>
            </a:r>
          </a:p>
        </p:txBody>
      </p:sp>
      <p:sp>
        <p:nvSpPr>
          <p:cNvPr id="13" name="Chat pill"/>
          <p:cNvSpPr/>
          <p:nvPr/>
        </p:nvSpPr>
        <p:spPr>
          <a:xfrm>
            <a:off x="822960" y="4206240"/>
            <a:ext cx="45720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FE3DC"/>
            </a:solidFill>
          </a:ln>
        </p:spPr>
        <p:txBody>
          <a:bodyPr wrap="square" rtlCol="0" anchor="t"/>
          <a:lstStyle/>
          <a:p>
            <a:endParaRPr lang="en-US"/>
          </a:p>
        </p:txBody>
      </p:sp>
      <p:pic>
        <p:nvPicPr>
          <p:cNvPr id="14" name="Icon 14" descr="Chat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306824"/>
            <a:ext cx="256032" cy="256032"/>
          </a:xfrm>
          <a:prstGeom prst="rect">
            <a:avLst/>
          </a:prstGeom>
        </p:spPr>
      </p:pic>
      <p:sp>
        <p:nvSpPr>
          <p:cNvPr id="15" name="Text 15"/>
          <p:cNvSpPr txBox="1"/>
          <p:nvPr/>
        </p:nvSpPr>
        <p:spPr>
          <a:xfrm>
            <a:off x="1371600" y="420624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50" b="1" spc="100" dirty="0">
                <a:solidFill>
                  <a:srgbClr val="0B6F63"/>
                </a:solidFill>
                <a:latin typeface="IBM Plex Mono"/>
                <a:ea typeface="IBM Plex Mono"/>
                <a:cs typeface="IBM Plex Mono"/>
              </a:rPr>
              <a:t>REPLY IN THE CHAT · IN SILENCE</a:t>
            </a:r>
          </a:p>
        </p:txBody>
      </p:sp>
      <p:sp>
        <p:nvSpPr>
          <p:cNvPr id="16" name="Number 1"/>
          <p:cNvSpPr/>
          <p:nvPr/>
        </p:nvSpPr>
        <p:spPr>
          <a:xfrm>
            <a:off x="822960" y="5257800"/>
            <a:ext cx="365760" cy="365760"/>
          </a:xfrm>
          <a:prstGeom prst="ellipse">
            <a:avLst/>
          </a:prstGeom>
          <a:solidFill>
            <a:srgbClr val="EAF6F3"/>
          </a:solidFill>
          <a:ln w="12700">
            <a:solidFill>
              <a:srgbClr val="BFE3D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300" b="1" dirty="0">
                <a:solidFill>
                  <a:srgbClr val="0B6F63"/>
                </a:solidFill>
                <a:latin typeface="IBM Plex Mono"/>
                <a:ea typeface="IBM Plex Mono"/>
                <a:cs typeface="IBM Plex Mono"/>
              </a:rPr>
              <a:t>1</a:t>
            </a:r>
          </a:p>
        </p:txBody>
      </p:sp>
      <p:sp>
        <p:nvSpPr>
          <p:cNvPr id="17" name="Number 2"/>
          <p:cNvSpPr/>
          <p:nvPr/>
        </p:nvSpPr>
        <p:spPr>
          <a:xfrm>
            <a:off x="1389888" y="5257800"/>
            <a:ext cx="365760" cy="365760"/>
          </a:xfrm>
          <a:prstGeom prst="ellipse">
            <a:avLst/>
          </a:prstGeom>
          <a:solidFill>
            <a:srgbClr val="EAF6F3"/>
          </a:solidFill>
          <a:ln w="12700">
            <a:solidFill>
              <a:srgbClr val="BFE3D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300" b="1" dirty="0">
                <a:solidFill>
                  <a:srgbClr val="0B6F63"/>
                </a:solidFill>
                <a:latin typeface="IBM Plex Mono"/>
                <a:ea typeface="IBM Plex Mono"/>
                <a:cs typeface="IBM Plex Mono"/>
              </a:rPr>
              <a:t>2</a:t>
            </a:r>
          </a:p>
        </p:txBody>
      </p:sp>
      <p:sp>
        <p:nvSpPr>
          <p:cNvPr id="18" name="Number 3"/>
          <p:cNvSpPr/>
          <p:nvPr/>
        </p:nvSpPr>
        <p:spPr>
          <a:xfrm>
            <a:off x="1956816" y="5257800"/>
            <a:ext cx="365760" cy="365760"/>
          </a:xfrm>
          <a:prstGeom prst="ellipse">
            <a:avLst/>
          </a:prstGeom>
          <a:solidFill>
            <a:srgbClr val="EAF6F3"/>
          </a:solidFill>
          <a:ln w="12700">
            <a:solidFill>
              <a:srgbClr val="BFE3D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300" b="1" dirty="0">
                <a:solidFill>
                  <a:srgbClr val="0B6F63"/>
                </a:solidFill>
                <a:latin typeface="IBM Plex Mono"/>
                <a:ea typeface="IBM Plex Mono"/>
                <a:cs typeface="IBM Plex Mono"/>
              </a:rPr>
              <a:t>3</a:t>
            </a:r>
          </a:p>
        </p:txBody>
      </p:sp>
      <p:sp>
        <p:nvSpPr>
          <p:cNvPr id="19" name="Number 4"/>
          <p:cNvSpPr/>
          <p:nvPr/>
        </p:nvSpPr>
        <p:spPr>
          <a:xfrm>
            <a:off x="2523744" y="5257800"/>
            <a:ext cx="365760" cy="365760"/>
          </a:xfrm>
          <a:prstGeom prst="ellipse">
            <a:avLst/>
          </a:prstGeom>
          <a:solidFill>
            <a:srgbClr val="EAF6F3"/>
          </a:solidFill>
          <a:ln w="12700">
            <a:solidFill>
              <a:srgbClr val="BFE3D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300" b="1" dirty="0">
                <a:solidFill>
                  <a:srgbClr val="0B6F63"/>
                </a:solidFill>
                <a:latin typeface="IBM Plex Mono"/>
                <a:ea typeface="IBM Plex Mono"/>
                <a:cs typeface="IBM Plex Mono"/>
              </a:rPr>
              <a:t>4</a:t>
            </a:r>
          </a:p>
        </p:txBody>
      </p:sp>
      <p:sp>
        <p:nvSpPr>
          <p:cNvPr id="20" name="Number 5"/>
          <p:cNvSpPr/>
          <p:nvPr/>
        </p:nvSpPr>
        <p:spPr>
          <a:xfrm>
            <a:off x="3090672" y="5257800"/>
            <a:ext cx="365760" cy="365760"/>
          </a:xfrm>
          <a:prstGeom prst="ellipse">
            <a:avLst/>
          </a:prstGeom>
          <a:solidFill>
            <a:srgbClr val="EAF6F3"/>
          </a:solidFill>
          <a:ln w="12700">
            <a:solidFill>
              <a:srgbClr val="BFE3D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300" b="1" dirty="0">
                <a:solidFill>
                  <a:srgbClr val="0B6F63"/>
                </a:solidFill>
                <a:latin typeface="IBM Plex Mono"/>
                <a:ea typeface="IBM Plex Mono"/>
                <a:cs typeface="IBM Plex Mono"/>
              </a:rPr>
              <a:t>5</a:t>
            </a:r>
          </a:p>
        </p:txBody>
      </p:sp>
      <p:sp>
        <p:nvSpPr>
          <p:cNvPr id="21" name="Number 6"/>
          <p:cNvSpPr/>
          <p:nvPr/>
        </p:nvSpPr>
        <p:spPr>
          <a:xfrm>
            <a:off x="3657600" y="5257800"/>
            <a:ext cx="365760" cy="365760"/>
          </a:xfrm>
          <a:prstGeom prst="ellipse">
            <a:avLst/>
          </a:prstGeom>
          <a:solidFill>
            <a:srgbClr val="0F9E8E"/>
          </a:solidFill>
          <a:ln w="12700">
            <a:solidFill>
              <a:srgbClr val="0F9E8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IBM Plex Mono"/>
                <a:ea typeface="IBM Plex Mono"/>
                <a:cs typeface="IBM Plex Mono"/>
              </a:rPr>
              <a:t>6</a:t>
            </a:r>
          </a:p>
        </p:txBody>
      </p:sp>
      <p:sp>
        <p:nvSpPr>
          <p:cNvPr id="22" name="Footer"/>
          <p:cNvSpPr txBox="1"/>
          <p:nvPr/>
        </p:nvSpPr>
        <p:spPr>
          <a:xfrm>
            <a:off x="822960" y="6419088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00" b="0" dirty="0">
                <a:solidFill>
                  <a:srgbClr val="5B6B77"/>
                </a:solidFill>
                <a:latin typeface="Inter"/>
                <a:ea typeface="Inter"/>
                <a:cs typeface="Inter"/>
              </a:rPr>
              <a:t>Reflexive AI Research Initiative · Lucid Institute for Organizational Science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rand bar 1"/>
          <p:cNvSpPr/>
          <p:nvPr/>
        </p:nvSpPr>
        <p:spPr>
          <a:xfrm>
            <a:off x="0" y="0"/>
            <a:ext cx="4063898" cy="146304"/>
          </a:xfrm>
          <a:prstGeom prst="rect">
            <a:avLst/>
          </a:prstGeom>
          <a:solidFill>
            <a:srgbClr val="0F9E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Brand bar 2"/>
          <p:cNvSpPr/>
          <p:nvPr/>
        </p:nvSpPr>
        <p:spPr>
          <a:xfrm>
            <a:off x="4063898" y="0"/>
            <a:ext cx="4063898" cy="146304"/>
          </a:xfrm>
          <a:prstGeom prst="rect">
            <a:avLst/>
          </a:prstGeom>
          <a:solidFill>
            <a:srgbClr val="2B3F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Brand bar 3"/>
          <p:cNvSpPr/>
          <p:nvPr/>
        </p:nvSpPr>
        <p:spPr>
          <a:xfrm>
            <a:off x="8127797" y="0"/>
            <a:ext cx="4063898" cy="146304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Eyebrow"/>
          <p:cNvSpPr txBox="1"/>
          <p:nvPr/>
        </p:nvSpPr>
        <p:spPr>
          <a:xfrm>
            <a:off x="822960" y="96012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200" b="1" spc="200" dirty="0">
                <a:solidFill>
                  <a:srgbClr val="0B6F63"/>
                </a:solidFill>
                <a:latin typeface="IBM Plex Mono"/>
                <a:ea typeface="IBM Plex Mono"/>
                <a:cs typeface="IBM Plex Mono"/>
              </a:rPr>
              <a:t>CHECK-IN · DEBRIEF</a:t>
            </a:r>
          </a:p>
        </p:txBody>
      </p:sp>
      <p:sp>
        <p:nvSpPr>
          <p:cNvPr id="12" name="Title"/>
          <p:cNvSpPr txBox="1"/>
          <p:nvPr/>
        </p:nvSpPr>
        <p:spPr>
          <a:xfrm>
            <a:off x="786384" y="1463040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3200" b="1" dirty="0">
                <a:solidFill>
                  <a:srgbClr val="14202B"/>
                </a:solidFill>
                <a:latin typeface="Sora"/>
                <a:ea typeface="Sora"/>
                <a:cs typeface="Sora"/>
              </a:rPr>
              <a:t>What patterns do you notice in the chat?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822960" y="2240280"/>
            <a:ext cx="104241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600" b="0" dirty="0">
                <a:solidFill>
                  <a:srgbClr val="33424D"/>
                </a:solidFill>
                <a:latin typeface="Inter"/>
                <a:ea typeface="Inter"/>
                <a:cs typeface="Inter"/>
              </a:rPr>
              <a:t>Scroll through the answers. Anyone can share one pattern, in a single sentence.</a:t>
            </a:r>
          </a:p>
        </p:txBody>
      </p:sp>
      <p:sp>
        <p:nvSpPr>
          <p:cNvPr id="14" name="Card"/>
          <p:cNvSpPr/>
          <p:nvPr/>
        </p:nvSpPr>
        <p:spPr>
          <a:xfrm>
            <a:off x="822960" y="3017520"/>
            <a:ext cx="329184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8E5"/>
            </a:solidFill>
          </a:ln>
        </p:spPr>
        <p:txBody>
          <a:bodyPr wrap="square" rtlCol="0" anchor="t"/>
          <a:lstStyle/>
          <a:p>
            <a:endParaRPr lang="en-US"/>
          </a:p>
        </p:txBody>
      </p:sp>
      <p:sp>
        <p:nvSpPr>
          <p:cNvPr id="15" name="Number 1"/>
          <p:cNvSpPr/>
          <p:nvPr/>
        </p:nvSpPr>
        <p:spPr>
          <a:xfrm>
            <a:off x="1097280" y="3291840"/>
            <a:ext cx="402336" cy="402336"/>
          </a:xfrm>
          <a:prstGeom prst="ellipse">
            <a:avLst/>
          </a:prstGeom>
          <a:solidFill>
            <a:srgbClr val="EAF6F3"/>
          </a:solidFill>
          <a:ln w="12700">
            <a:solidFill>
              <a:srgbClr val="BFE3D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300" b="1" dirty="0">
                <a:solidFill>
                  <a:srgbClr val="0B6F63"/>
                </a:solidFill>
                <a:latin typeface="IBM Plex Mono"/>
                <a:ea typeface="IBM Plex Mono"/>
                <a:cs typeface="IBM Plex Mono"/>
              </a:rPr>
              <a:t>1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1097280" y="3886200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700" b="1" dirty="0">
                <a:solidFill>
                  <a:srgbClr val="14202B"/>
                </a:solidFill>
                <a:latin typeface="Sora"/>
                <a:ea typeface="Sora"/>
                <a:cs typeface="Sora"/>
              </a:rPr>
              <a:t>What comes up again and again?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1097280" y="466344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300" b="0" i="1" dirty="0">
                <a:solidFill>
                  <a:srgbClr val="33424D"/>
                </a:solidFill>
                <a:latin typeface="Inter"/>
                <a:ea typeface="Inter"/>
                <a:cs typeface="Inter"/>
              </a:rPr>
              <a:t>Recurring hopes, fears or experiences</a:t>
            </a:r>
          </a:p>
        </p:txBody>
      </p:sp>
      <p:sp>
        <p:nvSpPr>
          <p:cNvPr id="18" name="Card"/>
          <p:cNvSpPr/>
          <p:nvPr/>
        </p:nvSpPr>
        <p:spPr>
          <a:xfrm>
            <a:off x="4434840" y="3017520"/>
            <a:ext cx="329184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8E5"/>
            </a:solidFill>
          </a:ln>
        </p:spPr>
        <p:txBody>
          <a:bodyPr wrap="square" rtlCol="0" anchor="t"/>
          <a:lstStyle/>
          <a:p>
            <a:endParaRPr lang="en-US"/>
          </a:p>
        </p:txBody>
      </p:sp>
      <p:sp>
        <p:nvSpPr>
          <p:cNvPr id="19" name="Number 2"/>
          <p:cNvSpPr/>
          <p:nvPr/>
        </p:nvSpPr>
        <p:spPr>
          <a:xfrm>
            <a:off x="4709160" y="3291840"/>
            <a:ext cx="402336" cy="402336"/>
          </a:xfrm>
          <a:prstGeom prst="ellipse">
            <a:avLst/>
          </a:prstGeom>
          <a:solidFill>
            <a:srgbClr val="EAF6F3"/>
          </a:solidFill>
          <a:ln w="12700">
            <a:solidFill>
              <a:srgbClr val="BFE3D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300" b="1" dirty="0">
                <a:solidFill>
                  <a:srgbClr val="0B6F63"/>
                </a:solidFill>
                <a:latin typeface="IBM Plex Mono"/>
                <a:ea typeface="IBM Plex Mono"/>
                <a:cs typeface="IBM Plex Mono"/>
              </a:rPr>
              <a:t>2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4709160" y="3886200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700" b="1" dirty="0">
                <a:solidFill>
                  <a:srgbClr val="14202B"/>
                </a:solidFill>
                <a:latin typeface="Sora"/>
                <a:ea typeface="Sora"/>
                <a:cs typeface="Sora"/>
              </a:rPr>
              <a:t>Where do we see things differently?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4709160" y="466344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300" b="0" i="1" dirty="0">
                <a:solidFill>
                  <a:srgbClr val="33424D"/>
                </a:solidFill>
                <a:latin typeface="Inter"/>
                <a:ea typeface="Inter"/>
                <a:cs typeface="Inter"/>
              </a:rPr>
              <a:t>Tensions between opportunities and risks</a:t>
            </a:r>
          </a:p>
        </p:txBody>
      </p:sp>
      <p:sp>
        <p:nvSpPr>
          <p:cNvPr id="22" name="Card"/>
          <p:cNvSpPr/>
          <p:nvPr/>
        </p:nvSpPr>
        <p:spPr>
          <a:xfrm>
            <a:off x="8046720" y="3017520"/>
            <a:ext cx="329184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8E5"/>
            </a:solidFill>
          </a:ln>
        </p:spPr>
        <p:txBody>
          <a:bodyPr wrap="square" rtlCol="0" anchor="t"/>
          <a:lstStyle/>
          <a:p>
            <a:endParaRPr lang="en-US"/>
          </a:p>
        </p:txBody>
      </p:sp>
      <p:sp>
        <p:nvSpPr>
          <p:cNvPr id="23" name="Number 3"/>
          <p:cNvSpPr/>
          <p:nvPr/>
        </p:nvSpPr>
        <p:spPr>
          <a:xfrm>
            <a:off x="8321040" y="3291840"/>
            <a:ext cx="402336" cy="402336"/>
          </a:xfrm>
          <a:prstGeom prst="ellipse">
            <a:avLst/>
          </a:prstGeom>
          <a:solidFill>
            <a:srgbClr val="EAF6F3"/>
          </a:solidFill>
          <a:ln w="12700">
            <a:solidFill>
              <a:srgbClr val="BFE3D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300" b="1" dirty="0">
                <a:solidFill>
                  <a:srgbClr val="0B6F63"/>
                </a:solidFill>
                <a:latin typeface="IBM Plex Mono"/>
                <a:ea typeface="IBM Plex Mono"/>
                <a:cs typeface="IBM Plex Mono"/>
              </a:rPr>
              <a:t>3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8321040" y="3886200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700" b="1" dirty="0">
                <a:solidFill>
                  <a:srgbClr val="14202B"/>
                </a:solidFill>
                <a:latin typeface="Sora"/>
                <a:ea typeface="Sora"/>
                <a:cs typeface="Sora"/>
              </a:rPr>
              <a:t>What surprises you?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8321040" y="466344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300" b="0" i="1" dirty="0">
                <a:solidFill>
                  <a:srgbClr val="33424D"/>
                </a:solidFill>
                <a:latin typeface="Inter"/>
                <a:ea typeface="Inter"/>
                <a:cs typeface="Inter"/>
              </a:rPr>
              <a:t>Something you did not expect to read</a:t>
            </a:r>
          </a:p>
        </p:txBody>
      </p:sp>
      <p:sp>
        <p:nvSpPr>
          <p:cNvPr id="26" name="Footer"/>
          <p:cNvSpPr txBox="1"/>
          <p:nvPr/>
        </p:nvSpPr>
        <p:spPr>
          <a:xfrm>
            <a:off x="822960" y="6419088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00" b="0" dirty="0">
                <a:solidFill>
                  <a:srgbClr val="5B6B77"/>
                </a:solidFill>
                <a:latin typeface="Inter"/>
                <a:ea typeface="Inter"/>
                <a:cs typeface="Inter"/>
              </a:rPr>
              <a:t>Reflexive AI Research Initiative · Lucid Institute for Organizational Science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rand bar 1"/>
          <p:cNvSpPr/>
          <p:nvPr/>
        </p:nvSpPr>
        <p:spPr>
          <a:xfrm>
            <a:off x="0" y="0"/>
            <a:ext cx="4063898" cy="146304"/>
          </a:xfrm>
          <a:prstGeom prst="rect">
            <a:avLst/>
          </a:prstGeom>
          <a:solidFill>
            <a:srgbClr val="0F9E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Brand bar 2"/>
          <p:cNvSpPr/>
          <p:nvPr/>
        </p:nvSpPr>
        <p:spPr>
          <a:xfrm>
            <a:off x="4063898" y="0"/>
            <a:ext cx="4063898" cy="146304"/>
          </a:xfrm>
          <a:prstGeom prst="rect">
            <a:avLst/>
          </a:prstGeom>
          <a:solidFill>
            <a:srgbClr val="2B3F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Brand bar 3"/>
          <p:cNvSpPr/>
          <p:nvPr/>
        </p:nvSpPr>
        <p:spPr>
          <a:xfrm>
            <a:off x="8127797" y="0"/>
            <a:ext cx="4063898" cy="146304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Eyebrow"/>
          <p:cNvSpPr txBox="1"/>
          <p:nvPr/>
        </p:nvSpPr>
        <p:spPr>
          <a:xfrm>
            <a:off x="822960" y="96012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200" b="1" spc="200" dirty="0">
                <a:solidFill>
                  <a:srgbClr val="0B6F63"/>
                </a:solidFill>
                <a:latin typeface="IBM Plex Mono"/>
                <a:ea typeface="IBM Plex Mono"/>
                <a:cs typeface="IBM Plex Mono"/>
              </a:rPr>
              <a:t>02 · WHAT RESEARCH TELLS US</a:t>
            </a:r>
          </a:p>
        </p:txBody>
      </p:sp>
      <p:sp>
        <p:nvSpPr>
          <p:cNvPr id="12" name="Title"/>
          <p:cNvSpPr txBox="1"/>
          <p:nvPr/>
        </p:nvSpPr>
        <p:spPr>
          <a:xfrm>
            <a:off x="786384" y="1463040"/>
            <a:ext cx="10515600" cy="11887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3200" b="1" dirty="0">
                <a:solidFill>
                  <a:srgbClr val="14202B"/>
                </a:solidFill>
                <a:latin typeface="Sora"/>
                <a:ea typeface="Sora"/>
                <a:cs typeface="Sora"/>
              </a:rPr>
              <a:t>AI changes work profoundly, but the benefits for people are not automatic</a:t>
            </a:r>
          </a:p>
        </p:txBody>
      </p:sp>
      <p:sp>
        <p:nvSpPr>
          <p:cNvPr id="13" name="Label"/>
          <p:cNvSpPr txBox="1"/>
          <p:nvPr/>
        </p:nvSpPr>
        <p:spPr>
          <a:xfrm>
            <a:off x="822960" y="2971800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50" b="1" spc="200" dirty="0">
                <a:solidFill>
                  <a:srgbClr val="0B6F63"/>
                </a:solidFill>
                <a:latin typeface="IBM Plex Mono"/>
                <a:ea typeface="IBM Plex Mono"/>
                <a:cs typeface="IBM Plex Mono"/>
              </a:rPr>
              <a:t>// KEY FINDINGS</a:t>
            </a:r>
          </a:p>
        </p:txBody>
      </p:sp>
      <p:sp>
        <p:nvSpPr>
          <p:cNvPr id="14" name="Number 1"/>
          <p:cNvSpPr/>
          <p:nvPr/>
        </p:nvSpPr>
        <p:spPr>
          <a:xfrm>
            <a:off x="822960" y="3465576"/>
            <a:ext cx="402336" cy="402336"/>
          </a:xfrm>
          <a:prstGeom prst="ellipse">
            <a:avLst/>
          </a:prstGeom>
          <a:solidFill>
            <a:srgbClr val="EAF6F3"/>
          </a:solidFill>
          <a:ln w="12700">
            <a:solidFill>
              <a:srgbClr val="BFE3D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300" b="1" dirty="0">
                <a:solidFill>
                  <a:srgbClr val="0B6F63"/>
                </a:solidFill>
                <a:latin typeface="IBM Plex Mono"/>
                <a:ea typeface="IBM Plex Mono"/>
                <a:cs typeface="IBM Plex Mono"/>
              </a:rPr>
              <a:t>1</a:t>
            </a:r>
          </a:p>
        </p:txBody>
      </p:sp>
      <p:sp>
        <p:nvSpPr>
          <p:cNvPr id="15" name="Item"/>
          <p:cNvSpPr txBox="1"/>
          <p:nvPr/>
        </p:nvSpPr>
        <p:spPr>
          <a:xfrm>
            <a:off x="1353312" y="3429000"/>
            <a:ext cx="457200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1300" b="1" dirty="0">
                <a:solidFill>
                  <a:srgbClr val="0B6F63"/>
                </a:solidFill>
                <a:latin typeface="Inter"/>
                <a:ea typeface="Inter"/>
                <a:cs typeface="Inter"/>
              </a:rPr>
              <a:t>Minds, delegated. </a:t>
            </a:r>
            <a:r>
              <a:rPr lang="en-US" sz="1300" b="0" dirty="0">
                <a:solidFill>
                  <a:srgbClr val="33424D"/>
                </a:solidFill>
                <a:latin typeface="Inter"/>
                <a:ea typeface="Inter"/>
                <a:cs typeface="Inter"/>
              </a:rPr>
              <a:t>AI now takes over thinking and creative work, not only physical tasks.</a:t>
            </a:r>
            <a:r>
              <a:rPr lang="en-US" sz="1100" b="0" dirty="0">
                <a:solidFill>
                  <a:srgbClr val="6B7C88"/>
                </a:solidFill>
                <a:latin typeface="Inter"/>
                <a:ea typeface="Inter"/>
                <a:cs typeface="Inter"/>
              </a:rPr>
              <a:t> (Boden, 2016; Hilbert, 2020)</a:t>
            </a:r>
          </a:p>
        </p:txBody>
      </p:sp>
      <p:sp>
        <p:nvSpPr>
          <p:cNvPr id="16" name="Number 2"/>
          <p:cNvSpPr/>
          <p:nvPr/>
        </p:nvSpPr>
        <p:spPr>
          <a:xfrm>
            <a:off x="6217920" y="3465576"/>
            <a:ext cx="402336" cy="402336"/>
          </a:xfrm>
          <a:prstGeom prst="ellipse">
            <a:avLst/>
          </a:prstGeom>
          <a:solidFill>
            <a:srgbClr val="EAF6F3"/>
          </a:solidFill>
          <a:ln w="12700">
            <a:solidFill>
              <a:srgbClr val="BFE3D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300" b="1" dirty="0">
                <a:solidFill>
                  <a:srgbClr val="0B6F63"/>
                </a:solidFill>
                <a:latin typeface="IBM Plex Mono"/>
                <a:ea typeface="IBM Plex Mono"/>
                <a:cs typeface="IBM Plex Mono"/>
              </a:rPr>
              <a:t>2</a:t>
            </a:r>
          </a:p>
        </p:txBody>
      </p:sp>
      <p:sp>
        <p:nvSpPr>
          <p:cNvPr id="17" name="Item"/>
          <p:cNvSpPr txBox="1"/>
          <p:nvPr/>
        </p:nvSpPr>
        <p:spPr>
          <a:xfrm>
            <a:off x="6748272" y="3429000"/>
            <a:ext cx="457200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1300" b="1" dirty="0">
                <a:solidFill>
                  <a:srgbClr val="0B6F63"/>
                </a:solidFill>
                <a:latin typeface="Inter"/>
                <a:ea typeface="Inter"/>
                <a:cs typeface="Inter"/>
              </a:rPr>
              <a:t>Local gains get lost. </a:t>
            </a:r>
            <a:r>
              <a:rPr lang="en-US" sz="1300" b="0" dirty="0">
                <a:solidFill>
                  <a:srgbClr val="33424D"/>
                </a:solidFill>
                <a:latin typeface="Inter"/>
                <a:ea typeface="Inter"/>
                <a:cs typeface="Inter"/>
              </a:rPr>
              <a:t>People feel more productive, but gains are often absorbed by workflows and organizational constraints.</a:t>
            </a:r>
            <a:r>
              <a:rPr lang="en-US" sz="1100" b="0" dirty="0">
                <a:solidFill>
                  <a:srgbClr val="6B7C88"/>
                </a:solidFill>
                <a:latin typeface="Inter"/>
                <a:ea typeface="Inter"/>
                <a:cs typeface="Inter"/>
              </a:rPr>
              <a:t> (Becker et al., 2025; DORA, 2025)</a:t>
            </a:r>
          </a:p>
        </p:txBody>
      </p:sp>
      <p:sp>
        <p:nvSpPr>
          <p:cNvPr id="18" name="Number 3"/>
          <p:cNvSpPr/>
          <p:nvPr/>
        </p:nvSpPr>
        <p:spPr>
          <a:xfrm>
            <a:off x="822960" y="4608576"/>
            <a:ext cx="402336" cy="402336"/>
          </a:xfrm>
          <a:prstGeom prst="ellipse">
            <a:avLst/>
          </a:prstGeom>
          <a:solidFill>
            <a:srgbClr val="EAF6F3"/>
          </a:solidFill>
          <a:ln w="12700">
            <a:solidFill>
              <a:srgbClr val="BFE3D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300" b="1" dirty="0">
                <a:solidFill>
                  <a:srgbClr val="0B6F63"/>
                </a:solidFill>
                <a:latin typeface="IBM Plex Mono"/>
                <a:ea typeface="IBM Plex Mono"/>
                <a:cs typeface="IBM Plex Mono"/>
              </a:rPr>
              <a:t>3</a:t>
            </a:r>
          </a:p>
        </p:txBody>
      </p:sp>
      <p:sp>
        <p:nvSpPr>
          <p:cNvPr id="19" name="Item"/>
          <p:cNvSpPr txBox="1"/>
          <p:nvPr/>
        </p:nvSpPr>
        <p:spPr>
          <a:xfrm>
            <a:off x="1353312" y="4572000"/>
            <a:ext cx="457200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1300" b="1" dirty="0">
                <a:solidFill>
                  <a:srgbClr val="0B6F63"/>
                </a:solidFill>
                <a:latin typeface="Inter"/>
                <a:ea typeface="Inter"/>
                <a:cs typeface="Inter"/>
              </a:rPr>
              <a:t>Trust, fit and culture decide. </a:t>
            </a:r>
            <a:r>
              <a:rPr lang="en-US" sz="1300" b="0" dirty="0">
                <a:solidFill>
                  <a:srgbClr val="33424D"/>
                </a:solidFill>
                <a:latin typeface="Inter"/>
                <a:ea typeface="Inter"/>
                <a:cs typeface="Inter"/>
              </a:rPr>
              <a:t>Whether AI raises or lowers engagement depends on trust, task fit, transparency and self-efficacy.</a:t>
            </a:r>
            <a:r>
              <a:rPr lang="en-US" sz="1100" b="0" dirty="0">
                <a:solidFill>
                  <a:srgbClr val="6B7C88"/>
                </a:solidFill>
                <a:latin typeface="Inter"/>
                <a:ea typeface="Inter"/>
                <a:cs typeface="Inter"/>
              </a:rPr>
              <a:t> (Braganza et al., 2021; Tortorella et al., 2025)</a:t>
            </a:r>
          </a:p>
        </p:txBody>
      </p:sp>
      <p:sp>
        <p:nvSpPr>
          <p:cNvPr id="20" name="Number 4"/>
          <p:cNvSpPr/>
          <p:nvPr/>
        </p:nvSpPr>
        <p:spPr>
          <a:xfrm>
            <a:off x="6217920" y="4608576"/>
            <a:ext cx="402336" cy="402336"/>
          </a:xfrm>
          <a:prstGeom prst="ellipse">
            <a:avLst/>
          </a:prstGeom>
          <a:solidFill>
            <a:srgbClr val="EAF6F3"/>
          </a:solidFill>
          <a:ln w="12700">
            <a:solidFill>
              <a:srgbClr val="BFE3D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300" b="1" dirty="0">
                <a:solidFill>
                  <a:srgbClr val="0B6F63"/>
                </a:solidFill>
                <a:latin typeface="IBM Plex Mono"/>
                <a:ea typeface="IBM Plex Mono"/>
                <a:cs typeface="IBM Plex Mono"/>
              </a:rPr>
              <a:t>4</a:t>
            </a:r>
          </a:p>
        </p:txBody>
      </p:sp>
      <p:sp>
        <p:nvSpPr>
          <p:cNvPr id="21" name="Item"/>
          <p:cNvSpPr txBox="1"/>
          <p:nvPr/>
        </p:nvSpPr>
        <p:spPr>
          <a:xfrm>
            <a:off x="6748272" y="4572000"/>
            <a:ext cx="457200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1300" b="1" dirty="0">
                <a:solidFill>
                  <a:srgbClr val="0B6F63"/>
                </a:solidFill>
                <a:latin typeface="Inter"/>
                <a:ea typeface="Inter"/>
                <a:cs typeface="Inter"/>
              </a:rPr>
              <a:t>Principles lack the how. </a:t>
            </a:r>
            <a:r>
              <a:rPr lang="en-US" sz="1300" b="0" dirty="0">
                <a:solidFill>
                  <a:srgbClr val="33424D"/>
                </a:solidFill>
                <a:latin typeface="Inter"/>
                <a:ea typeface="Inter"/>
                <a:cs typeface="Inter"/>
              </a:rPr>
              <a:t>Ethical guidelines say what, not how. Most governance covers only fairness and privacy.</a:t>
            </a:r>
            <a:r>
              <a:rPr lang="en-US" sz="1100" b="0" dirty="0">
                <a:solidFill>
                  <a:srgbClr val="6B7C88"/>
                </a:solidFill>
                <a:latin typeface="Inter"/>
                <a:ea typeface="Inter"/>
                <a:cs typeface="Inter"/>
              </a:rPr>
              <a:t> (Mittelstadt, 2019; Batool et al., 2025)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822960" y="5943600"/>
            <a:ext cx="104241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0" dirty="0">
                <a:solidFill>
                  <a:srgbClr val="6B7C88"/>
                </a:solidFill>
                <a:latin typeface="Inter"/>
                <a:ea typeface="Inter"/>
                <a:cs typeface="Inter"/>
              </a:rPr>
              <a:t>Details &amp; sources: </a:t>
            </a:r>
            <a:r>
              <a:rPr lang="en-US" sz="1000" b="0" u="sng" dirty="0">
                <a:solidFill>
                  <a:srgbClr val="6B7C88"/>
                </a:solidFill>
                <a:latin typeface="Inter"/>
                <a:ea typeface="Inter"/>
                <a:cs typeface="Inter"/>
              </a:rPr>
              <a:t>github.com/LucidInstitute/Reflexive-AI-Initiative/tree/main/Literature</a:t>
            </a:r>
          </a:p>
        </p:txBody>
      </p:sp>
      <p:sp>
        <p:nvSpPr>
          <p:cNvPr id="23" name="Footer"/>
          <p:cNvSpPr txBox="1"/>
          <p:nvPr/>
        </p:nvSpPr>
        <p:spPr>
          <a:xfrm>
            <a:off x="822960" y="6419088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00" b="0" dirty="0">
                <a:solidFill>
                  <a:srgbClr val="5B6B77"/>
                </a:solidFill>
                <a:latin typeface="Inter"/>
                <a:ea typeface="Inter"/>
                <a:cs typeface="Inter"/>
              </a:rPr>
              <a:t>Reflexive AI Research Initiative · Lucid Institute for Organizational Science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rand bar 1"/>
          <p:cNvSpPr/>
          <p:nvPr/>
        </p:nvSpPr>
        <p:spPr>
          <a:xfrm>
            <a:off x="0" y="0"/>
            <a:ext cx="4063898" cy="146304"/>
          </a:xfrm>
          <a:prstGeom prst="rect">
            <a:avLst/>
          </a:prstGeom>
          <a:solidFill>
            <a:srgbClr val="0F9E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Brand bar 2"/>
          <p:cNvSpPr/>
          <p:nvPr/>
        </p:nvSpPr>
        <p:spPr>
          <a:xfrm>
            <a:off x="4063898" y="0"/>
            <a:ext cx="4063898" cy="146304"/>
          </a:xfrm>
          <a:prstGeom prst="rect">
            <a:avLst/>
          </a:prstGeom>
          <a:solidFill>
            <a:srgbClr val="2B3F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Brand bar 3"/>
          <p:cNvSpPr/>
          <p:nvPr/>
        </p:nvSpPr>
        <p:spPr>
          <a:xfrm>
            <a:off x="8127797" y="0"/>
            <a:ext cx="4063898" cy="146304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Eyebrow"/>
          <p:cNvSpPr txBox="1"/>
          <p:nvPr/>
        </p:nvSpPr>
        <p:spPr>
          <a:xfrm>
            <a:off x="822960" y="96012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200" b="1" spc="200" dirty="0">
                <a:solidFill>
                  <a:srgbClr val="0B6F63"/>
                </a:solidFill>
                <a:latin typeface="IBM Plex Mono"/>
                <a:ea typeface="IBM Plex Mono"/>
                <a:cs typeface="IBM Plex Mono"/>
              </a:rPr>
              <a:t>02 · OUR RESEARCH QUESTION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786384" y="1463040"/>
            <a:ext cx="10515600" cy="13716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3200" b="1" dirty="0">
                <a:solidFill>
                  <a:srgbClr val="14202B"/>
                </a:solidFill>
                <a:latin typeface="Sora"/>
                <a:ea typeface="Sora"/>
                <a:cs typeface="Sora"/>
              </a:rPr>
              <a:t>How can organizations leverage the power of AI in a manner that is human-centered?</a:t>
            </a:r>
          </a:p>
        </p:txBody>
      </p:sp>
      <p:sp>
        <p:nvSpPr>
          <p:cNvPr id="13" name="Label"/>
          <p:cNvSpPr txBox="1"/>
          <p:nvPr/>
        </p:nvSpPr>
        <p:spPr>
          <a:xfrm>
            <a:off x="822960" y="3063240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50" b="1" spc="200" dirty="0">
                <a:solidFill>
                  <a:srgbClr val="0B6F63"/>
                </a:solidFill>
                <a:latin typeface="IBM Plex Mono"/>
                <a:ea typeface="IBM Plex Mono"/>
                <a:cs typeface="IBM Plex Mono"/>
              </a:rPr>
              <a:t>// WHICH LEADS TO</a:t>
            </a:r>
          </a:p>
        </p:txBody>
      </p:sp>
      <p:sp>
        <p:nvSpPr>
          <p:cNvPr id="14" name="Number 1"/>
          <p:cNvSpPr/>
          <p:nvPr/>
        </p:nvSpPr>
        <p:spPr>
          <a:xfrm>
            <a:off x="822960" y="3557016"/>
            <a:ext cx="402336" cy="402336"/>
          </a:xfrm>
          <a:prstGeom prst="ellipse">
            <a:avLst/>
          </a:prstGeom>
          <a:solidFill>
            <a:srgbClr val="EAF6F3"/>
          </a:solidFill>
          <a:ln w="12700">
            <a:solidFill>
              <a:srgbClr val="BFE3D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300" b="1" dirty="0">
                <a:solidFill>
                  <a:srgbClr val="0B6F63"/>
                </a:solidFill>
                <a:latin typeface="IBM Plex Mono"/>
                <a:ea typeface="IBM Plex Mono"/>
                <a:cs typeface="IBM Plex Mono"/>
              </a:rPr>
              <a:t>1</a:t>
            </a:r>
          </a:p>
        </p:txBody>
      </p:sp>
      <p:sp>
        <p:nvSpPr>
          <p:cNvPr id="15" name="Item"/>
          <p:cNvSpPr txBox="1"/>
          <p:nvPr/>
        </p:nvSpPr>
        <p:spPr>
          <a:xfrm>
            <a:off x="1353312" y="3520440"/>
            <a:ext cx="429768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1300" b="1" dirty="0">
                <a:solidFill>
                  <a:srgbClr val="0B6F63"/>
                </a:solidFill>
                <a:latin typeface="Inter"/>
                <a:ea typeface="Inter"/>
                <a:cs typeface="Inter"/>
              </a:rPr>
              <a:t>What is needed? </a:t>
            </a:r>
            <a:r>
              <a:rPr lang="en-US" sz="1300" b="0" dirty="0">
                <a:solidFill>
                  <a:srgbClr val="33424D"/>
                </a:solidFill>
                <a:latin typeface="Inter"/>
                <a:ea typeface="Inter"/>
                <a:cs typeface="Inter"/>
              </a:rPr>
              <a:t>Which principles, rules, norms, interventions, processes and strategies help achieve this?</a:t>
            </a:r>
          </a:p>
        </p:txBody>
      </p:sp>
      <p:sp>
        <p:nvSpPr>
          <p:cNvPr id="16" name="Number 2"/>
          <p:cNvSpPr/>
          <p:nvPr/>
        </p:nvSpPr>
        <p:spPr>
          <a:xfrm>
            <a:off x="822960" y="4654296"/>
            <a:ext cx="402336" cy="402336"/>
          </a:xfrm>
          <a:prstGeom prst="ellipse">
            <a:avLst/>
          </a:prstGeom>
          <a:solidFill>
            <a:srgbClr val="EAF6F3"/>
          </a:solidFill>
          <a:ln w="12700">
            <a:solidFill>
              <a:srgbClr val="BFE3D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300" b="1" dirty="0">
                <a:solidFill>
                  <a:srgbClr val="0B6F63"/>
                </a:solidFill>
                <a:latin typeface="IBM Plex Mono"/>
                <a:ea typeface="IBM Plex Mono"/>
                <a:cs typeface="IBM Plex Mono"/>
              </a:rPr>
              <a:t>2</a:t>
            </a:r>
          </a:p>
        </p:txBody>
      </p:sp>
      <p:sp>
        <p:nvSpPr>
          <p:cNvPr id="17" name="Item"/>
          <p:cNvSpPr txBox="1"/>
          <p:nvPr/>
        </p:nvSpPr>
        <p:spPr>
          <a:xfrm>
            <a:off x="1353312" y="4617720"/>
            <a:ext cx="429768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1300" b="1" dirty="0">
                <a:solidFill>
                  <a:srgbClr val="0B6F63"/>
                </a:solidFill>
                <a:latin typeface="Inter"/>
                <a:ea typeface="Inter"/>
                <a:cs typeface="Inter"/>
              </a:rPr>
              <a:t>How do we know? </a:t>
            </a:r>
            <a:r>
              <a:rPr lang="en-US" sz="1300" b="0" dirty="0">
                <a:solidFill>
                  <a:srgbClr val="33424D"/>
                </a:solidFill>
                <a:latin typeface="Inter"/>
                <a:ea typeface="Inter"/>
                <a:cs typeface="Inter"/>
              </a:rPr>
              <a:t>How can organizations monitor whether it actually works?</a:t>
            </a:r>
          </a:p>
        </p:txBody>
      </p:sp>
      <p:sp>
        <p:nvSpPr>
          <p:cNvPr id="18" name="Card"/>
          <p:cNvSpPr/>
          <p:nvPr/>
        </p:nvSpPr>
        <p:spPr>
          <a:xfrm>
            <a:off x="6172200" y="3474720"/>
            <a:ext cx="5166360" cy="2057400"/>
          </a:xfrm>
          <a:prstGeom prst="roundRect">
            <a:avLst>
              <a:gd name="adj" fmla="val 6000"/>
            </a:avLst>
          </a:prstGeom>
          <a:solidFill>
            <a:srgbClr val="EAF6F3"/>
          </a:solidFill>
          <a:ln w="12700">
            <a:solidFill>
              <a:srgbClr val="BFE3DC"/>
            </a:solidFill>
          </a:ln>
        </p:spPr>
        <p:txBody>
          <a:bodyPr wrap="square" rtlCol="0" anchor="t"/>
          <a:lstStyle/>
          <a:p>
            <a:endParaRPr lang="en-US"/>
          </a:p>
        </p:txBody>
      </p:sp>
      <p:sp>
        <p:nvSpPr>
          <p:cNvPr id="19" name="Text 19"/>
          <p:cNvSpPr txBox="1"/>
          <p:nvPr/>
        </p:nvSpPr>
        <p:spPr>
          <a:xfrm>
            <a:off x="6446520" y="3657600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50" b="1" spc="100" dirty="0">
                <a:solidFill>
                  <a:srgbClr val="0B6F63"/>
                </a:solidFill>
                <a:latin typeface="IBM Plex Mono"/>
                <a:ea typeface="IBM Plex Mono"/>
                <a:cs typeface="IBM Plex Mono"/>
              </a:rPr>
              <a:t>WORKING DEFINITION · HUMAN-CENTERED AI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6446520" y="4023360"/>
            <a:ext cx="466344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1500" b="1" dirty="0">
                <a:solidFill>
                  <a:srgbClr val="14202B"/>
                </a:solidFill>
                <a:latin typeface="Sora"/>
                <a:ea typeface="Sora"/>
                <a:cs typeface="Sora"/>
              </a:rPr>
              <a:t>Effective work, while people stay in control, motivated and connected, and remain free to question, change or reject AI decisions.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6446520" y="5120640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0" i="1" dirty="0">
                <a:solidFill>
                  <a:srgbClr val="6B7C88"/>
                </a:solidFill>
                <a:latin typeface="Inter"/>
                <a:ea typeface="Inter"/>
                <a:cs typeface="Inter"/>
              </a:rPr>
              <a:t>Initiative draft, building on Shneiderman (2020) and Russo et al. (2024)</a:t>
            </a:r>
          </a:p>
        </p:txBody>
      </p:sp>
      <p:sp>
        <p:nvSpPr>
          <p:cNvPr id="22" name="Footer"/>
          <p:cNvSpPr txBox="1"/>
          <p:nvPr/>
        </p:nvSpPr>
        <p:spPr>
          <a:xfrm>
            <a:off x="822960" y="6419088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00" b="0" dirty="0">
                <a:solidFill>
                  <a:srgbClr val="5B6B77"/>
                </a:solidFill>
                <a:latin typeface="Inter"/>
                <a:ea typeface="Inter"/>
                <a:cs typeface="Inter"/>
              </a:rPr>
              <a:t>Reflexive AI Research Initiative · Lucid Institute for Organizational Science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rand bar 1"/>
          <p:cNvSpPr/>
          <p:nvPr/>
        </p:nvSpPr>
        <p:spPr>
          <a:xfrm>
            <a:off x="0" y="0"/>
            <a:ext cx="4063898" cy="146304"/>
          </a:xfrm>
          <a:prstGeom prst="rect">
            <a:avLst/>
          </a:prstGeom>
          <a:solidFill>
            <a:srgbClr val="0F9E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Brand bar 2"/>
          <p:cNvSpPr/>
          <p:nvPr/>
        </p:nvSpPr>
        <p:spPr>
          <a:xfrm>
            <a:off x="4063898" y="0"/>
            <a:ext cx="4063898" cy="146304"/>
          </a:xfrm>
          <a:prstGeom prst="rect">
            <a:avLst/>
          </a:prstGeom>
          <a:solidFill>
            <a:srgbClr val="2B3F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Brand bar 3"/>
          <p:cNvSpPr/>
          <p:nvPr/>
        </p:nvSpPr>
        <p:spPr>
          <a:xfrm>
            <a:off x="8127797" y="0"/>
            <a:ext cx="4063898" cy="146304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Eyebrow"/>
          <p:cNvSpPr txBox="1"/>
          <p:nvPr/>
        </p:nvSpPr>
        <p:spPr>
          <a:xfrm>
            <a:off x="822960" y="96012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200" b="1" spc="200" dirty="0">
                <a:solidFill>
                  <a:srgbClr val="0B6F63"/>
                </a:solidFill>
                <a:latin typeface="IBM Plex Mono"/>
                <a:ea typeface="IBM Plex Mono"/>
                <a:cs typeface="IBM Plex Mono"/>
              </a:rPr>
              <a:t>03 · OUR APPROACH</a:t>
            </a:r>
          </a:p>
        </p:txBody>
      </p:sp>
      <p:sp>
        <p:nvSpPr>
          <p:cNvPr id="12" name="Title"/>
          <p:cNvSpPr txBox="1"/>
          <p:nvPr/>
        </p:nvSpPr>
        <p:spPr>
          <a:xfrm>
            <a:off x="786384" y="1463040"/>
            <a:ext cx="10515600" cy="11887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3200" b="1" dirty="0">
                <a:solidFill>
                  <a:srgbClr val="14202B"/>
                </a:solidFill>
                <a:latin typeface="Sora"/>
                <a:ea typeface="Sora"/>
                <a:cs typeface="Sora"/>
              </a:rPr>
              <a:t>Researchers and professionals, working together</a:t>
            </a:r>
          </a:p>
        </p:txBody>
      </p:sp>
      <p:sp>
        <p:nvSpPr>
          <p:cNvPr id="13" name="Card"/>
          <p:cNvSpPr/>
          <p:nvPr/>
        </p:nvSpPr>
        <p:spPr>
          <a:xfrm>
            <a:off x="822960" y="2697480"/>
            <a:ext cx="512064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8E5"/>
            </a:solidFill>
          </a:ln>
        </p:spPr>
        <p:txBody>
          <a:bodyPr wrap="square" rtlCol="0" anchor="t"/>
          <a:lstStyle/>
          <a:p>
            <a:endParaRPr lang="en-US"/>
          </a:p>
        </p:txBody>
      </p:sp>
      <p:sp>
        <p:nvSpPr>
          <p:cNvPr id="14" name="Text 14"/>
          <p:cNvSpPr txBox="1"/>
          <p:nvPr/>
        </p:nvSpPr>
        <p:spPr>
          <a:xfrm>
            <a:off x="1097280" y="2852928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50" b="1" spc="150" dirty="0">
                <a:solidFill>
                  <a:srgbClr val="0B6F63"/>
                </a:solidFill>
                <a:latin typeface="IBM Plex Mono"/>
                <a:ea typeface="IBM Plex Mono"/>
                <a:cs typeface="IBM Plex Mono"/>
              </a:rPr>
              <a:t>ACTION RESEARCH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1097280" y="3200400"/>
            <a:ext cx="45720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1350" b="0" dirty="0">
                <a:solidFill>
                  <a:srgbClr val="33424D"/>
                </a:solidFill>
                <a:latin typeface="Inter"/>
                <a:ea typeface="Inter"/>
                <a:cs typeface="Inter"/>
              </a:rPr>
              <a:t>Research with organizations, not about them. Academics and practitioners work in iterative cycles inside real workplaces.</a:t>
            </a:r>
          </a:p>
        </p:txBody>
      </p:sp>
      <p:sp>
        <p:nvSpPr>
          <p:cNvPr id="16" name="Card"/>
          <p:cNvSpPr/>
          <p:nvPr/>
        </p:nvSpPr>
        <p:spPr>
          <a:xfrm>
            <a:off x="6217920" y="2697480"/>
            <a:ext cx="512064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8E5"/>
            </a:solidFill>
          </a:ln>
        </p:spPr>
        <p:txBody>
          <a:bodyPr wrap="square" rtlCol="0" anchor="t"/>
          <a:lstStyle/>
          <a:p>
            <a:endParaRPr lang="en-US"/>
          </a:p>
        </p:txBody>
      </p:sp>
      <p:sp>
        <p:nvSpPr>
          <p:cNvPr id="17" name="Text 17"/>
          <p:cNvSpPr txBox="1"/>
          <p:nvPr/>
        </p:nvSpPr>
        <p:spPr>
          <a:xfrm>
            <a:off x="6492240" y="2852928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50" b="1" spc="150" dirty="0">
                <a:solidFill>
                  <a:srgbClr val="0B6F63"/>
                </a:solidFill>
                <a:latin typeface="IBM Plex Mono"/>
                <a:ea typeface="IBM Plex Mono"/>
                <a:cs typeface="IBM Plex Mono"/>
              </a:rPr>
              <a:t>DESIGN SCIENCE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6492240" y="3200400"/>
            <a:ext cx="45720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1350" b="0" dirty="0">
                <a:solidFill>
                  <a:srgbClr val="33424D"/>
                </a:solidFill>
                <a:latin typeface="Inter"/>
                <a:ea typeface="Inter"/>
                <a:cs typeface="Inter"/>
              </a:rPr>
              <a:t>We design a practical artifact, a governance framework for human-centered AI, and evaluate and improve it in practice.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822960" y="4389120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50" b="1" spc="200" dirty="0">
                <a:solidFill>
                  <a:srgbClr val="0B6F63"/>
                </a:solidFill>
                <a:latin typeface="IBM Plex Mono"/>
                <a:ea typeface="IBM Plex Mono"/>
                <a:cs typeface="IBM Plex Mono"/>
              </a:rPr>
              <a:t>// ONE SHARED, REPEATING CYCLE</a:t>
            </a:r>
          </a:p>
        </p:txBody>
      </p:sp>
      <p:sp>
        <p:nvSpPr>
          <p:cNvPr id="20" name="Number 1"/>
          <p:cNvSpPr/>
          <p:nvPr/>
        </p:nvSpPr>
        <p:spPr>
          <a:xfrm>
            <a:off x="822960" y="4846320"/>
            <a:ext cx="402336" cy="402336"/>
          </a:xfrm>
          <a:prstGeom prst="ellipse">
            <a:avLst/>
          </a:prstGeom>
          <a:solidFill>
            <a:srgbClr val="EAF6F3"/>
          </a:solidFill>
          <a:ln w="12700">
            <a:solidFill>
              <a:srgbClr val="BFE3D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300" b="1" dirty="0">
                <a:solidFill>
                  <a:srgbClr val="0B6F63"/>
                </a:solidFill>
                <a:latin typeface="IBM Plex Mono"/>
                <a:ea typeface="IBM Plex Mono"/>
                <a:cs typeface="IBM Plex Mono"/>
              </a:rPr>
              <a:t>1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1353312" y="4800600"/>
            <a:ext cx="19431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350" b="1" dirty="0">
                <a:solidFill>
                  <a:srgbClr val="14202B"/>
                </a:solidFill>
                <a:latin typeface="Inter"/>
                <a:ea typeface="Inter"/>
                <a:cs typeface="Inter"/>
              </a:rPr>
              <a:t>Collect &amp; share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1353312" y="5138928"/>
            <a:ext cx="19431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1150" b="0" dirty="0">
                <a:solidFill>
                  <a:srgbClr val="33424D"/>
                </a:solidFill>
                <a:latin typeface="Inter"/>
                <a:ea typeface="Inter"/>
                <a:cs typeface="Inter"/>
              </a:rPr>
              <a:t>World Cafes and work groups generate insights</a:t>
            </a:r>
          </a:p>
        </p:txBody>
      </p:sp>
      <p:sp>
        <p:nvSpPr>
          <p:cNvPr id="23" name="Number 2"/>
          <p:cNvSpPr/>
          <p:nvPr/>
        </p:nvSpPr>
        <p:spPr>
          <a:xfrm>
            <a:off x="3451860" y="4846320"/>
            <a:ext cx="402336" cy="402336"/>
          </a:xfrm>
          <a:prstGeom prst="ellipse">
            <a:avLst/>
          </a:prstGeom>
          <a:solidFill>
            <a:srgbClr val="EAF6F3"/>
          </a:solidFill>
          <a:ln w="12700">
            <a:solidFill>
              <a:srgbClr val="BFE3D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300" b="1" dirty="0">
                <a:solidFill>
                  <a:srgbClr val="0B6F63"/>
                </a:solidFill>
                <a:latin typeface="IBM Plex Mono"/>
                <a:ea typeface="IBM Plex Mono"/>
                <a:cs typeface="IBM Plex Mono"/>
              </a:rPr>
              <a:t>2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3982212" y="4800600"/>
            <a:ext cx="19431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350" b="1" dirty="0">
                <a:solidFill>
                  <a:srgbClr val="14202B"/>
                </a:solidFill>
                <a:latin typeface="Inter"/>
                <a:ea typeface="Inter"/>
                <a:cs typeface="Inter"/>
              </a:rPr>
              <a:t>Analyze together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3982212" y="5138928"/>
            <a:ext cx="19431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1150" b="0" dirty="0">
                <a:solidFill>
                  <a:srgbClr val="33424D"/>
                </a:solidFill>
                <a:latin typeface="Inter"/>
                <a:ea typeface="Inter"/>
                <a:cs typeface="Inter"/>
              </a:rPr>
              <a:t>Researchers and practitioners interpret together</a:t>
            </a:r>
          </a:p>
        </p:txBody>
      </p:sp>
      <p:sp>
        <p:nvSpPr>
          <p:cNvPr id="26" name="Number 3"/>
          <p:cNvSpPr/>
          <p:nvPr/>
        </p:nvSpPr>
        <p:spPr>
          <a:xfrm>
            <a:off x="6080760" y="4846320"/>
            <a:ext cx="402336" cy="402336"/>
          </a:xfrm>
          <a:prstGeom prst="ellipse">
            <a:avLst/>
          </a:prstGeom>
          <a:solidFill>
            <a:srgbClr val="EAF6F3"/>
          </a:solidFill>
          <a:ln w="12700">
            <a:solidFill>
              <a:srgbClr val="BFE3D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300" b="1" dirty="0">
                <a:solidFill>
                  <a:srgbClr val="0B6F63"/>
                </a:solidFill>
                <a:latin typeface="IBM Plex Mono"/>
                <a:ea typeface="IBM Plex Mono"/>
                <a:cs typeface="IBM Plex Mono"/>
              </a:rPr>
              <a:t>3</a:t>
            </a:r>
          </a:p>
        </p:txBody>
      </p:sp>
      <p:sp>
        <p:nvSpPr>
          <p:cNvPr id="27" name="Text 27"/>
          <p:cNvSpPr txBox="1"/>
          <p:nvPr/>
        </p:nvSpPr>
        <p:spPr>
          <a:xfrm>
            <a:off x="6611112" y="4800600"/>
            <a:ext cx="19431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350" b="1" dirty="0">
                <a:solidFill>
                  <a:srgbClr val="14202B"/>
                </a:solidFill>
                <a:latin typeface="Inter"/>
                <a:ea typeface="Inter"/>
                <a:cs typeface="Inter"/>
              </a:rPr>
              <a:t>Improve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6611112" y="5138928"/>
            <a:ext cx="19431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1150" b="0" dirty="0">
                <a:solidFill>
                  <a:srgbClr val="33424D"/>
                </a:solidFill>
                <a:latin typeface="Inter"/>
                <a:ea typeface="Inter"/>
                <a:cs typeface="Inter"/>
              </a:rPr>
              <a:t>One shared, evolving framework</a:t>
            </a:r>
          </a:p>
        </p:txBody>
      </p:sp>
      <p:sp>
        <p:nvSpPr>
          <p:cNvPr id="29" name="Number 4"/>
          <p:cNvSpPr/>
          <p:nvPr/>
        </p:nvSpPr>
        <p:spPr>
          <a:xfrm>
            <a:off x="8709660" y="4846320"/>
            <a:ext cx="402336" cy="402336"/>
          </a:xfrm>
          <a:prstGeom prst="ellipse">
            <a:avLst/>
          </a:prstGeom>
          <a:solidFill>
            <a:srgbClr val="0F9E8E"/>
          </a:solidFill>
          <a:ln w="12700">
            <a:solidFill>
              <a:srgbClr val="0F9E8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IBM Plex Mono"/>
                <a:ea typeface="IBM Plex Mono"/>
                <a:cs typeface="IBM Plex Mono"/>
              </a:rPr>
              <a:t>4</a:t>
            </a:r>
          </a:p>
        </p:txBody>
      </p:sp>
      <p:sp>
        <p:nvSpPr>
          <p:cNvPr id="30" name="Text 30"/>
          <p:cNvSpPr txBox="1"/>
          <p:nvPr/>
        </p:nvSpPr>
        <p:spPr>
          <a:xfrm>
            <a:off x="9240012" y="4800600"/>
            <a:ext cx="19431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350" b="1" dirty="0">
                <a:solidFill>
                  <a:srgbClr val="14202B"/>
                </a:solidFill>
                <a:latin typeface="Inter"/>
                <a:ea typeface="Inter"/>
                <a:cs typeface="Inter"/>
              </a:rPr>
              <a:t>Test in practice</a:t>
            </a:r>
          </a:p>
        </p:txBody>
      </p:sp>
      <p:sp>
        <p:nvSpPr>
          <p:cNvPr id="31" name="Text 31"/>
          <p:cNvSpPr txBox="1"/>
          <p:nvPr/>
        </p:nvSpPr>
        <p:spPr>
          <a:xfrm>
            <a:off x="9240012" y="5138928"/>
            <a:ext cx="19431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1150" b="0" dirty="0">
                <a:solidFill>
                  <a:srgbClr val="33424D"/>
                </a:solidFill>
                <a:latin typeface="Inter"/>
                <a:ea typeface="Inter"/>
                <a:cs typeface="Inter"/>
              </a:rPr>
              <a:t>Back in your own organization</a:t>
            </a:r>
          </a:p>
        </p:txBody>
      </p:sp>
      <p:sp>
        <p:nvSpPr>
          <p:cNvPr id="32" name="Footer"/>
          <p:cNvSpPr txBox="1"/>
          <p:nvPr/>
        </p:nvSpPr>
        <p:spPr>
          <a:xfrm>
            <a:off x="822960" y="6419088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00" b="0" dirty="0">
                <a:solidFill>
                  <a:srgbClr val="5B6B77"/>
                </a:solidFill>
                <a:latin typeface="Inter"/>
                <a:ea typeface="Inter"/>
                <a:cs typeface="Inter"/>
              </a:rPr>
              <a:t>Reflexive AI Research Initiative · Lucid Institute for Organizational Science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rand bar 1"/>
          <p:cNvSpPr/>
          <p:nvPr/>
        </p:nvSpPr>
        <p:spPr>
          <a:xfrm>
            <a:off x="0" y="0"/>
            <a:ext cx="4063898" cy="146304"/>
          </a:xfrm>
          <a:prstGeom prst="rect">
            <a:avLst/>
          </a:prstGeom>
          <a:solidFill>
            <a:srgbClr val="0F9E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Brand bar 2"/>
          <p:cNvSpPr/>
          <p:nvPr/>
        </p:nvSpPr>
        <p:spPr>
          <a:xfrm>
            <a:off x="4063898" y="0"/>
            <a:ext cx="4063898" cy="146304"/>
          </a:xfrm>
          <a:prstGeom prst="rect">
            <a:avLst/>
          </a:prstGeom>
          <a:solidFill>
            <a:srgbClr val="2B3F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Brand bar 3"/>
          <p:cNvSpPr/>
          <p:nvPr/>
        </p:nvSpPr>
        <p:spPr>
          <a:xfrm>
            <a:off x="8127797" y="0"/>
            <a:ext cx="4063898" cy="146304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Eyebrow"/>
          <p:cNvSpPr txBox="1"/>
          <p:nvPr/>
        </p:nvSpPr>
        <p:spPr>
          <a:xfrm>
            <a:off x="822960" y="96012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200" b="1" spc="200" dirty="0">
                <a:solidFill>
                  <a:srgbClr val="0B6F63"/>
                </a:solidFill>
                <a:latin typeface="IBM Plex Mono"/>
                <a:ea typeface="IBM Plex Mono"/>
                <a:cs typeface="IBM Plex Mono"/>
              </a:rPr>
              <a:t>03 · HOW WE ARE ORGANIZED</a:t>
            </a:r>
          </a:p>
        </p:txBody>
      </p:sp>
      <p:sp>
        <p:nvSpPr>
          <p:cNvPr id="12" name="Title"/>
          <p:cNvSpPr txBox="1"/>
          <p:nvPr/>
        </p:nvSpPr>
        <p:spPr>
          <a:xfrm>
            <a:off x="786384" y="1463040"/>
            <a:ext cx="10515600" cy="11887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3200" b="1" dirty="0">
                <a:solidFill>
                  <a:srgbClr val="14202B"/>
                </a:solidFill>
                <a:latin typeface="Sora"/>
                <a:ea typeface="Sora"/>
                <a:cs typeface="Sora"/>
              </a:rPr>
              <a:t>Non-profit, open source and volunteer-run</a:t>
            </a:r>
          </a:p>
        </p:txBody>
      </p:sp>
      <p:sp>
        <p:nvSpPr>
          <p:cNvPr id="13" name="Card"/>
          <p:cNvSpPr/>
          <p:nvPr/>
        </p:nvSpPr>
        <p:spPr>
          <a:xfrm>
            <a:off x="822960" y="2697480"/>
            <a:ext cx="32918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8E5"/>
            </a:solidFill>
          </a:ln>
        </p:spPr>
        <p:txBody>
          <a:bodyPr wrap="square" rtlCol="0" anchor="t"/>
          <a:lstStyle/>
          <a:p>
            <a:endParaRPr lang="en-US"/>
          </a:p>
        </p:txBody>
      </p:sp>
      <p:sp>
        <p:nvSpPr>
          <p:cNvPr id="14" name="Icon circle"/>
          <p:cNvSpPr/>
          <p:nvPr/>
        </p:nvSpPr>
        <p:spPr>
          <a:xfrm>
            <a:off x="1097280" y="2926080"/>
            <a:ext cx="512064" cy="512064"/>
          </a:xfrm>
          <a:prstGeom prst="ellipse">
            <a:avLst/>
          </a:prstGeom>
          <a:solidFill>
            <a:srgbClr val="EAF6F3"/>
          </a:solidFill>
          <a:ln w="12700">
            <a:solidFill>
              <a:srgbClr val="BFE3DC"/>
            </a:solidFill>
          </a:ln>
        </p:spPr>
        <p:txBody>
          <a:bodyPr wrap="square" rtlCol="0" anchor="t"/>
          <a:lstStyle/>
          <a:p>
            <a:endParaRPr lang="en-US"/>
          </a:p>
        </p:txBody>
      </p:sp>
      <p:pic>
        <p:nvPicPr>
          <p:cNvPr id="15" name="Icon 15" descr="Non-Profit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6152" y="3044952"/>
            <a:ext cx="274320" cy="274320"/>
          </a:xfrm>
          <a:prstGeom prst="rect">
            <a:avLst/>
          </a:prstGeom>
        </p:spPr>
      </p:pic>
      <p:sp>
        <p:nvSpPr>
          <p:cNvPr id="16" name="Text 16"/>
          <p:cNvSpPr txBox="1"/>
          <p:nvPr/>
        </p:nvSpPr>
        <p:spPr>
          <a:xfrm>
            <a:off x="1737360" y="2926080"/>
            <a:ext cx="2194560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100" b="1" spc="150" dirty="0">
                <a:solidFill>
                  <a:srgbClr val="0B6F63"/>
                </a:solidFill>
                <a:latin typeface="IBM Plex Mono"/>
                <a:ea typeface="IBM Plex Mono"/>
                <a:cs typeface="IBM Plex Mono"/>
              </a:rPr>
              <a:t>NON-PROFIT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1097280" y="3611880"/>
            <a:ext cx="274320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1250" b="0" dirty="0">
                <a:solidFill>
                  <a:srgbClr val="33424D"/>
                </a:solidFill>
                <a:latin typeface="Inter"/>
                <a:ea typeface="Inter"/>
                <a:cs typeface="Inter"/>
              </a:rPr>
              <a:t>Coordinated by the Lucid Institute for Organizational Science, a non-profit foundation. Sponsors cover operational costs.</a:t>
            </a:r>
          </a:p>
        </p:txBody>
      </p:sp>
      <p:sp>
        <p:nvSpPr>
          <p:cNvPr id="18" name="Card"/>
          <p:cNvSpPr/>
          <p:nvPr/>
        </p:nvSpPr>
        <p:spPr>
          <a:xfrm>
            <a:off x="4434840" y="2697480"/>
            <a:ext cx="32918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8E5"/>
            </a:solidFill>
          </a:ln>
        </p:spPr>
        <p:txBody>
          <a:bodyPr wrap="square" rtlCol="0" anchor="t"/>
          <a:lstStyle/>
          <a:p>
            <a:endParaRPr lang="en-US"/>
          </a:p>
        </p:txBody>
      </p:sp>
      <p:sp>
        <p:nvSpPr>
          <p:cNvPr id="19" name="Icon circle"/>
          <p:cNvSpPr/>
          <p:nvPr/>
        </p:nvSpPr>
        <p:spPr>
          <a:xfrm>
            <a:off x="4709160" y="2926080"/>
            <a:ext cx="512064" cy="512064"/>
          </a:xfrm>
          <a:prstGeom prst="ellipse">
            <a:avLst/>
          </a:prstGeom>
          <a:solidFill>
            <a:srgbClr val="EAF6F3"/>
          </a:solidFill>
          <a:ln w="12700">
            <a:solidFill>
              <a:srgbClr val="BFE3DC"/>
            </a:solidFill>
          </a:ln>
        </p:spPr>
        <p:txBody>
          <a:bodyPr wrap="square" rtlCol="0" anchor="t"/>
          <a:lstStyle/>
          <a:p>
            <a:endParaRPr lang="en-US"/>
          </a:p>
        </p:txBody>
      </p:sp>
      <p:pic>
        <p:nvPicPr>
          <p:cNvPr id="20" name="Icon 20" descr="Open Source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3044952"/>
            <a:ext cx="274320" cy="274320"/>
          </a:xfrm>
          <a:prstGeom prst="rect">
            <a:avLst/>
          </a:prstGeom>
        </p:spPr>
      </p:pic>
      <p:sp>
        <p:nvSpPr>
          <p:cNvPr id="21" name="Text 21"/>
          <p:cNvSpPr txBox="1"/>
          <p:nvPr/>
        </p:nvSpPr>
        <p:spPr>
          <a:xfrm>
            <a:off x="5349240" y="2926080"/>
            <a:ext cx="2194560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100" b="1" spc="150" dirty="0">
                <a:solidFill>
                  <a:srgbClr val="0B6F63"/>
                </a:solidFill>
                <a:latin typeface="IBM Plex Mono"/>
                <a:ea typeface="IBM Plex Mono"/>
                <a:cs typeface="IBM Plex Mono"/>
              </a:rPr>
              <a:t>OPEN SOURCE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4709160" y="3611880"/>
            <a:ext cx="274320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1250" b="0" dirty="0">
                <a:solidFill>
                  <a:srgbClr val="33424D"/>
                </a:solidFill>
                <a:latin typeface="Inter"/>
                <a:ea typeface="Inter"/>
                <a:cs typeface="Inter"/>
              </a:rPr>
              <a:t>The framework and publications are free to use under a Creative Commons license. Working documents are on GitHub.</a:t>
            </a:r>
          </a:p>
        </p:txBody>
      </p:sp>
      <p:sp>
        <p:nvSpPr>
          <p:cNvPr id="23" name="Card"/>
          <p:cNvSpPr/>
          <p:nvPr/>
        </p:nvSpPr>
        <p:spPr>
          <a:xfrm>
            <a:off x="8046720" y="2697480"/>
            <a:ext cx="32918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8E5"/>
            </a:solidFill>
          </a:ln>
        </p:spPr>
        <p:txBody>
          <a:bodyPr wrap="square" rtlCol="0" anchor="t"/>
          <a:lstStyle/>
          <a:p>
            <a:endParaRPr lang="en-US"/>
          </a:p>
        </p:txBody>
      </p:sp>
      <p:sp>
        <p:nvSpPr>
          <p:cNvPr id="24" name="Icon circle"/>
          <p:cNvSpPr/>
          <p:nvPr/>
        </p:nvSpPr>
        <p:spPr>
          <a:xfrm>
            <a:off x="8321040" y="2926080"/>
            <a:ext cx="512064" cy="512064"/>
          </a:xfrm>
          <a:prstGeom prst="ellipse">
            <a:avLst/>
          </a:prstGeom>
          <a:solidFill>
            <a:srgbClr val="EAF6F3"/>
          </a:solidFill>
          <a:ln w="12700">
            <a:solidFill>
              <a:srgbClr val="BFE3DC"/>
            </a:solidFill>
          </a:ln>
        </p:spPr>
        <p:txBody>
          <a:bodyPr wrap="square" rtlCol="0" anchor="t"/>
          <a:lstStyle/>
          <a:p>
            <a:endParaRPr lang="en-US"/>
          </a:p>
        </p:txBody>
      </p:sp>
      <p:pic>
        <p:nvPicPr>
          <p:cNvPr id="25" name="Icon 25" descr="Volunteer-Run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9912" y="3044952"/>
            <a:ext cx="274320" cy="274320"/>
          </a:xfrm>
          <a:prstGeom prst="rect">
            <a:avLst/>
          </a:prstGeom>
        </p:spPr>
      </p:pic>
      <p:sp>
        <p:nvSpPr>
          <p:cNvPr id="26" name="Text 26"/>
          <p:cNvSpPr txBox="1"/>
          <p:nvPr/>
        </p:nvSpPr>
        <p:spPr>
          <a:xfrm>
            <a:off x="8961120" y="2926080"/>
            <a:ext cx="2194560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100" b="1" spc="150" dirty="0">
                <a:solidFill>
                  <a:srgbClr val="0B6F63"/>
                </a:solidFill>
                <a:latin typeface="IBM Plex Mono"/>
                <a:ea typeface="IBM Plex Mono"/>
                <a:cs typeface="IBM Plex Mono"/>
              </a:rPr>
              <a:t>VOLUNTEER-RUN</a:t>
            </a:r>
          </a:p>
        </p:txBody>
      </p:sp>
      <p:sp>
        <p:nvSpPr>
          <p:cNvPr id="27" name="Text 27"/>
          <p:cNvSpPr txBox="1"/>
          <p:nvPr/>
        </p:nvSpPr>
        <p:spPr>
          <a:xfrm>
            <a:off x="8321040" y="3611880"/>
            <a:ext cx="274320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1250" b="0" dirty="0">
                <a:solidFill>
                  <a:srgbClr val="33424D"/>
                </a:solidFill>
                <a:latin typeface="Inter"/>
                <a:ea typeface="Inter"/>
                <a:cs typeface="Inter"/>
              </a:rPr>
              <a:t>Nobody is paid directly for their contribution, from core team to participants. We do this because it matters.</a:t>
            </a:r>
          </a:p>
        </p:txBody>
      </p:sp>
      <p:sp>
        <p:nvSpPr>
          <p:cNvPr id="28" name="Label"/>
          <p:cNvSpPr txBox="1"/>
          <p:nvPr/>
        </p:nvSpPr>
        <p:spPr>
          <a:xfrm>
            <a:off x="822960" y="4937760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50" b="1" spc="200" dirty="0">
                <a:solidFill>
                  <a:srgbClr val="0B6F63"/>
                </a:solidFill>
                <a:latin typeface="IBM Plex Mono"/>
                <a:ea typeface="IBM Plex Mono"/>
                <a:cs typeface="IBM Plex Mono"/>
              </a:rPr>
              <a:t>// SO FAR</a:t>
            </a:r>
          </a:p>
        </p:txBody>
      </p:sp>
      <p:sp>
        <p:nvSpPr>
          <p:cNvPr id="29" name="Text 29"/>
          <p:cNvSpPr txBox="1"/>
          <p:nvPr/>
        </p:nvSpPr>
        <p:spPr>
          <a:xfrm>
            <a:off x="822960" y="5257800"/>
            <a:ext cx="9144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3600" b="1" dirty="0">
                <a:solidFill>
                  <a:srgbClr val="0B6F63"/>
                </a:solidFill>
                <a:latin typeface="Sora"/>
                <a:ea typeface="Sora"/>
                <a:cs typeface="Sora"/>
              </a:rPr>
              <a:t>3</a:t>
            </a:r>
          </a:p>
        </p:txBody>
      </p:sp>
      <p:sp>
        <p:nvSpPr>
          <p:cNvPr id="30" name="Text 30"/>
          <p:cNvSpPr txBox="1"/>
          <p:nvPr/>
        </p:nvSpPr>
        <p:spPr>
          <a:xfrm>
            <a:off x="1737360" y="5257800"/>
            <a:ext cx="237744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400" b="0" dirty="0">
                <a:solidFill>
                  <a:srgbClr val="33424D"/>
                </a:solidFill>
                <a:latin typeface="Inter"/>
                <a:ea typeface="Inter"/>
                <a:cs typeface="Inter"/>
              </a:rPr>
              <a:t>research institutes</a:t>
            </a:r>
          </a:p>
        </p:txBody>
      </p:sp>
      <p:sp>
        <p:nvSpPr>
          <p:cNvPr id="31" name="Text 31"/>
          <p:cNvSpPr txBox="1"/>
          <p:nvPr/>
        </p:nvSpPr>
        <p:spPr>
          <a:xfrm>
            <a:off x="4434840" y="5257800"/>
            <a:ext cx="9144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3600" b="1" dirty="0">
                <a:solidFill>
                  <a:srgbClr val="0B6F63"/>
                </a:solidFill>
                <a:latin typeface="Sora"/>
                <a:ea typeface="Sora"/>
                <a:cs typeface="Sora"/>
              </a:rPr>
              <a:t>15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5349240" y="5257800"/>
            <a:ext cx="237744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400" b="0" dirty="0">
                <a:solidFill>
                  <a:srgbClr val="33424D"/>
                </a:solidFill>
                <a:latin typeface="Inter"/>
                <a:ea typeface="Inter"/>
                <a:cs typeface="Inter"/>
              </a:rPr>
              <a:t>organizations</a:t>
            </a:r>
          </a:p>
        </p:txBody>
      </p:sp>
      <p:sp>
        <p:nvSpPr>
          <p:cNvPr id="33" name="Text 33"/>
          <p:cNvSpPr txBox="1"/>
          <p:nvPr/>
        </p:nvSpPr>
        <p:spPr>
          <a:xfrm>
            <a:off x="8046720" y="5257800"/>
            <a:ext cx="9144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3600" b="1" dirty="0">
                <a:solidFill>
                  <a:srgbClr val="0B6F63"/>
                </a:solidFill>
                <a:latin typeface="Sora"/>
                <a:ea typeface="Sora"/>
                <a:cs typeface="Sora"/>
              </a:rPr>
              <a:t>67</a:t>
            </a:r>
          </a:p>
        </p:txBody>
      </p:sp>
      <p:sp>
        <p:nvSpPr>
          <p:cNvPr id="34" name="Text 34"/>
          <p:cNvSpPr txBox="1"/>
          <p:nvPr/>
        </p:nvSpPr>
        <p:spPr>
          <a:xfrm>
            <a:off x="8961120" y="5257800"/>
            <a:ext cx="237744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400" b="0" dirty="0">
                <a:solidFill>
                  <a:srgbClr val="33424D"/>
                </a:solidFill>
                <a:latin typeface="Inter"/>
                <a:ea typeface="Inter"/>
                <a:cs typeface="Inter"/>
              </a:rPr>
              <a:t>professionals &amp; researchers</a:t>
            </a:r>
          </a:p>
        </p:txBody>
      </p:sp>
      <p:sp>
        <p:nvSpPr>
          <p:cNvPr id="35" name="Footer"/>
          <p:cNvSpPr txBox="1"/>
          <p:nvPr/>
        </p:nvSpPr>
        <p:spPr>
          <a:xfrm>
            <a:off x="822960" y="6419088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00" b="0" dirty="0">
                <a:solidFill>
                  <a:srgbClr val="5B6B77"/>
                </a:solidFill>
                <a:latin typeface="Inter"/>
                <a:ea typeface="Inter"/>
                <a:cs typeface="Inter"/>
              </a:rPr>
              <a:t>Reflexive AI Research Initiative · Lucid Institute for Organizational Science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44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Decorative backgrou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Brand bar 1"/>
          <p:cNvSpPr/>
          <p:nvPr/>
        </p:nvSpPr>
        <p:spPr>
          <a:xfrm>
            <a:off x="0" y="0"/>
            <a:ext cx="4063898" cy="146304"/>
          </a:xfrm>
          <a:prstGeom prst="rect">
            <a:avLst/>
          </a:prstGeom>
          <a:solidFill>
            <a:srgbClr val="0F9E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Brand bar 2"/>
          <p:cNvSpPr/>
          <p:nvPr/>
        </p:nvSpPr>
        <p:spPr>
          <a:xfrm>
            <a:off x="4063898" y="0"/>
            <a:ext cx="4063898" cy="146304"/>
          </a:xfrm>
          <a:prstGeom prst="rect">
            <a:avLst/>
          </a:prstGeom>
          <a:solidFill>
            <a:srgbClr val="2B3F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Brand bar 3"/>
          <p:cNvSpPr/>
          <p:nvPr/>
        </p:nvSpPr>
        <p:spPr>
          <a:xfrm>
            <a:off x="8127797" y="0"/>
            <a:ext cx="4063898" cy="146304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Eyebrow"/>
          <p:cNvSpPr txBox="1"/>
          <p:nvPr/>
        </p:nvSpPr>
        <p:spPr>
          <a:xfrm>
            <a:off x="822960" y="105156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300" b="1" spc="300" dirty="0">
                <a:solidFill>
                  <a:srgbClr val="5EE6D6"/>
                </a:solidFill>
                <a:latin typeface="IBM Plex Mono"/>
                <a:ea typeface="IBM Plex Mono"/>
                <a:cs typeface="IBM Plex Mono"/>
              </a:rPr>
              <a:t>04 · BREAKOUT · 5 MINUTES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786384" y="1554480"/>
            <a:ext cx="10515600" cy="21945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Sora"/>
                <a:ea typeface="Sora"/>
                <a:cs typeface="Sora"/>
              </a:rPr>
              <a:t>What procedures, rules or processes should be implemented to ensure human-centered AI in your organization?</a:t>
            </a:r>
          </a:p>
        </p:txBody>
      </p:sp>
      <p:sp>
        <p:nvSpPr>
          <p:cNvPr id="13" name="Number 1"/>
          <p:cNvSpPr/>
          <p:nvPr/>
        </p:nvSpPr>
        <p:spPr>
          <a:xfrm>
            <a:off x="822960" y="4379976"/>
            <a:ext cx="402336" cy="402336"/>
          </a:xfrm>
          <a:prstGeom prst="ellipse">
            <a:avLst/>
          </a:prstGeom>
          <a:noFill/>
          <a:ln w="12700">
            <a:solidFill>
              <a:srgbClr val="5EE6D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300" b="1" dirty="0">
                <a:solidFill>
                  <a:srgbClr val="5EE6D6"/>
                </a:solidFill>
                <a:latin typeface="IBM Plex Mono"/>
                <a:ea typeface="IBM Plex Mono"/>
                <a:cs typeface="IBM Plex Mono"/>
              </a:rPr>
              <a:t>1</a:t>
            </a:r>
          </a:p>
        </p:txBody>
      </p:sp>
      <p:sp>
        <p:nvSpPr>
          <p:cNvPr id="14" name="Item"/>
          <p:cNvSpPr txBox="1"/>
          <p:nvPr/>
        </p:nvSpPr>
        <p:spPr>
          <a:xfrm>
            <a:off x="1353312" y="4343400"/>
            <a:ext cx="283464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1500" b="1" dirty="0">
                <a:solidFill>
                  <a:srgbClr val="5EE6D6"/>
                </a:solidFill>
                <a:latin typeface="Inter"/>
                <a:ea typeface="Inter"/>
                <a:cs typeface="Inter"/>
              </a:rPr>
              <a:t>Small groups </a:t>
            </a:r>
            <a:r>
              <a:rPr lang="en-US" sz="1500" b="0" dirty="0">
                <a:solidFill>
                  <a:srgbClr val="FFFFFF"/>
                </a:solidFill>
                <a:latin typeface="Inter"/>
                <a:ea typeface="Inter"/>
                <a:cs typeface="Inter"/>
              </a:rPr>
              <a:t>of 3 to 4 people</a:t>
            </a:r>
          </a:p>
        </p:txBody>
      </p:sp>
      <p:sp>
        <p:nvSpPr>
          <p:cNvPr id="15" name="Number 2"/>
          <p:cNvSpPr/>
          <p:nvPr/>
        </p:nvSpPr>
        <p:spPr>
          <a:xfrm>
            <a:off x="4343400" y="4379976"/>
            <a:ext cx="402336" cy="402336"/>
          </a:xfrm>
          <a:prstGeom prst="ellipse">
            <a:avLst/>
          </a:prstGeom>
          <a:noFill/>
          <a:ln w="12700">
            <a:solidFill>
              <a:srgbClr val="5EE6D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300" b="1" dirty="0">
                <a:solidFill>
                  <a:srgbClr val="5EE6D6"/>
                </a:solidFill>
                <a:latin typeface="IBM Plex Mono"/>
                <a:ea typeface="IBM Plex Mono"/>
                <a:cs typeface="IBM Plex Mono"/>
              </a:rPr>
              <a:t>2</a:t>
            </a:r>
          </a:p>
        </p:txBody>
      </p:sp>
      <p:sp>
        <p:nvSpPr>
          <p:cNvPr id="16" name="Item"/>
          <p:cNvSpPr txBox="1"/>
          <p:nvPr/>
        </p:nvSpPr>
        <p:spPr>
          <a:xfrm>
            <a:off x="4873752" y="4343400"/>
            <a:ext cx="283464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1500" b="1" dirty="0">
                <a:solidFill>
                  <a:srgbClr val="5EE6D6"/>
                </a:solidFill>
                <a:latin typeface="Inter"/>
                <a:ea typeface="Inter"/>
                <a:cs typeface="Inter"/>
              </a:rPr>
              <a:t>Be concrete: </a:t>
            </a:r>
            <a:r>
              <a:rPr lang="en-US" sz="1500" b="0" dirty="0">
                <a:solidFill>
                  <a:srgbClr val="FFFFFF"/>
                </a:solidFill>
                <a:latin typeface="Inter"/>
                <a:ea typeface="Inter"/>
                <a:cs typeface="Inter"/>
              </a:rPr>
              <a:t>what would you actually put in place?</a:t>
            </a:r>
          </a:p>
        </p:txBody>
      </p:sp>
      <p:sp>
        <p:nvSpPr>
          <p:cNvPr id="17" name="Number 3"/>
          <p:cNvSpPr/>
          <p:nvPr/>
        </p:nvSpPr>
        <p:spPr>
          <a:xfrm>
            <a:off x="7863840" y="4379976"/>
            <a:ext cx="402336" cy="402336"/>
          </a:xfrm>
          <a:prstGeom prst="ellipse">
            <a:avLst/>
          </a:prstGeom>
          <a:noFill/>
          <a:ln w="12700">
            <a:solidFill>
              <a:srgbClr val="5EE6D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300" b="1" dirty="0">
                <a:solidFill>
                  <a:srgbClr val="5EE6D6"/>
                </a:solidFill>
                <a:latin typeface="IBM Plex Mono"/>
                <a:ea typeface="IBM Plex Mono"/>
                <a:cs typeface="IBM Plex Mono"/>
              </a:rPr>
              <a:t>3</a:t>
            </a:r>
          </a:p>
        </p:txBody>
      </p:sp>
      <p:sp>
        <p:nvSpPr>
          <p:cNvPr id="18" name="Item"/>
          <p:cNvSpPr txBox="1"/>
          <p:nvPr/>
        </p:nvSpPr>
        <p:spPr>
          <a:xfrm>
            <a:off x="8394192" y="4343400"/>
            <a:ext cx="283464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1500" b="1" dirty="0">
                <a:solidFill>
                  <a:srgbClr val="5EE6D6"/>
                </a:solidFill>
                <a:latin typeface="Inter"/>
                <a:ea typeface="Inter"/>
                <a:cs typeface="Inter"/>
              </a:rPr>
              <a:t>Pick one idea </a:t>
            </a:r>
            <a:r>
              <a:rPr lang="en-US" sz="1500" b="0" dirty="0">
                <a:solidFill>
                  <a:srgbClr val="FFFFFF"/>
                </a:solidFill>
                <a:latin typeface="Inter"/>
                <a:ea typeface="Inter"/>
                <a:cs typeface="Inter"/>
              </a:rPr>
              <a:t>to share in the debrief</a:t>
            </a:r>
          </a:p>
        </p:txBody>
      </p:sp>
      <p:sp>
        <p:nvSpPr>
          <p:cNvPr id="19" name="Footer"/>
          <p:cNvSpPr txBox="1"/>
          <p:nvPr/>
        </p:nvSpPr>
        <p:spPr>
          <a:xfrm>
            <a:off x="822960" y="6419088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00" b="0" dirty="0">
                <a:solidFill>
                  <a:srgbClr val="A9BCCB"/>
                </a:solidFill>
                <a:latin typeface="Inter"/>
                <a:ea typeface="Inter"/>
                <a:cs typeface="Inter"/>
              </a:rPr>
              <a:t>Reflexive AI Research Initiative · Lucid Institute for Organizational Science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rand bar 1"/>
          <p:cNvSpPr/>
          <p:nvPr/>
        </p:nvSpPr>
        <p:spPr>
          <a:xfrm>
            <a:off x="0" y="0"/>
            <a:ext cx="4063898" cy="146304"/>
          </a:xfrm>
          <a:prstGeom prst="rect">
            <a:avLst/>
          </a:prstGeom>
          <a:solidFill>
            <a:srgbClr val="0F9E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Brand bar 2"/>
          <p:cNvSpPr/>
          <p:nvPr/>
        </p:nvSpPr>
        <p:spPr>
          <a:xfrm>
            <a:off x="4063898" y="0"/>
            <a:ext cx="4063898" cy="146304"/>
          </a:xfrm>
          <a:prstGeom prst="rect">
            <a:avLst/>
          </a:prstGeom>
          <a:solidFill>
            <a:srgbClr val="2B3F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Brand bar 3"/>
          <p:cNvSpPr/>
          <p:nvPr/>
        </p:nvSpPr>
        <p:spPr>
          <a:xfrm>
            <a:off x="8127797" y="0"/>
            <a:ext cx="4063898" cy="146304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Eyebrow"/>
          <p:cNvSpPr txBox="1"/>
          <p:nvPr/>
        </p:nvSpPr>
        <p:spPr>
          <a:xfrm>
            <a:off x="822960" y="96012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200" b="1" spc="200" dirty="0">
                <a:solidFill>
                  <a:srgbClr val="0B6F63"/>
                </a:solidFill>
                <a:latin typeface="IBM Plex Mono"/>
                <a:ea typeface="IBM Plex Mono"/>
                <a:cs typeface="IBM Plex Mono"/>
              </a:rPr>
              <a:t>05 · GET INVOLVED</a:t>
            </a:r>
          </a:p>
        </p:txBody>
      </p:sp>
      <p:sp>
        <p:nvSpPr>
          <p:cNvPr id="12" name="Title"/>
          <p:cNvSpPr txBox="1"/>
          <p:nvPr/>
        </p:nvSpPr>
        <p:spPr>
          <a:xfrm>
            <a:off x="786384" y="1463040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3200" b="1" dirty="0">
                <a:solidFill>
                  <a:srgbClr val="14202B"/>
                </a:solidFill>
                <a:latin typeface="Sora"/>
                <a:ea typeface="Sora"/>
                <a:cs typeface="Sora"/>
              </a:rPr>
              <a:t>Two ways to contribute to the research</a:t>
            </a:r>
          </a:p>
        </p:txBody>
      </p:sp>
      <p:sp>
        <p:nvSpPr>
          <p:cNvPr id="13" name="Card"/>
          <p:cNvSpPr/>
          <p:nvPr/>
        </p:nvSpPr>
        <p:spPr>
          <a:xfrm>
            <a:off x="822960" y="2331720"/>
            <a:ext cx="5120640" cy="3611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8E5"/>
            </a:solidFill>
          </a:ln>
        </p:spPr>
        <p:txBody>
          <a:bodyPr wrap="square" rtlCol="0" anchor="t"/>
          <a:lstStyle/>
          <a:p>
            <a:endParaRPr lang="en-US"/>
          </a:p>
        </p:txBody>
      </p:sp>
      <p:sp>
        <p:nvSpPr>
          <p:cNvPr id="14" name="Pill"/>
          <p:cNvSpPr/>
          <p:nvPr/>
        </p:nvSpPr>
        <p:spPr>
          <a:xfrm>
            <a:off x="1143000" y="256032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EAF6F3"/>
          </a:solidFill>
          <a:ln w="12700">
            <a:solidFill>
              <a:srgbClr val="BFE3D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900" b="1" spc="80" dirty="0">
                <a:solidFill>
                  <a:srgbClr val="0B6F63"/>
                </a:solidFill>
                <a:latin typeface="IBM Plex Mono"/>
                <a:ea typeface="IBM Plex Mono"/>
                <a:cs typeface="IBM Plex Mono"/>
              </a:rPr>
              <a:t>OPTION A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1143000" y="2971800"/>
            <a:ext cx="44805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2200" b="1" dirty="0">
                <a:solidFill>
                  <a:srgbClr val="14202B"/>
                </a:solidFill>
                <a:latin typeface="Sora"/>
                <a:ea typeface="Sora"/>
                <a:cs typeface="Sora"/>
              </a:rPr>
              <a:t>Join a work group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1143000" y="3456432"/>
            <a:ext cx="44805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300" b="0" dirty="0">
                <a:solidFill>
                  <a:srgbClr val="33424D"/>
                </a:solidFill>
                <a:latin typeface="Inter"/>
                <a:ea typeface="Inter"/>
                <a:cs typeface="Inter"/>
              </a:rPr>
              <a:t>Help develop the framework for human-centered AI.</a:t>
            </a:r>
          </a:p>
        </p:txBody>
      </p:sp>
      <p:cxnSp>
        <p:nvCxnSpPr>
          <p:cNvPr id="17" name="Connector 17"/>
          <p:cNvCxnSpPr/>
          <p:nvPr/>
        </p:nvCxnSpPr>
        <p:spPr>
          <a:xfrm>
            <a:off x="1143000" y="3968496"/>
            <a:ext cx="4480560" cy="0"/>
          </a:xfrm>
          <a:prstGeom prst="line">
            <a:avLst/>
          </a:prstGeom>
          <a:ln w="19050">
            <a:solidFill>
              <a:srgbClr val="DCE8E5"/>
            </a:solidFill>
          </a:ln>
        </p:spPr>
      </p:cxnSp>
      <p:sp>
        <p:nvSpPr>
          <p:cNvPr id="18" name="Text 18"/>
          <p:cNvSpPr txBox="1"/>
          <p:nvPr/>
        </p:nvSpPr>
        <p:spPr>
          <a:xfrm>
            <a:off x="1143000" y="4023360"/>
            <a:ext cx="10515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50" b="1" spc="100" dirty="0">
                <a:solidFill>
                  <a:srgbClr val="0B6F63"/>
                </a:solidFill>
                <a:latin typeface="IBM Plex Mono"/>
                <a:ea typeface="IBM Plex Mono"/>
                <a:cs typeface="IBM Plex Mono"/>
              </a:rPr>
              <a:t>TIME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2194560" y="4023360"/>
            <a:ext cx="34290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300" b="0" dirty="0">
                <a:solidFill>
                  <a:srgbClr val="14202B"/>
                </a:solidFill>
                <a:latin typeface="Inter"/>
                <a:ea typeface="Inter"/>
                <a:cs typeface="Inter"/>
              </a:rPr>
              <a:t>Three sessions of 3–4 hours each</a:t>
            </a:r>
          </a:p>
        </p:txBody>
      </p:sp>
      <p:cxnSp>
        <p:nvCxnSpPr>
          <p:cNvPr id="20" name="Connector 20"/>
          <p:cNvCxnSpPr/>
          <p:nvPr/>
        </p:nvCxnSpPr>
        <p:spPr>
          <a:xfrm>
            <a:off x="1143000" y="4425696"/>
            <a:ext cx="4480560" cy="0"/>
          </a:xfrm>
          <a:prstGeom prst="line">
            <a:avLst/>
          </a:prstGeom>
          <a:ln w="19050">
            <a:solidFill>
              <a:srgbClr val="DCE8E5"/>
            </a:solidFill>
          </a:ln>
        </p:spPr>
      </p:cxnSp>
      <p:sp>
        <p:nvSpPr>
          <p:cNvPr id="21" name="Text 21"/>
          <p:cNvSpPr txBox="1"/>
          <p:nvPr/>
        </p:nvSpPr>
        <p:spPr>
          <a:xfrm>
            <a:off x="1143000" y="4480560"/>
            <a:ext cx="10515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50" b="1" spc="100" dirty="0">
                <a:solidFill>
                  <a:srgbClr val="0B6F63"/>
                </a:solidFill>
                <a:latin typeface="IBM Plex Mono"/>
                <a:ea typeface="IBM Plex Mono"/>
                <a:cs typeface="IBM Plex Mono"/>
              </a:rPr>
              <a:t>WHO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2194560" y="4480560"/>
            <a:ext cx="34290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300" b="0" dirty="0">
                <a:solidFill>
                  <a:srgbClr val="14202B"/>
                </a:solidFill>
                <a:latin typeface="Inter"/>
                <a:ea typeface="Inter"/>
                <a:cs typeface="Inter"/>
              </a:rPr>
              <a:t>12–20 academics and practitioners</a:t>
            </a:r>
          </a:p>
        </p:txBody>
      </p:sp>
      <p:cxnSp>
        <p:nvCxnSpPr>
          <p:cNvPr id="23" name="Connector 23"/>
          <p:cNvCxnSpPr/>
          <p:nvPr/>
        </p:nvCxnSpPr>
        <p:spPr>
          <a:xfrm>
            <a:off x="1143000" y="4882896"/>
            <a:ext cx="4480560" cy="0"/>
          </a:xfrm>
          <a:prstGeom prst="line">
            <a:avLst/>
          </a:prstGeom>
          <a:ln w="19050">
            <a:solidFill>
              <a:srgbClr val="DCE8E5"/>
            </a:solidFill>
          </a:ln>
        </p:spPr>
      </p:cxnSp>
      <p:sp>
        <p:nvSpPr>
          <p:cNvPr id="24" name="Text 24"/>
          <p:cNvSpPr txBox="1"/>
          <p:nvPr/>
        </p:nvSpPr>
        <p:spPr>
          <a:xfrm>
            <a:off x="1143000" y="4937760"/>
            <a:ext cx="10515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50" b="1" spc="100" dirty="0">
                <a:solidFill>
                  <a:srgbClr val="0B6F63"/>
                </a:solidFill>
                <a:latin typeface="IBM Plex Mono"/>
                <a:ea typeface="IBM Plex Mono"/>
                <a:cs typeface="IBM Plex Mono"/>
              </a:rPr>
              <a:t>WHERE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2194560" y="4937760"/>
            <a:ext cx="34290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300" b="0" dirty="0">
                <a:solidFill>
                  <a:srgbClr val="14202B"/>
                </a:solidFill>
                <a:latin typeface="Inter"/>
                <a:ea typeface="Inter"/>
                <a:cs typeface="Inter"/>
              </a:rPr>
              <a:t>Online, face-to-face or in your organization</a:t>
            </a:r>
          </a:p>
        </p:txBody>
      </p:sp>
      <p:cxnSp>
        <p:nvCxnSpPr>
          <p:cNvPr id="26" name="Connector 26"/>
          <p:cNvCxnSpPr/>
          <p:nvPr/>
        </p:nvCxnSpPr>
        <p:spPr>
          <a:xfrm>
            <a:off x="1143000" y="5340096"/>
            <a:ext cx="4480560" cy="0"/>
          </a:xfrm>
          <a:prstGeom prst="line">
            <a:avLst/>
          </a:prstGeom>
          <a:ln w="19050">
            <a:solidFill>
              <a:srgbClr val="DCE8E5"/>
            </a:solidFill>
          </a:ln>
        </p:spPr>
      </p:cxnSp>
      <p:sp>
        <p:nvSpPr>
          <p:cNvPr id="27" name="Text 27"/>
          <p:cNvSpPr txBox="1"/>
          <p:nvPr/>
        </p:nvSpPr>
        <p:spPr>
          <a:xfrm>
            <a:off x="1143000" y="5394960"/>
            <a:ext cx="10515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50" b="1" spc="100" dirty="0">
                <a:solidFill>
                  <a:srgbClr val="0B6F63"/>
                </a:solidFill>
                <a:latin typeface="IBM Plex Mono"/>
                <a:ea typeface="IBM Plex Mono"/>
                <a:cs typeface="IBM Plex Mono"/>
              </a:rPr>
              <a:t>YOU GET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2194560" y="5394960"/>
            <a:ext cx="34290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300" b="0" dirty="0">
                <a:solidFill>
                  <a:srgbClr val="14202B"/>
                </a:solidFill>
                <a:latin typeface="Inter"/>
                <a:ea typeface="Inter"/>
                <a:cs typeface="Inter"/>
              </a:rPr>
              <a:t>Shape the framework and learn from peers</a:t>
            </a:r>
          </a:p>
        </p:txBody>
      </p:sp>
      <p:sp>
        <p:nvSpPr>
          <p:cNvPr id="29" name="Card"/>
          <p:cNvSpPr/>
          <p:nvPr/>
        </p:nvSpPr>
        <p:spPr>
          <a:xfrm>
            <a:off x="6217920" y="2331720"/>
            <a:ext cx="5120640" cy="3611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8E5"/>
            </a:solidFill>
          </a:ln>
        </p:spPr>
        <p:txBody>
          <a:bodyPr wrap="square" rtlCol="0" anchor="t"/>
          <a:lstStyle/>
          <a:p>
            <a:endParaRPr lang="en-US"/>
          </a:p>
        </p:txBody>
      </p:sp>
      <p:sp>
        <p:nvSpPr>
          <p:cNvPr id="30" name="Pill"/>
          <p:cNvSpPr/>
          <p:nvPr/>
        </p:nvSpPr>
        <p:spPr>
          <a:xfrm>
            <a:off x="6537960" y="256032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4E0"/>
          </a:solidFill>
          <a:ln w="12700">
            <a:solidFill>
              <a:srgbClr val="F7D18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900" b="1" spc="80" dirty="0">
                <a:solidFill>
                  <a:srgbClr val="9A5B00"/>
                </a:solidFill>
                <a:latin typeface="IBM Plex Mono"/>
                <a:ea typeface="IBM Plex Mono"/>
                <a:cs typeface="IBM Plex Mono"/>
              </a:rPr>
              <a:t>OPTION B</a:t>
            </a:r>
          </a:p>
        </p:txBody>
      </p:sp>
      <p:sp>
        <p:nvSpPr>
          <p:cNvPr id="31" name="Text 31"/>
          <p:cNvSpPr txBox="1"/>
          <p:nvPr/>
        </p:nvSpPr>
        <p:spPr>
          <a:xfrm>
            <a:off x="6537960" y="2971800"/>
            <a:ext cx="44805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2200" b="1" dirty="0">
                <a:solidFill>
                  <a:srgbClr val="14202B"/>
                </a:solidFill>
                <a:latin typeface="Sora"/>
                <a:ea typeface="Sora"/>
                <a:cs typeface="Sora"/>
              </a:rPr>
              <a:t>Host a World Cafe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6537960" y="3456432"/>
            <a:ext cx="44805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300" b="0" dirty="0">
                <a:solidFill>
                  <a:srgbClr val="33424D"/>
                </a:solidFill>
                <a:latin typeface="Inter"/>
                <a:ea typeface="Inter"/>
                <a:cs typeface="Inter"/>
              </a:rPr>
              <a:t>Generate insights about AI with your own colleagues.</a:t>
            </a:r>
          </a:p>
        </p:txBody>
      </p:sp>
      <p:cxnSp>
        <p:nvCxnSpPr>
          <p:cNvPr id="33" name="Connector 33"/>
          <p:cNvCxnSpPr/>
          <p:nvPr/>
        </p:nvCxnSpPr>
        <p:spPr>
          <a:xfrm>
            <a:off x="6537960" y="3968496"/>
            <a:ext cx="4480560" cy="0"/>
          </a:xfrm>
          <a:prstGeom prst="line">
            <a:avLst/>
          </a:prstGeom>
          <a:ln w="19050">
            <a:solidFill>
              <a:srgbClr val="DCE8E5"/>
            </a:solidFill>
          </a:ln>
        </p:spPr>
      </p:cxnSp>
      <p:sp>
        <p:nvSpPr>
          <p:cNvPr id="34" name="Text 34"/>
          <p:cNvSpPr txBox="1"/>
          <p:nvPr/>
        </p:nvSpPr>
        <p:spPr>
          <a:xfrm>
            <a:off x="6537960" y="4023360"/>
            <a:ext cx="10515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50" b="1" spc="100" dirty="0">
                <a:solidFill>
                  <a:srgbClr val="0B6F63"/>
                </a:solidFill>
                <a:latin typeface="IBM Plex Mono"/>
                <a:ea typeface="IBM Plex Mono"/>
                <a:cs typeface="IBM Plex Mono"/>
              </a:rPr>
              <a:t>TIME</a:t>
            </a:r>
          </a:p>
        </p:txBody>
      </p:sp>
      <p:sp>
        <p:nvSpPr>
          <p:cNvPr id="35" name="Text 35"/>
          <p:cNvSpPr txBox="1"/>
          <p:nvPr/>
        </p:nvSpPr>
        <p:spPr>
          <a:xfrm>
            <a:off x="7589520" y="4023360"/>
            <a:ext cx="34290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300" b="0" dirty="0">
                <a:solidFill>
                  <a:srgbClr val="14202B"/>
                </a:solidFill>
                <a:latin typeface="Inter"/>
                <a:ea typeface="Inter"/>
                <a:cs typeface="Inter"/>
              </a:rPr>
              <a:t>One session of 100–120 minutes</a:t>
            </a:r>
          </a:p>
        </p:txBody>
      </p:sp>
      <p:cxnSp>
        <p:nvCxnSpPr>
          <p:cNvPr id="36" name="Connector 36"/>
          <p:cNvCxnSpPr/>
          <p:nvPr/>
        </p:nvCxnSpPr>
        <p:spPr>
          <a:xfrm>
            <a:off x="6537960" y="4425696"/>
            <a:ext cx="4480560" cy="0"/>
          </a:xfrm>
          <a:prstGeom prst="line">
            <a:avLst/>
          </a:prstGeom>
          <a:ln w="19050">
            <a:solidFill>
              <a:srgbClr val="DCE8E5"/>
            </a:solidFill>
          </a:ln>
        </p:spPr>
      </p:cxnSp>
      <p:sp>
        <p:nvSpPr>
          <p:cNvPr id="37" name="Text 37"/>
          <p:cNvSpPr txBox="1"/>
          <p:nvPr/>
        </p:nvSpPr>
        <p:spPr>
          <a:xfrm>
            <a:off x="6537960" y="4480560"/>
            <a:ext cx="10515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50" b="1" spc="100" dirty="0">
                <a:solidFill>
                  <a:srgbClr val="0B6F63"/>
                </a:solidFill>
                <a:latin typeface="IBM Plex Mono"/>
                <a:ea typeface="IBM Plex Mono"/>
                <a:cs typeface="IBM Plex Mono"/>
              </a:rPr>
              <a:t>WHO</a:t>
            </a:r>
          </a:p>
        </p:txBody>
      </p:sp>
      <p:sp>
        <p:nvSpPr>
          <p:cNvPr id="38" name="Text 38"/>
          <p:cNvSpPr txBox="1"/>
          <p:nvPr/>
        </p:nvSpPr>
        <p:spPr>
          <a:xfrm>
            <a:off x="7589520" y="4480560"/>
            <a:ext cx="34290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300" b="0" dirty="0">
                <a:solidFill>
                  <a:srgbClr val="14202B"/>
                </a:solidFill>
                <a:latin typeface="Inter"/>
                <a:ea typeface="Inter"/>
                <a:cs typeface="Inter"/>
              </a:rPr>
              <a:t>15–25 people from your organization</a:t>
            </a:r>
          </a:p>
        </p:txBody>
      </p:sp>
      <p:cxnSp>
        <p:nvCxnSpPr>
          <p:cNvPr id="39" name="Connector 39"/>
          <p:cNvCxnSpPr/>
          <p:nvPr/>
        </p:nvCxnSpPr>
        <p:spPr>
          <a:xfrm>
            <a:off x="6537960" y="4882896"/>
            <a:ext cx="4480560" cy="0"/>
          </a:xfrm>
          <a:prstGeom prst="line">
            <a:avLst/>
          </a:prstGeom>
          <a:ln w="19050">
            <a:solidFill>
              <a:srgbClr val="DCE8E5"/>
            </a:solidFill>
          </a:ln>
        </p:spPr>
      </p:cxnSp>
      <p:sp>
        <p:nvSpPr>
          <p:cNvPr id="40" name="Text 40"/>
          <p:cNvSpPr txBox="1"/>
          <p:nvPr/>
        </p:nvSpPr>
        <p:spPr>
          <a:xfrm>
            <a:off x="6537960" y="4937760"/>
            <a:ext cx="10515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50" b="1" spc="100" dirty="0">
                <a:solidFill>
                  <a:srgbClr val="0B6F63"/>
                </a:solidFill>
                <a:latin typeface="IBM Plex Mono"/>
                <a:ea typeface="IBM Plex Mono"/>
                <a:cs typeface="IBM Plex Mono"/>
              </a:rPr>
              <a:t>HOW</a:t>
            </a:r>
          </a:p>
        </p:txBody>
      </p:sp>
      <p:sp>
        <p:nvSpPr>
          <p:cNvPr id="41" name="Text 41"/>
          <p:cNvSpPr txBox="1"/>
          <p:nvPr/>
        </p:nvSpPr>
        <p:spPr>
          <a:xfrm>
            <a:off x="7589520" y="4937760"/>
            <a:ext cx="34290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300" b="0" dirty="0">
                <a:solidFill>
                  <a:srgbClr val="14202B"/>
                </a:solidFill>
                <a:latin typeface="Inter"/>
                <a:ea typeface="Inter"/>
                <a:cs typeface="Inter"/>
              </a:rPr>
              <a:t>Free facilitation guide and materials</a:t>
            </a:r>
          </a:p>
        </p:txBody>
      </p:sp>
      <p:cxnSp>
        <p:nvCxnSpPr>
          <p:cNvPr id="42" name="Connector 42"/>
          <p:cNvCxnSpPr/>
          <p:nvPr/>
        </p:nvCxnSpPr>
        <p:spPr>
          <a:xfrm>
            <a:off x="6537960" y="5340096"/>
            <a:ext cx="4480560" cy="0"/>
          </a:xfrm>
          <a:prstGeom prst="line">
            <a:avLst/>
          </a:prstGeom>
          <a:ln w="19050">
            <a:solidFill>
              <a:srgbClr val="DCE8E5"/>
            </a:solidFill>
          </a:ln>
        </p:spPr>
      </p:cxnSp>
      <p:sp>
        <p:nvSpPr>
          <p:cNvPr id="43" name="Text 43"/>
          <p:cNvSpPr txBox="1"/>
          <p:nvPr/>
        </p:nvSpPr>
        <p:spPr>
          <a:xfrm>
            <a:off x="6537960" y="5394960"/>
            <a:ext cx="10515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50" b="1" spc="100" dirty="0">
                <a:solidFill>
                  <a:srgbClr val="0B6F63"/>
                </a:solidFill>
                <a:latin typeface="IBM Plex Mono"/>
                <a:ea typeface="IBM Plex Mono"/>
                <a:cs typeface="IBM Plex Mono"/>
              </a:rPr>
              <a:t>YOU GET</a:t>
            </a:r>
          </a:p>
        </p:txBody>
      </p:sp>
      <p:sp>
        <p:nvSpPr>
          <p:cNvPr id="44" name="Text 44"/>
          <p:cNvSpPr txBox="1"/>
          <p:nvPr/>
        </p:nvSpPr>
        <p:spPr>
          <a:xfrm>
            <a:off x="7589520" y="5394960"/>
            <a:ext cx="34290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300" b="0" dirty="0">
                <a:solidFill>
                  <a:srgbClr val="14202B"/>
                </a:solidFill>
                <a:latin typeface="Inter"/>
                <a:ea typeface="Inter"/>
                <a:cs typeface="Inter"/>
              </a:rPr>
              <a:t>A shared picture of hopes and concerns</a:t>
            </a:r>
          </a:p>
        </p:txBody>
      </p:sp>
      <p:sp>
        <p:nvSpPr>
          <p:cNvPr id="45" name="Footer"/>
          <p:cNvSpPr txBox="1"/>
          <p:nvPr/>
        </p:nvSpPr>
        <p:spPr>
          <a:xfrm>
            <a:off x="822960" y="6419088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00" b="0" dirty="0">
                <a:solidFill>
                  <a:srgbClr val="5B6B77"/>
                </a:solidFill>
                <a:latin typeface="Inter"/>
                <a:ea typeface="Inter"/>
                <a:cs typeface="Inter"/>
              </a:rPr>
              <a:t>Reflexive AI Research Initiative · Lucid Institute for Organizational Science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rand bar 1"/>
          <p:cNvSpPr/>
          <p:nvPr/>
        </p:nvSpPr>
        <p:spPr>
          <a:xfrm>
            <a:off x="0" y="0"/>
            <a:ext cx="4063898" cy="146304"/>
          </a:xfrm>
          <a:prstGeom prst="rect">
            <a:avLst/>
          </a:prstGeom>
          <a:solidFill>
            <a:srgbClr val="0F9E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Brand bar 2"/>
          <p:cNvSpPr/>
          <p:nvPr/>
        </p:nvSpPr>
        <p:spPr>
          <a:xfrm>
            <a:off x="4063898" y="0"/>
            <a:ext cx="4063898" cy="146304"/>
          </a:xfrm>
          <a:prstGeom prst="rect">
            <a:avLst/>
          </a:prstGeom>
          <a:solidFill>
            <a:srgbClr val="2B3F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Brand bar 3"/>
          <p:cNvSpPr/>
          <p:nvPr/>
        </p:nvSpPr>
        <p:spPr>
          <a:xfrm>
            <a:off x="8127797" y="0"/>
            <a:ext cx="4063898" cy="146304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Eyebrow"/>
          <p:cNvSpPr txBox="1"/>
          <p:nvPr/>
        </p:nvSpPr>
        <p:spPr>
          <a:xfrm>
            <a:off x="822960" y="96012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200" b="1" spc="200" dirty="0">
                <a:solidFill>
                  <a:srgbClr val="0B6F63"/>
                </a:solidFill>
                <a:latin typeface="IBM Plex Mono"/>
                <a:ea typeface="IBM Plex Mono"/>
                <a:cs typeface="IBM Plex Mono"/>
              </a:rPr>
              <a:t>05 · OPTION A · WORK GROUP</a:t>
            </a:r>
          </a:p>
        </p:txBody>
      </p:sp>
      <p:sp>
        <p:nvSpPr>
          <p:cNvPr id="12" name="Title"/>
          <p:cNvSpPr txBox="1"/>
          <p:nvPr/>
        </p:nvSpPr>
        <p:spPr>
          <a:xfrm>
            <a:off x="786384" y="1463040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3200" b="1" dirty="0">
                <a:solidFill>
                  <a:srgbClr val="14202B"/>
                </a:solidFill>
                <a:latin typeface="Sora"/>
                <a:ea typeface="Sora"/>
                <a:cs typeface="Sora"/>
              </a:rPr>
              <a:t>Join a work group and help build the framework</a:t>
            </a:r>
          </a:p>
        </p:txBody>
      </p:sp>
      <p:sp>
        <p:nvSpPr>
          <p:cNvPr id="13" name="Label"/>
          <p:cNvSpPr txBox="1"/>
          <p:nvPr/>
        </p:nvSpPr>
        <p:spPr>
          <a:xfrm>
            <a:off x="822960" y="2331720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50" b="1" spc="200" dirty="0">
                <a:solidFill>
                  <a:srgbClr val="0B6F63"/>
                </a:solidFill>
                <a:latin typeface="IBM Plex Mono"/>
                <a:ea typeface="IBM Plex Mono"/>
                <a:cs typeface="IBM Plex Mono"/>
              </a:rPr>
              <a:t>// HOW IT WORKS</a:t>
            </a:r>
          </a:p>
        </p:txBody>
      </p:sp>
      <p:sp>
        <p:nvSpPr>
          <p:cNvPr id="14" name="Number 1"/>
          <p:cNvSpPr/>
          <p:nvPr/>
        </p:nvSpPr>
        <p:spPr>
          <a:xfrm>
            <a:off x="822960" y="2779776"/>
            <a:ext cx="402336" cy="402336"/>
          </a:xfrm>
          <a:prstGeom prst="ellipse">
            <a:avLst/>
          </a:prstGeom>
          <a:solidFill>
            <a:srgbClr val="EAF6F3"/>
          </a:solidFill>
          <a:ln w="12700">
            <a:solidFill>
              <a:srgbClr val="BFE3D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300" b="1" dirty="0">
                <a:solidFill>
                  <a:srgbClr val="0B6F63"/>
                </a:solidFill>
                <a:latin typeface="IBM Plex Mono"/>
                <a:ea typeface="IBM Plex Mono"/>
                <a:cs typeface="IBM Plex Mono"/>
              </a:rPr>
              <a:t>1</a:t>
            </a:r>
          </a:p>
        </p:txBody>
      </p:sp>
      <p:sp>
        <p:nvSpPr>
          <p:cNvPr id="15" name="Item"/>
          <p:cNvSpPr txBox="1"/>
          <p:nvPr/>
        </p:nvSpPr>
        <p:spPr>
          <a:xfrm>
            <a:off x="1353312" y="2743200"/>
            <a:ext cx="438912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1300" b="1" dirty="0">
                <a:solidFill>
                  <a:srgbClr val="0B6F63"/>
                </a:solidFill>
                <a:latin typeface="Inter"/>
                <a:ea typeface="Inter"/>
                <a:cs typeface="Inter"/>
              </a:rPr>
              <a:t>Three sessions. </a:t>
            </a:r>
            <a:r>
              <a:rPr lang="en-US" sz="1300" b="0" dirty="0">
                <a:solidFill>
                  <a:srgbClr val="33424D"/>
                </a:solidFill>
                <a:latin typeface="Inter"/>
                <a:ea typeface="Inter"/>
                <a:cs typeface="Inter"/>
              </a:rPr>
              <a:t>3–4 hours each over several months, facilitated with Liberating Structures.</a:t>
            </a:r>
          </a:p>
        </p:txBody>
      </p:sp>
      <p:sp>
        <p:nvSpPr>
          <p:cNvPr id="16" name="Number 2"/>
          <p:cNvSpPr/>
          <p:nvPr/>
        </p:nvSpPr>
        <p:spPr>
          <a:xfrm>
            <a:off x="822960" y="3648456"/>
            <a:ext cx="402336" cy="402336"/>
          </a:xfrm>
          <a:prstGeom prst="ellipse">
            <a:avLst/>
          </a:prstGeom>
          <a:solidFill>
            <a:srgbClr val="EAF6F3"/>
          </a:solidFill>
          <a:ln w="12700">
            <a:solidFill>
              <a:srgbClr val="BFE3D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300" b="1" dirty="0">
                <a:solidFill>
                  <a:srgbClr val="0B6F63"/>
                </a:solidFill>
                <a:latin typeface="IBM Plex Mono"/>
                <a:ea typeface="IBM Plex Mono"/>
                <a:cs typeface="IBM Plex Mono"/>
              </a:rPr>
              <a:t>2</a:t>
            </a:r>
          </a:p>
        </p:txBody>
      </p:sp>
      <p:sp>
        <p:nvSpPr>
          <p:cNvPr id="17" name="Item"/>
          <p:cNvSpPr txBox="1"/>
          <p:nvPr/>
        </p:nvSpPr>
        <p:spPr>
          <a:xfrm>
            <a:off x="1353312" y="3611880"/>
            <a:ext cx="438912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1300" b="1" dirty="0">
                <a:solidFill>
                  <a:srgbClr val="0B6F63"/>
                </a:solidFill>
                <a:latin typeface="Inter"/>
                <a:ea typeface="Inter"/>
                <a:cs typeface="Inter"/>
              </a:rPr>
              <a:t>Test in between. </a:t>
            </a:r>
            <a:r>
              <a:rPr lang="en-US" sz="1300" b="0" dirty="0">
                <a:solidFill>
                  <a:srgbClr val="33424D"/>
                </a:solidFill>
                <a:latin typeface="Inter"/>
                <a:ea typeface="Inter"/>
                <a:cs typeface="Inter"/>
              </a:rPr>
              <a:t>Try ideas in your own organization and bring back what you learn.</a:t>
            </a:r>
          </a:p>
        </p:txBody>
      </p:sp>
      <p:sp>
        <p:nvSpPr>
          <p:cNvPr id="18" name="Number 3"/>
          <p:cNvSpPr/>
          <p:nvPr/>
        </p:nvSpPr>
        <p:spPr>
          <a:xfrm>
            <a:off x="822960" y="4517136"/>
            <a:ext cx="402336" cy="402336"/>
          </a:xfrm>
          <a:prstGeom prst="ellipse">
            <a:avLst/>
          </a:prstGeom>
          <a:solidFill>
            <a:srgbClr val="EAF6F3"/>
          </a:solidFill>
          <a:ln w="12700">
            <a:solidFill>
              <a:srgbClr val="BFE3D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300" b="1" dirty="0">
                <a:solidFill>
                  <a:srgbClr val="0B6F63"/>
                </a:solidFill>
                <a:latin typeface="IBM Plex Mono"/>
                <a:ea typeface="IBM Plex Mono"/>
                <a:cs typeface="IBM Plex Mono"/>
              </a:rPr>
              <a:t>3</a:t>
            </a:r>
          </a:p>
        </p:txBody>
      </p:sp>
      <p:sp>
        <p:nvSpPr>
          <p:cNvPr id="19" name="Item"/>
          <p:cNvSpPr txBox="1"/>
          <p:nvPr/>
        </p:nvSpPr>
        <p:spPr>
          <a:xfrm>
            <a:off x="1353312" y="4480560"/>
            <a:ext cx="438912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1300" b="1" dirty="0">
                <a:solidFill>
                  <a:srgbClr val="0B6F63"/>
                </a:solidFill>
                <a:latin typeface="Inter"/>
                <a:ea typeface="Inter"/>
                <a:cs typeface="Inter"/>
              </a:rPr>
              <a:t>One shared framework. </a:t>
            </a:r>
            <a:r>
              <a:rPr lang="en-US" sz="1300" b="0" dirty="0">
                <a:solidFill>
                  <a:srgbClr val="33424D"/>
                </a:solidFill>
                <a:latin typeface="Inter"/>
                <a:ea typeface="Inter"/>
                <a:cs typeface="Inter"/>
              </a:rPr>
              <a:t>Every group builds on the work of earlier groups.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822960" y="5440680"/>
            <a:ext cx="49377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1150" b="0" i="1" dirty="0">
                <a:solidFill>
                  <a:srgbClr val="6B7C88"/>
                </a:solidFill>
                <a:latin typeface="Inter"/>
                <a:ea typeface="Inter"/>
                <a:cs typeface="Inter"/>
              </a:rPr>
              <a:t>You need some experience with AI and the motivation to discuss human-centered AI. No expertise required.</a:t>
            </a:r>
          </a:p>
        </p:txBody>
      </p:sp>
      <p:sp>
        <p:nvSpPr>
          <p:cNvPr id="21" name="Label"/>
          <p:cNvSpPr txBox="1"/>
          <p:nvPr/>
        </p:nvSpPr>
        <p:spPr>
          <a:xfrm>
            <a:off x="6172200" y="233172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50" b="1" spc="200" dirty="0">
                <a:solidFill>
                  <a:srgbClr val="0B6F63"/>
                </a:solidFill>
                <a:latin typeface="IBM Plex Mono"/>
                <a:ea typeface="IBM Plex Mono"/>
                <a:cs typeface="IBM Plex Mono"/>
              </a:rPr>
              <a:t>// UPCOMING SERIES</a:t>
            </a:r>
          </a:p>
        </p:txBody>
      </p:sp>
      <p:sp>
        <p:nvSpPr>
          <p:cNvPr id="22" name="Card"/>
          <p:cNvSpPr/>
          <p:nvPr/>
        </p:nvSpPr>
        <p:spPr>
          <a:xfrm>
            <a:off x="6172200" y="2743200"/>
            <a:ext cx="516636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8E5"/>
            </a:solidFill>
          </a:ln>
        </p:spPr>
        <p:txBody>
          <a:bodyPr wrap="square" rtlCol="0" anchor="t"/>
          <a:lstStyle/>
          <a:p>
            <a:endParaRPr lang="en-US"/>
          </a:p>
        </p:txBody>
      </p:sp>
      <p:sp>
        <p:nvSpPr>
          <p:cNvPr id="23" name="Text 23"/>
          <p:cNvSpPr txBox="1"/>
          <p:nvPr/>
        </p:nvSpPr>
        <p:spPr>
          <a:xfrm>
            <a:off x="6446520" y="2880360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1" spc="120" dirty="0">
                <a:solidFill>
                  <a:srgbClr val="0B6F63"/>
                </a:solidFill>
                <a:latin typeface="IBM Plex Mono"/>
                <a:ea typeface="IBM Plex Mono"/>
                <a:cs typeface="IBM Plex Mono"/>
              </a:rPr>
              <a:t>ONLINE #1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6446520" y="3200400"/>
            <a:ext cx="46634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700" b="1" dirty="0">
                <a:solidFill>
                  <a:srgbClr val="14202B"/>
                </a:solidFill>
                <a:latin typeface="Sora"/>
                <a:ea typeface="Sora"/>
                <a:cs typeface="Sora"/>
              </a:rPr>
              <a:t>Nov 2 · Nov 30 · Dec 21</a:t>
            </a:r>
            <a:r>
              <a:rPr lang="en-US" sz="1200" b="0" dirty="0">
                <a:solidFill>
                  <a:srgbClr val="33424D"/>
                </a:solidFill>
                <a:latin typeface="Inter"/>
                <a:ea typeface="Inter"/>
                <a:cs typeface="Inter"/>
              </a:rPr>
              <a:t>   9:30–11:30 CEST</a:t>
            </a:r>
          </a:p>
        </p:txBody>
      </p:sp>
      <p:sp>
        <p:nvSpPr>
          <p:cNvPr id="25" name="Card"/>
          <p:cNvSpPr/>
          <p:nvPr/>
        </p:nvSpPr>
        <p:spPr>
          <a:xfrm>
            <a:off x="6172200" y="3931920"/>
            <a:ext cx="516636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8E5"/>
            </a:solidFill>
          </a:ln>
        </p:spPr>
        <p:txBody>
          <a:bodyPr wrap="square" rtlCol="0" anchor="t"/>
          <a:lstStyle/>
          <a:p>
            <a:endParaRPr lang="en-US"/>
          </a:p>
        </p:txBody>
      </p:sp>
      <p:sp>
        <p:nvSpPr>
          <p:cNvPr id="26" name="Text 26"/>
          <p:cNvSpPr txBox="1"/>
          <p:nvPr/>
        </p:nvSpPr>
        <p:spPr>
          <a:xfrm>
            <a:off x="6446520" y="4069080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1" spc="120" dirty="0">
                <a:solidFill>
                  <a:srgbClr val="0B6F63"/>
                </a:solidFill>
                <a:latin typeface="IBM Plex Mono"/>
                <a:ea typeface="IBM Plex Mono"/>
                <a:cs typeface="IBM Plex Mono"/>
              </a:rPr>
              <a:t>FACE-TO-FACE #2 · HAMBURG</a:t>
            </a:r>
          </a:p>
        </p:txBody>
      </p:sp>
      <p:sp>
        <p:nvSpPr>
          <p:cNvPr id="27" name="Text 27"/>
          <p:cNvSpPr txBox="1"/>
          <p:nvPr/>
        </p:nvSpPr>
        <p:spPr>
          <a:xfrm>
            <a:off x="6446520" y="4389120"/>
            <a:ext cx="46634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700" b="1" dirty="0">
                <a:solidFill>
                  <a:srgbClr val="14202B"/>
                </a:solidFill>
                <a:latin typeface="Sora"/>
                <a:ea typeface="Sora"/>
                <a:cs typeface="Sora"/>
              </a:rPr>
              <a:t>Nov 9 · Dec 7 · Jan 14</a:t>
            </a:r>
            <a:r>
              <a:rPr lang="en-US" sz="1200" b="0" dirty="0">
                <a:solidFill>
                  <a:srgbClr val="33424D"/>
                </a:solidFill>
                <a:latin typeface="Inter"/>
                <a:ea typeface="Inter"/>
                <a:cs typeface="Inter"/>
              </a:rPr>
              <a:t>   13:00–17:00 CEST</a:t>
            </a:r>
          </a:p>
        </p:txBody>
      </p:sp>
      <p:sp>
        <p:nvSpPr>
          <p:cNvPr id="28" name="Card"/>
          <p:cNvSpPr/>
          <p:nvPr/>
        </p:nvSpPr>
        <p:spPr>
          <a:xfrm>
            <a:off x="6172200" y="5120640"/>
            <a:ext cx="5166360" cy="685800"/>
          </a:xfrm>
          <a:prstGeom prst="roundRect">
            <a:avLst>
              <a:gd name="adj" fmla="val 6000"/>
            </a:avLst>
          </a:prstGeom>
          <a:solidFill>
            <a:srgbClr val="EAF6F3"/>
          </a:solidFill>
          <a:ln w="12700">
            <a:solidFill>
              <a:srgbClr val="BFE3DC"/>
            </a:solidFill>
          </a:ln>
        </p:spPr>
        <p:txBody>
          <a:bodyPr wrap="square" rtlCol="0" anchor="t"/>
          <a:lstStyle/>
          <a:p>
            <a:endParaRPr lang="en-US"/>
          </a:p>
        </p:txBody>
      </p:sp>
      <p:sp>
        <p:nvSpPr>
          <p:cNvPr id="29" name="Text 29"/>
          <p:cNvSpPr txBox="1"/>
          <p:nvPr/>
        </p:nvSpPr>
        <p:spPr>
          <a:xfrm>
            <a:off x="6446520" y="5120640"/>
            <a:ext cx="466344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200" b="1" dirty="0">
                <a:solidFill>
                  <a:srgbClr val="14202B"/>
                </a:solidFill>
                <a:latin typeface="Inter"/>
                <a:ea typeface="Inter"/>
                <a:cs typeface="Inter"/>
              </a:rPr>
              <a:t>A series inside your organization? </a:t>
            </a:r>
            <a:r>
              <a:rPr lang="en-US" sz="1200" b="0" u="sng" dirty="0">
                <a:solidFill>
                  <a:srgbClr val="0B6F63"/>
                </a:solidFill>
                <a:latin typeface="Inter"/>
                <a:ea typeface="Inter"/>
                <a:cs typeface="Inter"/>
              </a:rPr>
              <a:t>info@reflexiveai.org</a:t>
            </a:r>
          </a:p>
        </p:txBody>
      </p:sp>
      <p:sp>
        <p:nvSpPr>
          <p:cNvPr id="30" name="Footer"/>
          <p:cNvSpPr txBox="1"/>
          <p:nvPr/>
        </p:nvSpPr>
        <p:spPr>
          <a:xfrm>
            <a:off x="822960" y="6419088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00" b="0" dirty="0">
                <a:solidFill>
                  <a:srgbClr val="5B6B77"/>
                </a:solidFill>
                <a:latin typeface="Inter"/>
                <a:ea typeface="Inter"/>
                <a:cs typeface="Inter"/>
              </a:rPr>
              <a:t>Reflexive AI Research Initiative · Lucid Institute for Organizational Science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rand bar 1"/>
          <p:cNvSpPr/>
          <p:nvPr/>
        </p:nvSpPr>
        <p:spPr>
          <a:xfrm>
            <a:off x="0" y="0"/>
            <a:ext cx="4063898" cy="146304"/>
          </a:xfrm>
          <a:prstGeom prst="rect">
            <a:avLst/>
          </a:prstGeom>
          <a:solidFill>
            <a:srgbClr val="0F9E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Brand bar 2"/>
          <p:cNvSpPr/>
          <p:nvPr/>
        </p:nvSpPr>
        <p:spPr>
          <a:xfrm>
            <a:off x="4063898" y="0"/>
            <a:ext cx="4063898" cy="146304"/>
          </a:xfrm>
          <a:prstGeom prst="rect">
            <a:avLst/>
          </a:prstGeom>
          <a:solidFill>
            <a:srgbClr val="2B3F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Brand bar 3"/>
          <p:cNvSpPr/>
          <p:nvPr/>
        </p:nvSpPr>
        <p:spPr>
          <a:xfrm>
            <a:off x="8127797" y="0"/>
            <a:ext cx="4063898" cy="146304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Eyebrow"/>
          <p:cNvSpPr txBox="1"/>
          <p:nvPr/>
        </p:nvSpPr>
        <p:spPr>
          <a:xfrm>
            <a:off x="822960" y="96012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200" b="1" spc="200" dirty="0">
                <a:solidFill>
                  <a:srgbClr val="0B6F63"/>
                </a:solidFill>
                <a:latin typeface="IBM Plex Mono"/>
                <a:ea typeface="IBM Plex Mono"/>
                <a:cs typeface="IBM Plex Mono"/>
              </a:rPr>
              <a:t>05 · OPTION B · WORLD CAFE</a:t>
            </a:r>
          </a:p>
        </p:txBody>
      </p:sp>
      <p:sp>
        <p:nvSpPr>
          <p:cNvPr id="12" name="Title"/>
          <p:cNvSpPr txBox="1"/>
          <p:nvPr/>
        </p:nvSpPr>
        <p:spPr>
          <a:xfrm>
            <a:off x="786384" y="1463040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3200" b="1" dirty="0">
                <a:solidFill>
                  <a:srgbClr val="14202B"/>
                </a:solidFill>
                <a:latin typeface="Sora"/>
                <a:ea typeface="Sora"/>
                <a:cs typeface="Sora"/>
              </a:rPr>
              <a:t>Host a World Cafe in your organization</a:t>
            </a:r>
          </a:p>
        </p:txBody>
      </p:sp>
      <p:sp>
        <p:nvSpPr>
          <p:cNvPr id="13" name="Card"/>
          <p:cNvSpPr/>
          <p:nvPr/>
        </p:nvSpPr>
        <p:spPr>
          <a:xfrm>
            <a:off x="822960" y="2377440"/>
            <a:ext cx="242316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8E5"/>
            </a:solidFill>
          </a:ln>
        </p:spPr>
        <p:txBody>
          <a:bodyPr wrap="square" rtlCol="0" anchor="t"/>
          <a:lstStyle/>
          <a:p>
            <a:endParaRPr lang="en-US"/>
          </a:p>
        </p:txBody>
      </p:sp>
      <p:sp>
        <p:nvSpPr>
          <p:cNvPr id="14" name="Number 1"/>
          <p:cNvSpPr/>
          <p:nvPr/>
        </p:nvSpPr>
        <p:spPr>
          <a:xfrm>
            <a:off x="1051560" y="2606040"/>
            <a:ext cx="402336" cy="402336"/>
          </a:xfrm>
          <a:prstGeom prst="ellipse">
            <a:avLst/>
          </a:prstGeom>
          <a:solidFill>
            <a:srgbClr val="EAF6F3"/>
          </a:solidFill>
          <a:ln w="12700">
            <a:solidFill>
              <a:srgbClr val="BFE3D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300" b="1" dirty="0">
                <a:solidFill>
                  <a:srgbClr val="0B6F63"/>
                </a:solidFill>
                <a:latin typeface="IBM Plex Mono"/>
                <a:ea typeface="IBM Plex Mono"/>
                <a:cs typeface="IBM Plex Mono"/>
              </a:rPr>
              <a:t>1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1051560" y="3154680"/>
            <a:ext cx="19659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500" b="1" dirty="0">
                <a:solidFill>
                  <a:srgbClr val="14202B"/>
                </a:solidFill>
                <a:latin typeface="Sora"/>
                <a:ea typeface="Sora"/>
                <a:cs typeface="Sora"/>
              </a:rPr>
              <a:t>Get the guide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1051560" y="3611880"/>
            <a:ext cx="196596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1200" b="0" dirty="0">
                <a:solidFill>
                  <a:srgbClr val="33424D"/>
                </a:solidFill>
                <a:latin typeface="Inter"/>
                <a:ea typeface="Inter"/>
                <a:cs typeface="Inter"/>
              </a:rPr>
              <a:t>Free facilitation guide, consent form and station materials on GitHub</a:t>
            </a:r>
          </a:p>
        </p:txBody>
      </p:sp>
      <p:sp>
        <p:nvSpPr>
          <p:cNvPr id="17" name="Card"/>
          <p:cNvSpPr/>
          <p:nvPr/>
        </p:nvSpPr>
        <p:spPr>
          <a:xfrm>
            <a:off x="3520440" y="2377440"/>
            <a:ext cx="242316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8E5"/>
            </a:solidFill>
          </a:ln>
        </p:spPr>
        <p:txBody>
          <a:bodyPr wrap="square" rtlCol="0" anchor="t"/>
          <a:lstStyle/>
          <a:p>
            <a:endParaRPr lang="en-US"/>
          </a:p>
        </p:txBody>
      </p:sp>
      <p:sp>
        <p:nvSpPr>
          <p:cNvPr id="18" name="Number 2"/>
          <p:cNvSpPr/>
          <p:nvPr/>
        </p:nvSpPr>
        <p:spPr>
          <a:xfrm>
            <a:off x="3749040" y="2606040"/>
            <a:ext cx="402336" cy="402336"/>
          </a:xfrm>
          <a:prstGeom prst="ellipse">
            <a:avLst/>
          </a:prstGeom>
          <a:solidFill>
            <a:srgbClr val="EAF6F3"/>
          </a:solidFill>
          <a:ln w="12700">
            <a:solidFill>
              <a:srgbClr val="BFE3D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300" b="1" dirty="0">
                <a:solidFill>
                  <a:srgbClr val="0B6F63"/>
                </a:solidFill>
                <a:latin typeface="IBM Plex Mono"/>
                <a:ea typeface="IBM Plex Mono"/>
                <a:cs typeface="IBM Plex Mono"/>
              </a:rPr>
              <a:t>2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3749040" y="3154680"/>
            <a:ext cx="19659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500" b="1" dirty="0">
                <a:solidFill>
                  <a:srgbClr val="14202B"/>
                </a:solidFill>
                <a:latin typeface="Sora"/>
                <a:ea typeface="Sora"/>
                <a:cs typeface="Sora"/>
              </a:rPr>
              <a:t>Invite colleagues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3749040" y="3611880"/>
            <a:ext cx="196596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1200" b="0" dirty="0">
                <a:solidFill>
                  <a:srgbClr val="33424D"/>
                </a:solidFill>
                <a:latin typeface="Inter"/>
                <a:ea typeface="Inter"/>
                <a:cs typeface="Inter"/>
              </a:rPr>
              <a:t>15–25 people, ideally a mix of roles and levels</a:t>
            </a:r>
          </a:p>
        </p:txBody>
      </p:sp>
      <p:sp>
        <p:nvSpPr>
          <p:cNvPr id="21" name="Card"/>
          <p:cNvSpPr/>
          <p:nvPr/>
        </p:nvSpPr>
        <p:spPr>
          <a:xfrm>
            <a:off x="6217920" y="2377440"/>
            <a:ext cx="242316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8E5"/>
            </a:solidFill>
          </a:ln>
        </p:spPr>
        <p:txBody>
          <a:bodyPr wrap="square" rtlCol="0" anchor="t"/>
          <a:lstStyle/>
          <a:p>
            <a:endParaRPr lang="en-US"/>
          </a:p>
        </p:txBody>
      </p:sp>
      <p:sp>
        <p:nvSpPr>
          <p:cNvPr id="22" name="Number 3"/>
          <p:cNvSpPr/>
          <p:nvPr/>
        </p:nvSpPr>
        <p:spPr>
          <a:xfrm>
            <a:off x="6446520" y="2606040"/>
            <a:ext cx="402336" cy="402336"/>
          </a:xfrm>
          <a:prstGeom prst="ellipse">
            <a:avLst/>
          </a:prstGeom>
          <a:solidFill>
            <a:srgbClr val="EAF6F3"/>
          </a:solidFill>
          <a:ln w="12700">
            <a:solidFill>
              <a:srgbClr val="BFE3D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300" b="1" dirty="0">
                <a:solidFill>
                  <a:srgbClr val="0B6F63"/>
                </a:solidFill>
                <a:latin typeface="IBM Plex Mono"/>
                <a:ea typeface="IBM Plex Mono"/>
                <a:cs typeface="IBM Plex Mono"/>
              </a:rPr>
              <a:t>3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6446520" y="3154680"/>
            <a:ext cx="19659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500" b="1" dirty="0">
                <a:solidFill>
                  <a:srgbClr val="14202B"/>
                </a:solidFill>
                <a:latin typeface="Sora"/>
                <a:ea typeface="Sora"/>
                <a:cs typeface="Sora"/>
              </a:rPr>
              <a:t>Host the session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6446520" y="3611880"/>
            <a:ext cx="196596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1200" b="0" dirty="0">
                <a:solidFill>
                  <a:srgbClr val="33424D"/>
                </a:solidFill>
                <a:latin typeface="Inter"/>
                <a:ea typeface="Inter"/>
                <a:cs typeface="Inter"/>
              </a:rPr>
              <a:t>100–120 minutes on five reflective questions about AI</a:t>
            </a:r>
          </a:p>
        </p:txBody>
      </p:sp>
      <p:sp>
        <p:nvSpPr>
          <p:cNvPr id="25" name="Card"/>
          <p:cNvSpPr/>
          <p:nvPr/>
        </p:nvSpPr>
        <p:spPr>
          <a:xfrm>
            <a:off x="8915400" y="2377440"/>
            <a:ext cx="242316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8E5"/>
            </a:solidFill>
          </a:ln>
        </p:spPr>
        <p:txBody>
          <a:bodyPr wrap="square" rtlCol="0" anchor="t"/>
          <a:lstStyle/>
          <a:p>
            <a:endParaRPr lang="en-US"/>
          </a:p>
        </p:txBody>
      </p:sp>
      <p:sp>
        <p:nvSpPr>
          <p:cNvPr id="26" name="Number 4"/>
          <p:cNvSpPr/>
          <p:nvPr/>
        </p:nvSpPr>
        <p:spPr>
          <a:xfrm>
            <a:off x="9144000" y="2606040"/>
            <a:ext cx="402336" cy="402336"/>
          </a:xfrm>
          <a:prstGeom prst="ellipse">
            <a:avLst/>
          </a:prstGeom>
          <a:solidFill>
            <a:srgbClr val="0F9E8E"/>
          </a:solidFill>
          <a:ln w="12700">
            <a:solidFill>
              <a:srgbClr val="0F9E8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IBM Plex Mono"/>
                <a:ea typeface="IBM Plex Mono"/>
                <a:cs typeface="IBM Plex Mono"/>
              </a:rPr>
              <a:t>4</a:t>
            </a:r>
          </a:p>
        </p:txBody>
      </p:sp>
      <p:sp>
        <p:nvSpPr>
          <p:cNvPr id="27" name="Text 27"/>
          <p:cNvSpPr txBox="1"/>
          <p:nvPr/>
        </p:nvSpPr>
        <p:spPr>
          <a:xfrm>
            <a:off x="9144000" y="3154680"/>
            <a:ext cx="19659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500" b="1" dirty="0">
                <a:solidFill>
                  <a:srgbClr val="14202B"/>
                </a:solidFill>
                <a:latin typeface="Sora"/>
                <a:ea typeface="Sora"/>
                <a:cs typeface="Sora"/>
              </a:rPr>
              <a:t>Share the outcomes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9144000" y="3611880"/>
            <a:ext cx="196596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1200" b="0" dirty="0">
                <a:solidFill>
                  <a:srgbClr val="33424D"/>
                </a:solidFill>
                <a:latin typeface="Inter"/>
                <a:ea typeface="Inter"/>
                <a:cs typeface="Inter"/>
              </a:rPr>
              <a:t>Anonymized and scrubbed of sensitive details, they feed the research</a:t>
            </a:r>
          </a:p>
        </p:txBody>
      </p:sp>
      <p:sp>
        <p:nvSpPr>
          <p:cNvPr id="29" name="Card"/>
          <p:cNvSpPr/>
          <p:nvPr/>
        </p:nvSpPr>
        <p:spPr>
          <a:xfrm>
            <a:off x="822960" y="4846320"/>
            <a:ext cx="10515600" cy="914400"/>
          </a:xfrm>
          <a:prstGeom prst="roundRect">
            <a:avLst>
              <a:gd name="adj" fmla="val 6000"/>
            </a:avLst>
          </a:prstGeom>
          <a:solidFill>
            <a:srgbClr val="EAF6F3"/>
          </a:solidFill>
          <a:ln w="12700">
            <a:solidFill>
              <a:srgbClr val="BFE3DC"/>
            </a:solidFill>
          </a:ln>
        </p:spPr>
        <p:txBody>
          <a:bodyPr wrap="square" rtlCol="0" anchor="t"/>
          <a:lstStyle/>
          <a:p>
            <a:endParaRPr lang="en-US"/>
          </a:p>
        </p:txBody>
      </p:sp>
      <p:sp>
        <p:nvSpPr>
          <p:cNvPr id="30" name="Text 30"/>
          <p:cNvSpPr txBox="1"/>
          <p:nvPr/>
        </p:nvSpPr>
        <p:spPr>
          <a:xfrm>
            <a:off x="1097280" y="4846320"/>
            <a:ext cx="164592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1" spc="150" dirty="0">
                <a:solidFill>
                  <a:srgbClr val="0B6F63"/>
                </a:solidFill>
                <a:latin typeface="IBM Plex Mono"/>
                <a:ea typeface="IBM Plex Mono"/>
                <a:cs typeface="IBM Plex Mono"/>
              </a:rPr>
              <a:t>WHAT YOU GET</a:t>
            </a:r>
          </a:p>
        </p:txBody>
      </p:sp>
      <p:sp>
        <p:nvSpPr>
          <p:cNvPr id="31" name="Text 31"/>
          <p:cNvSpPr txBox="1"/>
          <p:nvPr/>
        </p:nvSpPr>
        <p:spPr>
          <a:xfrm>
            <a:off x="2743200" y="4846320"/>
            <a:ext cx="832104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1350" b="0" dirty="0">
                <a:solidFill>
                  <a:srgbClr val="14202B"/>
                </a:solidFill>
                <a:latin typeface="Inter"/>
                <a:ea typeface="Inter"/>
                <a:cs typeface="Inter"/>
              </a:rPr>
              <a:t>A rich picture of how your people see AI: opportunities, risks and hopes. A strong starting point for your own AI governance.</a:t>
            </a:r>
          </a:p>
        </p:txBody>
      </p:sp>
      <p:sp>
        <p:nvSpPr>
          <p:cNvPr id="32" name="Footer"/>
          <p:cNvSpPr txBox="1"/>
          <p:nvPr/>
        </p:nvSpPr>
        <p:spPr>
          <a:xfrm>
            <a:off x="822960" y="6419088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00" b="0" dirty="0">
                <a:solidFill>
                  <a:srgbClr val="5B6B77"/>
                </a:solidFill>
                <a:latin typeface="Inter"/>
                <a:ea typeface="Inter"/>
                <a:cs typeface="Inter"/>
              </a:rPr>
              <a:t>Reflexive AI Research Initiative · Lucid Institute for Organizational Science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44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Decorative backgrou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Brand bar 1"/>
          <p:cNvSpPr/>
          <p:nvPr/>
        </p:nvSpPr>
        <p:spPr>
          <a:xfrm>
            <a:off x="0" y="0"/>
            <a:ext cx="4063898" cy="146304"/>
          </a:xfrm>
          <a:prstGeom prst="rect">
            <a:avLst/>
          </a:prstGeom>
          <a:solidFill>
            <a:srgbClr val="0F9E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Brand bar 2"/>
          <p:cNvSpPr/>
          <p:nvPr/>
        </p:nvSpPr>
        <p:spPr>
          <a:xfrm>
            <a:off x="4063898" y="0"/>
            <a:ext cx="4063898" cy="146304"/>
          </a:xfrm>
          <a:prstGeom prst="rect">
            <a:avLst/>
          </a:prstGeom>
          <a:solidFill>
            <a:srgbClr val="2B3F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Brand bar 3"/>
          <p:cNvSpPr/>
          <p:nvPr/>
        </p:nvSpPr>
        <p:spPr>
          <a:xfrm>
            <a:off x="8127797" y="0"/>
            <a:ext cx="4063898" cy="146304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Eyebrow"/>
          <p:cNvSpPr txBox="1"/>
          <p:nvPr/>
        </p:nvSpPr>
        <p:spPr>
          <a:xfrm>
            <a:off x="822960" y="201168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300" b="1" spc="300" dirty="0">
                <a:solidFill>
                  <a:srgbClr val="5EE6D6"/>
                </a:solidFill>
                <a:latin typeface="IBM Plex Mono"/>
                <a:ea typeface="IBM Plex Mono"/>
                <a:cs typeface="IBM Plex Mono"/>
              </a:rPr>
              <a:t>06 · QUESTIONS &amp; ANSWERS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786384" y="2468880"/>
            <a:ext cx="10515600" cy="10058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4000" b="1" dirty="0">
                <a:solidFill>
                  <a:srgbClr val="FFFFFF"/>
                </a:solidFill>
                <a:latin typeface="Sora"/>
                <a:ea typeface="Sora"/>
                <a:cs typeface="Sora"/>
              </a:rPr>
              <a:t>What would help you decide to join?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822960" y="3657600"/>
            <a:ext cx="1005840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800" b="0" dirty="0">
                <a:solidFill>
                  <a:srgbClr val="D7E6E4"/>
                </a:solidFill>
                <a:latin typeface="Inter"/>
                <a:ea typeface="Inter"/>
                <a:cs typeface="Inter"/>
              </a:rPr>
              <a:t>Sign up or ask questions anytime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822960" y="4206240"/>
            <a:ext cx="10515600" cy="8229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Inter"/>
                <a:ea typeface="Inter"/>
                <a:cs typeface="Inter"/>
              </a:rPr>
              <a:t>info@reflexiveai.org   ·   reflexiveai.org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en-US" sz="1400" b="0" u="sng" dirty="0">
                <a:solidFill>
                  <a:srgbClr val="FFFFFF"/>
                </a:solidFill>
                <a:latin typeface="Inter"/>
                <a:ea typeface="Inter"/>
                <a:cs typeface="Inter"/>
              </a:rPr>
              <a:t>github.com/LucidInstitute/Reflexive-AI-Initiative</a:t>
            </a:r>
          </a:p>
        </p:txBody>
      </p:sp>
      <p:sp>
        <p:nvSpPr>
          <p:cNvPr id="15" name="Footer"/>
          <p:cNvSpPr txBox="1"/>
          <p:nvPr/>
        </p:nvSpPr>
        <p:spPr>
          <a:xfrm>
            <a:off x="822960" y="6419088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00" b="0" dirty="0">
                <a:solidFill>
                  <a:srgbClr val="A9BCCB"/>
                </a:solidFill>
                <a:latin typeface="Inter"/>
                <a:ea typeface="Inter"/>
                <a:cs typeface="Inter"/>
              </a:rPr>
              <a:t>Reflexive AI Research Initiative · Lucid Institute for Organizational Science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1994</Words>
  <Application>Microsoft Office PowerPoint</Application>
  <PresentationFormat>Widescreen</PresentationFormat>
  <Paragraphs>273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Inter</vt:lpstr>
      <vt:lpstr>Sora</vt:lpstr>
      <vt:lpstr>IBM Plex Mono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Chistiaan Verwijs</cp:lastModifiedBy>
  <cp:revision>44</cp:revision>
  <dcterms:created xsi:type="dcterms:W3CDTF">2026-08-16T17:47:46Z</dcterms:created>
  <dcterms:modified xsi:type="dcterms:W3CDTF">2026-10-19T08:39:08Z</dcterms:modified>
</cp:coreProperties>
</file>