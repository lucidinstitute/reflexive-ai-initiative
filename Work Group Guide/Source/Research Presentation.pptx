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12192000"/>
  <p:embeddedFontLst>
    <p:embeddedFont>
      <p:font typeface="IBM Plex Mono" panose="020B0509050203000203" pitchFamily="49" charset="0"/>
      <p:regular r:id="rId12"/>
      <p:bold r:id="rId13"/>
    </p:embeddedFont>
    <p:embeddedFont>
      <p:font typeface="Inter"/>
      <p:regular r:id="rId14"/>
      <p:bold r:id="rId15"/>
    </p:embeddedFont>
    <p:embeddedFont>
      <p:font typeface="Sora" pitchFamily="2" charset="0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83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671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Shape 3"/>
          <p:cNvSpPr/>
          <p:nvPr/>
        </p:nvSpPr>
        <p:spPr>
          <a:xfrm>
            <a:off x="822960" y="685800"/>
            <a:ext cx="301752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7" name="Image 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822960"/>
            <a:ext cx="2187245" cy="4754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1965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REFLEXIVE AI RESEARCH INITIATIVE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86384" y="237744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Human-Centered AI</a:t>
            </a:r>
            <a:endParaRPr lang="en-US" sz="5200" dirty="0"/>
          </a:p>
        </p:txBody>
      </p:sp>
      <p:sp>
        <p:nvSpPr>
          <p:cNvPr id="10" name="Text 6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7E6E4"/>
                </a:solidFill>
                <a:latin typeface="Inter" pitchFamily="34" charset="0"/>
                <a:ea typeface="Inter" pitchFamily="34" charset="-122"/>
              </a:rPr>
              <a:t>Overview of </a:t>
            </a:r>
            <a:r>
              <a:rPr lang="en-US" dirty="0">
                <a:solidFill>
                  <a:srgbClr val="D7E6E4"/>
                </a:solidFill>
                <a:latin typeface="Inter" pitchFamily="34" charset="0"/>
                <a:ea typeface="Inter" pitchFamily="34" charset="-122"/>
              </a:rPr>
              <a:t>relevant insights from scientific research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22960" y="4692317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minutes	</a:t>
            </a:r>
          </a:p>
          <a:p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	</a:t>
            </a:r>
          </a:p>
          <a:p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details &amp; sources @ </a:t>
            </a:r>
            <a:r>
              <a:rPr lang="en-US" sz="1400" u="sng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https://github.com/LucidInstitute/Reflexive-AI-Initiative/tree/main/Literature</a:t>
            </a:r>
            <a:endParaRPr lang="en-US" sz="1400" u="sng" dirty="0"/>
          </a:p>
        </p:txBody>
      </p:sp>
      <p:sp>
        <p:nvSpPr>
          <p:cNvPr id="12" name="Text 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C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DEFINING AI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" y="14630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can take over human thinking, and technology is never neutral.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22960" y="3108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KEY FINDINGS</a:t>
            </a:r>
            <a:endParaRPr lang="en-US" sz="1050" dirty="0"/>
          </a:p>
        </p:txBody>
      </p:sp>
      <p:sp>
        <p:nvSpPr>
          <p:cNvPr id="100" name="Shape 10"/>
          <p:cNvSpPr/>
          <p:nvPr/>
        </p:nvSpPr>
        <p:spPr>
          <a:xfrm>
            <a:off x="822960" y="370332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1</a:t>
            </a:r>
          </a:p>
        </p:txBody>
      </p:sp>
      <p:sp>
        <p:nvSpPr>
          <p:cNvPr id="101" name="Text 11"/>
          <p:cNvSpPr/>
          <p:nvPr/>
        </p:nvSpPr>
        <p:spPr>
          <a:xfrm>
            <a:off x="1353312" y="365760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OECD definition.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A machine-based system that infers from input how to generate predictions, content, recommendations or decisions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(OECD, 2024)</a:t>
            </a:r>
            <a:r>
              <a:rPr lang="en-US" sz="1100" dirty="0">
                <a:solidFill>
                  <a:schemeClr val="tx2"/>
                </a:solidFill>
                <a:latin typeface="Inter"/>
                <a:ea typeface="Inter"/>
                <a:cs typeface="Inter"/>
              </a:rPr>
              <a:t>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More simply: “Computers that do the sorts of things minds can do”</a:t>
            </a:r>
            <a:r>
              <a:rPr lang="en-US" sz="12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 (Boden, 2016).</a:t>
            </a:r>
          </a:p>
        </p:txBody>
      </p:sp>
      <p:sp>
        <p:nvSpPr>
          <p:cNvPr id="102" name="Shape 10"/>
          <p:cNvSpPr/>
          <p:nvPr/>
        </p:nvSpPr>
        <p:spPr>
          <a:xfrm>
            <a:off x="6217920" y="370332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2</a:t>
            </a:r>
          </a:p>
        </p:txBody>
      </p:sp>
      <p:sp>
        <p:nvSpPr>
          <p:cNvPr id="103" name="Text 11"/>
          <p:cNvSpPr/>
          <p:nvPr/>
        </p:nvSpPr>
        <p:spPr>
          <a:xfrm>
            <a:off x="6748272" y="365760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Minds, delegated.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Unlike earlier revolutions, thinking and creativity can now be delegated, not only physical action.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(Boden, 2016; Hilbert, 2020).</a:t>
            </a:r>
            <a:r>
              <a:rPr lang="en-US" sz="11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Robotics will also replace more physical action.</a:t>
            </a:r>
            <a:endParaRPr lang="en-US" sz="1300" dirty="0">
              <a:solidFill>
                <a:srgbClr val="6B7C88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822960" y="49377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3</a:t>
            </a:r>
          </a:p>
        </p:txBody>
      </p:sp>
      <p:sp>
        <p:nvSpPr>
          <p:cNvPr id="105" name="Text 11"/>
          <p:cNvSpPr/>
          <p:nvPr/>
        </p:nvSpPr>
        <p:spPr>
          <a:xfrm>
            <a:off x="1353312" y="489204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Technology embodies power.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It shapes how we see the world and imposes behaviors on people.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(Winner, 1985; Latour, 1992)</a:t>
            </a:r>
          </a:p>
        </p:txBody>
      </p:sp>
      <p:sp>
        <p:nvSpPr>
          <p:cNvPr id="106" name="Shape 10"/>
          <p:cNvSpPr/>
          <p:nvPr/>
        </p:nvSpPr>
        <p:spPr>
          <a:xfrm>
            <a:off x="6217920" y="49377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4</a:t>
            </a:r>
          </a:p>
        </p:txBody>
      </p:sp>
      <p:sp>
        <p:nvSpPr>
          <p:cNvPr id="107" name="Text 11"/>
          <p:cNvSpPr/>
          <p:nvPr/>
        </p:nvSpPr>
        <p:spPr>
          <a:xfrm>
            <a:off x="6748272" y="489204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Bias carries over.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AI can perpetuate biases already present in its training data.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(Barocas &amp; Selbst, 2016; Noble, 2018)</a:t>
            </a:r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AND PRODUCTIVITY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" y="14630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Individual gains are real, but they do not automatically become team gains.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22960" y="3108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KEY FINDINGS</a:t>
            </a:r>
            <a:endParaRPr lang="en-US" sz="1050" dirty="0"/>
          </a:p>
        </p:txBody>
      </p:sp>
      <p:sp>
        <p:nvSpPr>
          <p:cNvPr id="100" name="Shape 10"/>
          <p:cNvSpPr/>
          <p:nvPr/>
        </p:nvSpPr>
        <p:spPr>
          <a:xfrm>
            <a:off x="822960" y="370332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1</a:t>
            </a:r>
          </a:p>
        </p:txBody>
      </p:sp>
      <p:sp>
        <p:nvSpPr>
          <p:cNvPr id="101" name="Text 11"/>
          <p:cNvSpPr/>
          <p:nvPr/>
        </p:nvSpPr>
        <p:spPr>
          <a:xfrm>
            <a:off x="1353312" y="365760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Firm level.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Positive productivity effects across sectors, stronger when AI is integrated into work activities.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(Necula et al., 2024; Czarnitzki et al., 2023)</a:t>
            </a:r>
          </a:p>
        </p:txBody>
      </p:sp>
      <p:sp>
        <p:nvSpPr>
          <p:cNvPr id="102" name="Shape 10"/>
          <p:cNvSpPr/>
          <p:nvPr/>
        </p:nvSpPr>
        <p:spPr>
          <a:xfrm>
            <a:off x="6217920" y="370332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2</a:t>
            </a:r>
          </a:p>
        </p:txBody>
      </p:sp>
      <p:sp>
        <p:nvSpPr>
          <p:cNvPr id="103" name="Text 11"/>
          <p:cNvSpPr/>
          <p:nvPr/>
        </p:nvSpPr>
        <p:spPr>
          <a:xfrm>
            <a:off x="6748272" y="365760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Employee level.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In a survey of 359 bank employees, AI use raised productivity and engagement.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(Gusti et al., 2024)</a:t>
            </a:r>
          </a:p>
        </p:txBody>
      </p:sp>
      <p:sp>
        <p:nvSpPr>
          <p:cNvPr id="104" name="Shape 10"/>
          <p:cNvSpPr/>
          <p:nvPr/>
        </p:nvSpPr>
        <p:spPr>
          <a:xfrm>
            <a:off x="822960" y="49377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3</a:t>
            </a:r>
          </a:p>
        </p:txBody>
      </p:sp>
      <p:sp>
        <p:nvSpPr>
          <p:cNvPr id="105" name="Text 11"/>
          <p:cNvSpPr/>
          <p:nvPr/>
        </p:nvSpPr>
        <p:spPr>
          <a:xfrm>
            <a:off x="1353312" y="489204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Perception gap.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Developers felt more productive, yet commit activity did not change and experienced developers were not faster.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(Stray et al., 2026; Becker et al., 2025)</a:t>
            </a:r>
          </a:p>
        </p:txBody>
      </p:sp>
      <p:sp>
        <p:nvSpPr>
          <p:cNvPr id="106" name="Shape 10"/>
          <p:cNvSpPr/>
          <p:nvPr/>
        </p:nvSpPr>
        <p:spPr>
          <a:xfrm>
            <a:off x="6217920" y="49377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4</a:t>
            </a:r>
          </a:p>
        </p:txBody>
      </p:sp>
      <p:sp>
        <p:nvSpPr>
          <p:cNvPr id="107" name="Text 11"/>
          <p:cNvSpPr/>
          <p:nvPr/>
        </p:nvSpPr>
        <p:spPr>
          <a:xfrm>
            <a:off x="6748272" y="489204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Lost downstream.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Local gains are absorbed by workflow and organizational constraints.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(DORA, 2025; Russo, 2026)</a:t>
            </a:r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HUMAN EXPERIENCE OF WORK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" y="14630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Whether AI helps or harms depends on trust, fit and culture.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22960" y="3108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KEY FINDINGS</a:t>
            </a:r>
            <a:endParaRPr lang="en-US" sz="1050" dirty="0"/>
          </a:p>
        </p:txBody>
      </p:sp>
      <p:sp>
        <p:nvSpPr>
          <p:cNvPr id="100" name="Shape 10"/>
          <p:cNvSpPr/>
          <p:nvPr/>
        </p:nvSpPr>
        <p:spPr>
          <a:xfrm>
            <a:off x="822960" y="370332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1</a:t>
            </a:r>
          </a:p>
        </p:txBody>
      </p:sp>
      <p:sp>
        <p:nvSpPr>
          <p:cNvPr id="101" name="Text 11"/>
          <p:cNvSpPr/>
          <p:nvPr/>
        </p:nvSpPr>
        <p:spPr>
          <a:xfrm>
            <a:off x="1353312" y="365760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Engagement.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AI raised engagement in two manufacturers, unless self-efficacy is low or jobs were cut.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(Tortorella et al., 2025)</a:t>
            </a:r>
          </a:p>
        </p:txBody>
      </p:sp>
      <p:sp>
        <p:nvSpPr>
          <p:cNvPr id="102" name="Shape 10"/>
          <p:cNvSpPr/>
          <p:nvPr/>
        </p:nvSpPr>
        <p:spPr>
          <a:xfrm>
            <a:off x="6217920" y="370332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2</a:t>
            </a:r>
          </a:p>
        </p:txBody>
      </p:sp>
      <p:sp>
        <p:nvSpPr>
          <p:cNvPr id="103" name="Text 11"/>
          <p:cNvSpPr/>
          <p:nvPr/>
        </p:nvSpPr>
        <p:spPr>
          <a:xfrm>
            <a:off x="6748272" y="365760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Trust.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Low employer trust sharply reduces engagement; AI may bring an “alienational” contract.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(Braganza et al., 2021)</a:t>
            </a:r>
          </a:p>
        </p:txBody>
      </p:sp>
      <p:sp>
        <p:nvSpPr>
          <p:cNvPr id="104" name="Shape 10"/>
          <p:cNvSpPr/>
          <p:nvPr/>
        </p:nvSpPr>
        <p:spPr>
          <a:xfrm>
            <a:off x="822960" y="49377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3</a:t>
            </a:r>
          </a:p>
        </p:txBody>
      </p:sp>
      <p:sp>
        <p:nvSpPr>
          <p:cNvPr id="105" name="Text 11"/>
          <p:cNvSpPr/>
          <p:nvPr/>
        </p:nvSpPr>
        <p:spPr>
          <a:xfrm>
            <a:off x="1353312" y="489204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Preconditions.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Task fit, transparency and expertise. Black boxes breed aversion; bureaucracy builds “algorithmic cages”.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(Bankins et al., 2023; Meijer et al., 2021)</a:t>
            </a:r>
          </a:p>
        </p:txBody>
      </p:sp>
      <p:sp>
        <p:nvSpPr>
          <p:cNvPr id="106" name="Shape 10"/>
          <p:cNvSpPr/>
          <p:nvPr/>
        </p:nvSpPr>
        <p:spPr>
          <a:xfrm>
            <a:off x="6217920" y="49377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4</a:t>
            </a:r>
          </a:p>
        </p:txBody>
      </p:sp>
      <p:sp>
        <p:nvSpPr>
          <p:cNvPr id="107" name="Text 11"/>
          <p:cNvSpPr/>
          <p:nvPr/>
        </p:nvSpPr>
        <p:spPr>
          <a:xfrm>
            <a:off x="6748272" y="489204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Six displacements.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Software engineers report epistemic, identity, normative, phenomenological, social and meaning shifts.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(Tavantzis et al., in press)</a:t>
            </a:r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 AND SOCIETY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" y="14630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AI can amplify existing inequality unless we design purposefully against it.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22960" y="3108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KEY FINDINGS</a:t>
            </a:r>
            <a:endParaRPr lang="en-US" sz="1050" dirty="0"/>
          </a:p>
        </p:txBody>
      </p:sp>
      <p:sp>
        <p:nvSpPr>
          <p:cNvPr id="100" name="Shape 10"/>
          <p:cNvSpPr/>
          <p:nvPr/>
        </p:nvSpPr>
        <p:spPr>
          <a:xfrm>
            <a:off x="822960" y="370332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1</a:t>
            </a:r>
          </a:p>
        </p:txBody>
      </p:sp>
      <p:sp>
        <p:nvSpPr>
          <p:cNvPr id="101" name="Text 11"/>
          <p:cNvSpPr/>
          <p:nvPr/>
        </p:nvSpPr>
        <p:spPr>
          <a:xfrm>
            <a:off x="1353312" y="365760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Bias in practice.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A widely used health system under-recommended treatment for black relative to white patients.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(Obermeyer et al., 2019)</a:t>
            </a:r>
          </a:p>
        </p:txBody>
      </p:sp>
      <p:sp>
        <p:nvSpPr>
          <p:cNvPr id="102" name="Shape 10"/>
          <p:cNvSpPr/>
          <p:nvPr/>
        </p:nvSpPr>
        <p:spPr>
          <a:xfrm>
            <a:off x="6217920" y="370332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2</a:t>
            </a:r>
          </a:p>
        </p:txBody>
      </p:sp>
      <p:sp>
        <p:nvSpPr>
          <p:cNvPr id="103" name="Text 11"/>
          <p:cNvSpPr/>
          <p:nvPr/>
        </p:nvSpPr>
        <p:spPr>
          <a:xfrm>
            <a:off x="6748272" y="365760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Hard to remove.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Mitigation strategies exist, but implicit biases are difficult to eradicate.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(Nazer et al., 2023; Howard &amp; Borenstein, 2017)</a:t>
            </a:r>
          </a:p>
        </p:txBody>
      </p:sp>
      <p:sp>
        <p:nvSpPr>
          <p:cNvPr id="104" name="Shape 10"/>
          <p:cNvSpPr/>
          <p:nvPr/>
        </p:nvSpPr>
        <p:spPr>
          <a:xfrm>
            <a:off x="822960" y="49377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3</a:t>
            </a:r>
          </a:p>
        </p:txBody>
      </p:sp>
      <p:sp>
        <p:nvSpPr>
          <p:cNvPr id="105" name="Text 11"/>
          <p:cNvSpPr/>
          <p:nvPr/>
        </p:nvSpPr>
        <p:spPr>
          <a:xfrm>
            <a:off x="1353312" y="489204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Digital divide.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Inequality can grow between households that can use AI and those that cannot.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(Cornelli et al., 2023)</a:t>
            </a:r>
          </a:p>
        </p:txBody>
      </p:sp>
      <p:sp>
        <p:nvSpPr>
          <p:cNvPr id="106" name="Shape 10"/>
          <p:cNvSpPr/>
          <p:nvPr/>
        </p:nvSpPr>
        <p:spPr>
          <a:xfrm>
            <a:off x="6217920" y="49377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4</a:t>
            </a:r>
          </a:p>
        </p:txBody>
      </p:sp>
      <p:sp>
        <p:nvSpPr>
          <p:cNvPr id="107" name="Text 11"/>
          <p:cNvSpPr/>
          <p:nvPr/>
        </p:nvSpPr>
        <p:spPr>
          <a:xfrm>
            <a:off x="6748272" y="489204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Labor market.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Automation can replace low-skilled tasks, leaving some workers worse off despite seeming economic growth.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(Agrawal et al., 2019; Li &amp; Nichols, 2026)</a:t>
            </a:r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HUMAN-CENTERED AI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" y="14630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Human-centered AI balances human control and automation, guided by shared values.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22960" y="3108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KEY FINDINGS</a:t>
            </a:r>
            <a:endParaRPr lang="en-US" sz="1050" dirty="0"/>
          </a:p>
        </p:txBody>
      </p:sp>
      <p:sp>
        <p:nvSpPr>
          <p:cNvPr id="100" name="Shape 10"/>
          <p:cNvSpPr/>
          <p:nvPr/>
        </p:nvSpPr>
        <p:spPr>
          <a:xfrm>
            <a:off x="822960" y="370332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1</a:t>
            </a:r>
          </a:p>
        </p:txBody>
      </p:sp>
      <p:sp>
        <p:nvSpPr>
          <p:cNvPr id="101" name="Text 11"/>
          <p:cNvSpPr/>
          <p:nvPr/>
        </p:nvSpPr>
        <p:spPr>
          <a:xfrm>
            <a:off x="1353312" y="365760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One scale is not enough.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Early models run from no automation to full autonomy, as in self-driving cars, and force a choice. Too much control or too much automation can both add risk.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(Sheridan &amp; Verplank, 1978; SAE, 2014)</a:t>
            </a:r>
          </a:p>
        </p:txBody>
      </p:sp>
      <p:sp>
        <p:nvSpPr>
          <p:cNvPr id="102" name="Shape 10"/>
          <p:cNvSpPr/>
          <p:nvPr/>
        </p:nvSpPr>
        <p:spPr>
          <a:xfrm>
            <a:off x="6217920" y="370332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2</a:t>
            </a:r>
          </a:p>
        </p:txBody>
      </p:sp>
      <p:sp>
        <p:nvSpPr>
          <p:cNvPr id="103" name="Text 11"/>
          <p:cNvSpPr/>
          <p:nvPr/>
        </p:nvSpPr>
        <p:spPr>
          <a:xfrm>
            <a:off x="6748272" y="365760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Two dimensions.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Human control and computer automation are separate axes. Life-critical systems such as pacemakers and self-driving cars need both high to be reliable, safe and trustworthy.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(Shneiderman, 2020)</a:t>
            </a:r>
          </a:p>
        </p:txBody>
      </p:sp>
      <p:sp>
        <p:nvSpPr>
          <p:cNvPr id="104" name="Shape 10"/>
          <p:cNvSpPr/>
          <p:nvPr/>
        </p:nvSpPr>
        <p:spPr>
          <a:xfrm>
            <a:off x="822960" y="49377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3</a:t>
            </a:r>
          </a:p>
        </p:txBody>
      </p:sp>
      <p:sp>
        <p:nvSpPr>
          <p:cNvPr id="105" name="Text 11"/>
          <p:cNvSpPr/>
          <p:nvPr/>
        </p:nvSpPr>
        <p:spPr>
          <a:xfrm>
            <a:off x="1353312" y="489204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Copenhagen Manifesto.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35 scholars set five values and twelve principles on human dignity, autonomy and collective wellbeing, including human sovereignty and responsible management.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(Russo et al., 2024)</a:t>
            </a:r>
          </a:p>
        </p:txBody>
      </p:sp>
      <p:sp>
        <p:nvSpPr>
          <p:cNvPr id="106" name="Shape 10"/>
          <p:cNvSpPr/>
          <p:nvPr/>
        </p:nvSpPr>
        <p:spPr>
          <a:xfrm>
            <a:off x="6217920" y="49377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4</a:t>
            </a:r>
          </a:p>
        </p:txBody>
      </p:sp>
      <p:sp>
        <p:nvSpPr>
          <p:cNvPr id="107" name="Text 11"/>
          <p:cNvSpPr/>
          <p:nvPr/>
        </p:nvSpPr>
        <p:spPr>
          <a:xfrm>
            <a:off x="6748272" y="489204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Working definition.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No agreed definition yet. Our draft: efficient work while people stay in control, motivated, connected, and free to question, change or reject AI decisions.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(Initiative draft)</a:t>
            </a:r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GOVERNANCE OF AI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" y="14630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Governance must turn principles into structures, processes and enforcement.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822960" y="3108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// WHERE TO FOCUS</a:t>
            </a:r>
            <a:endParaRPr lang="en-US" sz="1050" dirty="0"/>
          </a:p>
        </p:txBody>
      </p:sp>
      <p:sp>
        <p:nvSpPr>
          <p:cNvPr id="100" name="Shape 10"/>
          <p:cNvSpPr/>
          <p:nvPr/>
        </p:nvSpPr>
        <p:spPr>
          <a:xfrm>
            <a:off x="822960" y="370332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1</a:t>
            </a:r>
          </a:p>
        </p:txBody>
      </p:sp>
      <p:sp>
        <p:nvSpPr>
          <p:cNvPr id="101" name="Text 11"/>
          <p:cNvSpPr/>
          <p:nvPr/>
        </p:nvSpPr>
        <p:spPr>
          <a:xfrm>
            <a:off x="1353312" y="365760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Answer how, not just what.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Ethical guidelines say what, not how, and can lose to commercial interests. Define structures, processes and relational mechanisms, with enforcement.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(Mittelstadt, 2019; Mäntymäki et al., 2022)</a:t>
            </a:r>
          </a:p>
        </p:txBody>
      </p:sp>
      <p:sp>
        <p:nvSpPr>
          <p:cNvPr id="102" name="Shape 10"/>
          <p:cNvSpPr/>
          <p:nvPr/>
        </p:nvSpPr>
        <p:spPr>
          <a:xfrm>
            <a:off x="6217920" y="370332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2</a:t>
            </a:r>
          </a:p>
        </p:txBody>
      </p:sp>
      <p:sp>
        <p:nvSpPr>
          <p:cNvPr id="103" name="Text 11"/>
          <p:cNvSpPr/>
          <p:nvPr/>
        </p:nvSpPr>
        <p:spPr>
          <a:xfrm>
            <a:off x="6748272" y="365760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Cover who, what, when and how.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Define who governs, what is governed, when across the lifecycle, and how through policies, tools and models. Think system-level, not just algorithm ethics.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(Batool et al., 2025; Lu et al., 2022)</a:t>
            </a:r>
          </a:p>
        </p:txBody>
      </p:sp>
      <p:sp>
        <p:nvSpPr>
          <p:cNvPr id="104" name="Shape 10"/>
          <p:cNvSpPr/>
          <p:nvPr/>
        </p:nvSpPr>
        <p:spPr>
          <a:xfrm>
            <a:off x="822960" y="49377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3</a:t>
            </a:r>
          </a:p>
        </p:txBody>
      </p:sp>
      <p:sp>
        <p:nvSpPr>
          <p:cNvPr id="105" name="Text 11"/>
          <p:cNvSpPr/>
          <p:nvPr/>
        </p:nvSpPr>
        <p:spPr>
          <a:xfrm>
            <a:off x="1353312" y="489204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Go beyond fairness and privacy.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Most solutions address only one or two principles. Build in the human-centered ones: control, autonomy, wellbeing and creativity.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(Batool et al., 2025; Russo et al., 2024)</a:t>
            </a:r>
          </a:p>
        </p:txBody>
      </p:sp>
      <p:sp>
        <p:nvSpPr>
          <p:cNvPr id="106" name="Shape 10"/>
          <p:cNvSpPr/>
          <p:nvPr/>
        </p:nvSpPr>
        <p:spPr>
          <a:xfrm>
            <a:off x="6217920" y="4937760"/>
            <a:ext cx="402336" cy="402336"/>
          </a:xfrm>
          <a:prstGeom prst="ellipse">
            <a:avLst/>
          </a:prstGeom>
          <a:solidFill>
            <a:srgbClr val="EAF6F3"/>
          </a:solidFill>
          <a:ln w="12700">
            <a:solidFill>
              <a:srgbClr val="BFE3DC"/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sz="1300" b="1">
                <a:solidFill>
                  <a:srgbClr val="0B6F63"/>
                </a:solidFill>
                <a:latin typeface="IBM Plex Mono"/>
              </a:rPr>
              <a:t>4</a:t>
            </a:r>
          </a:p>
        </p:txBody>
      </p:sp>
      <p:sp>
        <p:nvSpPr>
          <p:cNvPr id="107" name="Text 11"/>
          <p:cNvSpPr/>
          <p:nvPr/>
        </p:nvSpPr>
        <p:spPr>
          <a:xfrm>
            <a:off x="6748272" y="4892040"/>
            <a:ext cx="4700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6F63"/>
                </a:solidFill>
                <a:latin typeface="Inter"/>
                <a:ea typeface="Inter"/>
                <a:cs typeface="Inter"/>
              </a:rPr>
              <a:t>Make it actionable. </a:t>
            </a:r>
            <a:r>
              <a:rPr lang="en-US" sz="130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Use concrete patterns, fit them to culture, leadership and up-skilling, and test with Action Research in real organizations. </a:t>
            </a:r>
            <a:r>
              <a:rPr lang="en-US" sz="1100" dirty="0">
                <a:solidFill>
                  <a:srgbClr val="6B7C88"/>
                </a:solidFill>
                <a:latin typeface="Inter"/>
                <a:ea typeface="Inter"/>
                <a:cs typeface="Inter"/>
              </a:rPr>
              <a:t>(Lu et al., 2022; Tavantzis et al., 2027)</a:t>
            </a:r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82296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B6F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GOVERNANCE FRAMEWORK THEMES · BASED ON TAVANTZIS ET AL., 2027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" y="14630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2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Twelve </a:t>
            </a:r>
            <a:r>
              <a:rPr lang="en-US" sz="3200" b="1" u="sng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starting</a:t>
            </a:r>
            <a:r>
              <a:rPr lang="en-US" sz="3200" b="1" dirty="0">
                <a:solidFill>
                  <a:srgbClr val="14202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themes for AI governance.</a:t>
            </a:r>
            <a:endParaRPr lang="en-US" sz="3200" dirty="0"/>
          </a:p>
        </p:txBody>
      </p:sp>
      <p:sp>
        <p:nvSpPr>
          <p:cNvPr id="200" name="Shape 200"/>
          <p:cNvSpPr/>
          <p:nvPr/>
        </p:nvSpPr>
        <p:spPr>
          <a:xfrm>
            <a:off x="822960" y="2377440"/>
            <a:ext cx="332232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01" name="Shape 201"/>
          <p:cNvSpPr/>
          <p:nvPr/>
        </p:nvSpPr>
        <p:spPr>
          <a:xfrm>
            <a:off x="1005840" y="2542032"/>
            <a:ext cx="2956560" cy="320040"/>
          </a:xfrm>
          <a:prstGeom prst="roundRect">
            <a:avLst>
              <a:gd name="adj" fmla="val 50000"/>
            </a:avLst>
          </a:prstGeom>
          <a:solidFill>
            <a:srgbClr val="EAF6F3"/>
          </a:solidFill>
          <a:ln w="12700">
            <a:solidFill>
              <a:srgbClr val="BFE3DC"/>
            </a:solidFill>
          </a:ln>
        </p:spPr>
        <p:txBody>
          <a:bodyPr wrap="square" lIns="0" tIns="0" rIns="0" bIns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spc="100" dirty="0">
                <a:solidFill>
                  <a:srgbClr val="0B6F63"/>
                </a:solidFill>
                <a:latin typeface="IBM Plex Mono"/>
                <a:ea typeface="IBM Plex Mono"/>
                <a:cs typeface="IBM Plex Mono"/>
              </a:rPr>
              <a:t>DIRECTION &amp; ACCOUNTABILITY</a:t>
            </a:r>
          </a:p>
        </p:txBody>
      </p:sp>
      <p:sp>
        <p:nvSpPr>
          <p:cNvPr id="202" name="Shape 202"/>
          <p:cNvSpPr/>
          <p:nvPr/>
        </p:nvSpPr>
        <p:spPr>
          <a:xfrm>
            <a:off x="1051560" y="3017520"/>
            <a:ext cx="2865120" cy="6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AI Strategy Design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Anchor AI goals in purpose and human-centered aims</a:t>
            </a:r>
          </a:p>
        </p:txBody>
      </p:sp>
      <p:sp>
        <p:nvSpPr>
          <p:cNvPr id="203" name="Shape 203"/>
          <p:cNvSpPr/>
          <p:nvPr/>
        </p:nvSpPr>
        <p:spPr>
          <a:xfrm>
            <a:off x="1051560" y="3737520"/>
            <a:ext cx="2865120" cy="6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AI Strategy Evaluation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Review outcomes and harms, not only productivity</a:t>
            </a:r>
          </a:p>
        </p:txBody>
      </p:sp>
      <p:sp>
        <p:nvSpPr>
          <p:cNvPr id="204" name="Shape 204"/>
          <p:cNvSpPr/>
          <p:nvPr/>
        </p:nvSpPr>
        <p:spPr>
          <a:xfrm>
            <a:off x="1051560" y="4457520"/>
            <a:ext cx="2865120" cy="6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Leadership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Set ownership and accountability for AI decisions</a:t>
            </a:r>
          </a:p>
        </p:txBody>
      </p:sp>
      <p:sp>
        <p:nvSpPr>
          <p:cNvPr id="205" name="Shape 205"/>
          <p:cNvSpPr/>
          <p:nvPr/>
        </p:nvSpPr>
        <p:spPr>
          <a:xfrm>
            <a:off x="1051560" y="5177520"/>
            <a:ext cx="2865120" cy="6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Governance &amp; Ethics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Turn principles into rules, roles and enforcement</a:t>
            </a:r>
          </a:p>
        </p:txBody>
      </p:sp>
      <p:sp>
        <p:nvSpPr>
          <p:cNvPr id="206" name="Shape 206"/>
          <p:cNvSpPr/>
          <p:nvPr/>
        </p:nvSpPr>
        <p:spPr>
          <a:xfrm>
            <a:off x="4419600" y="2377440"/>
            <a:ext cx="332232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07" name="Shape 207"/>
          <p:cNvSpPr/>
          <p:nvPr/>
        </p:nvSpPr>
        <p:spPr>
          <a:xfrm>
            <a:off x="4602480" y="2542032"/>
            <a:ext cx="2956560" cy="320040"/>
          </a:xfrm>
          <a:prstGeom prst="roundRect">
            <a:avLst>
              <a:gd name="adj" fmla="val 50000"/>
            </a:avLst>
          </a:prstGeom>
          <a:solidFill>
            <a:srgbClr val="E8EBF8"/>
          </a:solidFill>
          <a:ln w="12700">
            <a:solidFill>
              <a:srgbClr val="C6CDEE"/>
            </a:solidFill>
          </a:ln>
        </p:spPr>
        <p:txBody>
          <a:bodyPr wrap="square" lIns="0" tIns="0" rIns="0" bIns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spc="100" dirty="0">
                <a:solidFill>
                  <a:srgbClr val="2B3F9E"/>
                </a:solidFill>
                <a:latin typeface="IBM Plex Mono"/>
                <a:ea typeface="IBM Plex Mono"/>
                <a:cs typeface="IBM Plex Mono"/>
              </a:rPr>
              <a:t>PEOPLE &amp; ORGANIZATION</a:t>
            </a:r>
          </a:p>
        </p:txBody>
      </p:sp>
      <p:sp>
        <p:nvSpPr>
          <p:cNvPr id="208" name="Shape 208"/>
          <p:cNvSpPr/>
          <p:nvPr/>
        </p:nvSpPr>
        <p:spPr>
          <a:xfrm>
            <a:off x="4648200" y="3017520"/>
            <a:ext cx="2865120" cy="6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Collaboration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Involve employees, IT, HR, legal and risk in decisions</a:t>
            </a:r>
          </a:p>
        </p:txBody>
      </p:sp>
      <p:sp>
        <p:nvSpPr>
          <p:cNvPr id="209" name="Shape 209"/>
          <p:cNvSpPr/>
          <p:nvPr/>
        </p:nvSpPr>
        <p:spPr>
          <a:xfrm>
            <a:off x="4648200" y="3737520"/>
            <a:ext cx="2865120" cy="6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Communication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Keep AI use and decision logic transparent</a:t>
            </a:r>
          </a:p>
        </p:txBody>
      </p:sp>
      <p:sp>
        <p:nvSpPr>
          <p:cNvPr id="210" name="Shape 210"/>
          <p:cNvSpPr/>
          <p:nvPr/>
        </p:nvSpPr>
        <p:spPr>
          <a:xfrm>
            <a:off x="4648200" y="4457520"/>
            <a:ext cx="2865120" cy="6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Organizational Culture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Make it safe to question or reject AI output</a:t>
            </a:r>
          </a:p>
        </p:txBody>
      </p:sp>
      <p:sp>
        <p:nvSpPr>
          <p:cNvPr id="211" name="Shape 211"/>
          <p:cNvSpPr/>
          <p:nvPr/>
        </p:nvSpPr>
        <p:spPr>
          <a:xfrm>
            <a:off x="4648200" y="5177520"/>
            <a:ext cx="2865120" cy="6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Organizational Dynamics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Account for power, roles and workflow effects</a:t>
            </a:r>
          </a:p>
        </p:txBody>
      </p:sp>
      <p:sp>
        <p:nvSpPr>
          <p:cNvPr id="212" name="Shape 212"/>
          <p:cNvSpPr/>
          <p:nvPr/>
        </p:nvSpPr>
        <p:spPr>
          <a:xfrm>
            <a:off x="8016240" y="2377440"/>
            <a:ext cx="332232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8E5"/>
            </a:solidFill>
          </a:ln>
        </p:spPr>
        <p:txBody>
          <a:bodyPr wrap="square" lIns="0" tIns="0" rIns="0" bIns="0" anchor="t"/>
          <a:lstStyle/>
          <a:p>
            <a:endParaRPr lang="en-US"/>
          </a:p>
        </p:txBody>
      </p:sp>
      <p:sp>
        <p:nvSpPr>
          <p:cNvPr id="213" name="Shape 213"/>
          <p:cNvSpPr/>
          <p:nvPr/>
        </p:nvSpPr>
        <p:spPr>
          <a:xfrm>
            <a:off x="8199120" y="2542032"/>
            <a:ext cx="2956560" cy="320040"/>
          </a:xfrm>
          <a:prstGeom prst="roundRect">
            <a:avLst>
              <a:gd name="adj" fmla="val 50000"/>
            </a:avLst>
          </a:prstGeom>
          <a:solidFill>
            <a:srgbClr val="FEF3DD"/>
          </a:solidFill>
          <a:ln w="12700">
            <a:solidFill>
              <a:srgbClr val="F3DDA8"/>
            </a:solidFill>
          </a:ln>
        </p:spPr>
        <p:txBody>
          <a:bodyPr wrap="square" lIns="0" tIns="0" rIns="0" bIns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spc="100" dirty="0">
                <a:solidFill>
                  <a:srgbClr val="8A5A00"/>
                </a:solidFill>
                <a:latin typeface="IBM Plex Mono"/>
                <a:ea typeface="IBM Plex Mono"/>
                <a:cs typeface="IBM Plex Mono"/>
              </a:rPr>
              <a:t>CAPABILITY &amp; OBLIGATIONS</a:t>
            </a:r>
          </a:p>
        </p:txBody>
      </p:sp>
      <p:sp>
        <p:nvSpPr>
          <p:cNvPr id="214" name="Shape 214"/>
          <p:cNvSpPr/>
          <p:nvPr/>
        </p:nvSpPr>
        <p:spPr>
          <a:xfrm>
            <a:off x="8244840" y="3017520"/>
            <a:ext cx="2865120" cy="6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Workforce Development / HRM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Up-skill people; guard fairness when HR uses AI</a:t>
            </a:r>
          </a:p>
        </p:txBody>
      </p:sp>
      <p:sp>
        <p:nvSpPr>
          <p:cNvPr id="215" name="Shape 215"/>
          <p:cNvSpPr/>
          <p:nvPr/>
        </p:nvSpPr>
        <p:spPr>
          <a:xfrm>
            <a:off x="8244840" y="3737520"/>
            <a:ext cx="2865120" cy="6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Sustainability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Weigh environmental and long-term societal impact</a:t>
            </a:r>
          </a:p>
        </p:txBody>
      </p:sp>
      <p:sp>
        <p:nvSpPr>
          <p:cNvPr id="216" name="Shape 216"/>
          <p:cNvSpPr/>
          <p:nvPr/>
        </p:nvSpPr>
        <p:spPr>
          <a:xfrm>
            <a:off x="8244840" y="4457520"/>
            <a:ext cx="2865120" cy="6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Legal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Map regulatory and compliance duties</a:t>
            </a:r>
          </a:p>
        </p:txBody>
      </p:sp>
      <p:sp>
        <p:nvSpPr>
          <p:cNvPr id="217" name="Shape 217"/>
          <p:cNvSpPr/>
          <p:nvPr/>
        </p:nvSpPr>
        <p:spPr>
          <a:xfrm>
            <a:off x="8244840" y="5177520"/>
            <a:ext cx="2865120" cy="6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202B"/>
                </a:solidFill>
                <a:latin typeface="Inter"/>
                <a:ea typeface="Inter"/>
                <a:cs typeface="Inter"/>
              </a:rPr>
              <a:t>Intellectual property &amp; ownership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dirty="0">
                <a:solidFill>
                  <a:srgbClr val="33424D"/>
                </a:solidFill>
                <a:latin typeface="Inter"/>
                <a:ea typeface="Inter"/>
                <a:cs typeface="Inter"/>
              </a:rPr>
              <a:t>Clarify who owns AI inputs, outputs and data</a:t>
            </a:r>
          </a:p>
        </p:txBody>
      </p:sp>
      <p:sp>
        <p:nvSpPr>
          <p:cNvPr id="25" name="Text 18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4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63898" cy="146304"/>
          </a:xfrm>
          <a:prstGeom prst="rect">
            <a:avLst/>
          </a:prstGeom>
          <a:solidFill>
            <a:srgbClr val="0F9E8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4" name="Shape 1"/>
          <p:cNvSpPr/>
          <p:nvPr/>
        </p:nvSpPr>
        <p:spPr>
          <a:xfrm>
            <a:off x="4063898" y="0"/>
            <a:ext cx="4063898" cy="146304"/>
          </a:xfrm>
          <a:prstGeom prst="rect">
            <a:avLst/>
          </a:prstGeom>
          <a:solidFill>
            <a:srgbClr val="2B3F9E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5" name="Shape 2"/>
          <p:cNvSpPr/>
          <p:nvPr/>
        </p:nvSpPr>
        <p:spPr>
          <a:xfrm>
            <a:off x="8127797" y="0"/>
            <a:ext cx="4063898" cy="14630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82296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5EE6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" y="2926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Now its up to us to create concrete help for organizations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C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Reflexive AI Research Initiative · Lucid Institute for Organizational Science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1233</Words>
  <Application>Microsoft Office PowerPoint</Application>
  <PresentationFormat>Widescreen</PresentationFormat>
  <Paragraphs>119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Inter</vt:lpstr>
      <vt:lpstr>Arial</vt:lpstr>
      <vt:lpstr>Sora</vt:lpstr>
      <vt:lpstr>IBM Plex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Chistiaan Verwijs</cp:lastModifiedBy>
  <cp:revision>37</cp:revision>
  <dcterms:created xsi:type="dcterms:W3CDTF">2026-08-16T17:47:46Z</dcterms:created>
  <dcterms:modified xsi:type="dcterms:W3CDTF">2026-09-30T11:27:25Z</dcterms:modified>
</cp:coreProperties>
</file>