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embeddedFontLst>
    <p:embeddedFont>
      <p:font typeface="IBM Plex Mono" panose="020B0509050203000203" pitchFamily="49" charset="0"/>
      <p:regular r:id="rId10"/>
      <p:bold r:id="rId11"/>
    </p:embeddedFont>
    <p:embeddedFont>
      <p:font typeface="Inter"/>
      <p:regular r:id="rId12"/>
      <p:bold r:id="rId13"/>
    </p:embeddedFont>
    <p:embeddedFont>
      <p:font typeface="Sora" pitchFamily="2" charset="0"/>
      <p:regular r:id="rId14"/>
      <p:bold r:id="rId1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3834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56719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44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5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6" name="Shape 3"/>
          <p:cNvSpPr/>
          <p:nvPr/>
        </p:nvSpPr>
        <p:spPr>
          <a:xfrm>
            <a:off x="822960" y="685800"/>
            <a:ext cx="301752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7" name="Image 1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" y="822960"/>
            <a:ext cx="2187245" cy="47548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22960" y="19659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5EE6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REFLEXIVE AI RESEARCH INITIATIVE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786384" y="2377440"/>
            <a:ext cx="10241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Human-Centered AI</a:t>
            </a:r>
            <a:endParaRPr lang="en-US" sz="5200" dirty="0"/>
          </a:p>
        </p:txBody>
      </p:sp>
      <p:sp>
        <p:nvSpPr>
          <p:cNvPr id="10" name="Text 6"/>
          <p:cNvSpPr/>
          <p:nvPr/>
        </p:nvSpPr>
        <p:spPr>
          <a:xfrm>
            <a:off x="822960" y="361188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D7E6E4"/>
                </a:solidFill>
                <a:latin typeface="Inter" pitchFamily="34" charset="0"/>
                <a:ea typeface="Inter" pitchFamily="34" charset="-122"/>
              </a:rPr>
              <a:t>Overview of </a:t>
            </a:r>
            <a:r>
              <a:rPr lang="en-US" dirty="0">
                <a:solidFill>
                  <a:srgbClr val="D7E6E4"/>
                </a:solidFill>
                <a:latin typeface="Inter" pitchFamily="34" charset="0"/>
                <a:ea typeface="Inter" pitchFamily="34" charset="-122"/>
              </a:rPr>
              <a:t>relevant insights from scientific research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822960" y="43434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minutes		details &amp; sources @ </a:t>
            </a:r>
            <a:r>
              <a:rPr lang="en-US" sz="1400" u="sng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https://github.com/LucidInstitute/Reflexive-AI-Initiative/tree/main/Literature</a:t>
            </a:r>
            <a:endParaRPr lang="en-US" sz="1400" u="sng" dirty="0"/>
          </a:p>
        </p:txBody>
      </p:sp>
      <p:sp>
        <p:nvSpPr>
          <p:cNvPr id="12" name="Text 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9BC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0" name="Text 7"/>
          <p:cNvSpPr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DEFINING AI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" y="14630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AI can take over human thinking, and technology is never neutral.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22960" y="31089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KEY FINDINGS</a:t>
            </a:r>
            <a:endParaRPr lang="en-US" sz="1050" dirty="0"/>
          </a:p>
        </p:txBody>
      </p:sp>
      <p:sp>
        <p:nvSpPr>
          <p:cNvPr id="100" name="Shape 10"/>
          <p:cNvSpPr/>
          <p:nvPr/>
        </p:nvSpPr>
        <p:spPr>
          <a:xfrm>
            <a:off x="82296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1</a:t>
            </a:r>
          </a:p>
        </p:txBody>
      </p:sp>
      <p:sp>
        <p:nvSpPr>
          <p:cNvPr id="101" name="Text 11"/>
          <p:cNvSpPr/>
          <p:nvPr/>
        </p:nvSpPr>
        <p:spPr>
          <a:xfrm>
            <a:off x="135331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OECD definition.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A machine-based system that infers from input how to generate predictions, content, recommendations or decisions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(OECD, 2024)</a:t>
            </a:r>
            <a:r>
              <a:rPr lang="en-US" sz="1100" dirty="0">
                <a:solidFill>
                  <a:schemeClr val="tx2"/>
                </a:solidFill>
                <a:latin typeface="Inter"/>
                <a:ea typeface="Inter"/>
                <a:cs typeface="Inter"/>
              </a:rPr>
              <a:t>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More simply: “Computers that do the sorts of things minds can do”</a:t>
            </a:r>
            <a:r>
              <a:rPr lang="en-US" sz="12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 (Boden, 2016).</a:t>
            </a:r>
          </a:p>
        </p:txBody>
      </p:sp>
      <p:sp>
        <p:nvSpPr>
          <p:cNvPr id="102" name="Shape 10"/>
          <p:cNvSpPr/>
          <p:nvPr/>
        </p:nvSpPr>
        <p:spPr>
          <a:xfrm>
            <a:off x="621792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2</a:t>
            </a:r>
          </a:p>
        </p:txBody>
      </p:sp>
      <p:sp>
        <p:nvSpPr>
          <p:cNvPr id="103" name="Text 11"/>
          <p:cNvSpPr/>
          <p:nvPr/>
        </p:nvSpPr>
        <p:spPr>
          <a:xfrm>
            <a:off x="674827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Minds, delegated.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Unlike earlier revolutions, thinking and creativity can now be delegated, not only physical action.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(Boden, 2016; Hilbert, 2020).</a:t>
            </a:r>
            <a:r>
              <a:rPr lang="en-US" sz="11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Robotics will also replace more physical action.</a:t>
            </a:r>
            <a:endParaRPr lang="en-US" sz="1300" dirty="0">
              <a:solidFill>
                <a:srgbClr val="6B7C88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104" name="Shape 10"/>
          <p:cNvSpPr/>
          <p:nvPr/>
        </p:nvSpPr>
        <p:spPr>
          <a:xfrm>
            <a:off x="82296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3</a:t>
            </a:r>
          </a:p>
        </p:txBody>
      </p:sp>
      <p:sp>
        <p:nvSpPr>
          <p:cNvPr id="105" name="Text 11"/>
          <p:cNvSpPr/>
          <p:nvPr/>
        </p:nvSpPr>
        <p:spPr>
          <a:xfrm>
            <a:off x="135331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Technology embodies power.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It shapes how we see the world and imposes behaviors on people.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(Winner, 1985; Latour, 1992)</a:t>
            </a:r>
          </a:p>
        </p:txBody>
      </p:sp>
      <p:sp>
        <p:nvSpPr>
          <p:cNvPr id="106" name="Shape 10"/>
          <p:cNvSpPr/>
          <p:nvPr/>
        </p:nvSpPr>
        <p:spPr>
          <a:xfrm>
            <a:off x="621792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4</a:t>
            </a:r>
          </a:p>
        </p:txBody>
      </p:sp>
      <p:sp>
        <p:nvSpPr>
          <p:cNvPr id="107" name="Text 11"/>
          <p:cNvSpPr/>
          <p:nvPr/>
        </p:nvSpPr>
        <p:spPr>
          <a:xfrm>
            <a:off x="674827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Bias carries over.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AI can perpetuate biases already present in its training data.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(Barocas &amp; Selbst, 2016; Noble, 2018)</a:t>
            </a:r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0" name="Text 7"/>
          <p:cNvSpPr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AI AND PRODUCTIVITY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" y="14630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Individual gains are real, but they do not automatically become team gains.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22960" y="31089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KEY FINDINGS</a:t>
            </a:r>
            <a:endParaRPr lang="en-US" sz="1050" dirty="0"/>
          </a:p>
        </p:txBody>
      </p:sp>
      <p:sp>
        <p:nvSpPr>
          <p:cNvPr id="100" name="Shape 10"/>
          <p:cNvSpPr/>
          <p:nvPr/>
        </p:nvSpPr>
        <p:spPr>
          <a:xfrm>
            <a:off x="82296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1</a:t>
            </a:r>
          </a:p>
        </p:txBody>
      </p:sp>
      <p:sp>
        <p:nvSpPr>
          <p:cNvPr id="101" name="Text 11"/>
          <p:cNvSpPr/>
          <p:nvPr/>
        </p:nvSpPr>
        <p:spPr>
          <a:xfrm>
            <a:off x="135331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Firm level.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Positive productivity effects across sectors, stronger when AI is integrated into work activities.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(Necula et al., 2024; Czarnitzki et al., 2023)</a:t>
            </a:r>
          </a:p>
        </p:txBody>
      </p:sp>
      <p:sp>
        <p:nvSpPr>
          <p:cNvPr id="102" name="Shape 10"/>
          <p:cNvSpPr/>
          <p:nvPr/>
        </p:nvSpPr>
        <p:spPr>
          <a:xfrm>
            <a:off x="621792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2</a:t>
            </a:r>
          </a:p>
        </p:txBody>
      </p:sp>
      <p:sp>
        <p:nvSpPr>
          <p:cNvPr id="103" name="Text 11"/>
          <p:cNvSpPr/>
          <p:nvPr/>
        </p:nvSpPr>
        <p:spPr>
          <a:xfrm>
            <a:off x="674827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Employee level.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In a survey of 359 bank employees, AI use raised productivity and engagement.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(Gusti et al., 2024)</a:t>
            </a:r>
          </a:p>
        </p:txBody>
      </p:sp>
      <p:sp>
        <p:nvSpPr>
          <p:cNvPr id="104" name="Shape 10"/>
          <p:cNvSpPr/>
          <p:nvPr/>
        </p:nvSpPr>
        <p:spPr>
          <a:xfrm>
            <a:off x="82296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3</a:t>
            </a:r>
          </a:p>
        </p:txBody>
      </p:sp>
      <p:sp>
        <p:nvSpPr>
          <p:cNvPr id="105" name="Text 11"/>
          <p:cNvSpPr/>
          <p:nvPr/>
        </p:nvSpPr>
        <p:spPr>
          <a:xfrm>
            <a:off x="135331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Perception gap.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Developers felt more productive, yet commit activity did not change and experienced developers were not faster.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(Stray et al., 2026; Becker et al., 2025)</a:t>
            </a:r>
          </a:p>
        </p:txBody>
      </p:sp>
      <p:sp>
        <p:nvSpPr>
          <p:cNvPr id="106" name="Shape 10"/>
          <p:cNvSpPr/>
          <p:nvPr/>
        </p:nvSpPr>
        <p:spPr>
          <a:xfrm>
            <a:off x="621792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4</a:t>
            </a:r>
          </a:p>
        </p:txBody>
      </p:sp>
      <p:sp>
        <p:nvSpPr>
          <p:cNvPr id="107" name="Text 11"/>
          <p:cNvSpPr/>
          <p:nvPr/>
        </p:nvSpPr>
        <p:spPr>
          <a:xfrm>
            <a:off x="674827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Lost downstream.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Local gains are absorbed by workflow and organizational constraints.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(DORA, 2025; Russo, 2026)</a:t>
            </a:r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0" name="Text 7"/>
          <p:cNvSpPr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HUMAN EXPERIENCE OF WORK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" y="14630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Whether AI helps or harms depends on trust, fit and culture.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22960" y="31089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KEY FINDINGS</a:t>
            </a:r>
            <a:endParaRPr lang="en-US" sz="1050" dirty="0"/>
          </a:p>
        </p:txBody>
      </p:sp>
      <p:sp>
        <p:nvSpPr>
          <p:cNvPr id="100" name="Shape 10"/>
          <p:cNvSpPr/>
          <p:nvPr/>
        </p:nvSpPr>
        <p:spPr>
          <a:xfrm>
            <a:off x="82296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1</a:t>
            </a:r>
          </a:p>
        </p:txBody>
      </p:sp>
      <p:sp>
        <p:nvSpPr>
          <p:cNvPr id="101" name="Text 11"/>
          <p:cNvSpPr/>
          <p:nvPr/>
        </p:nvSpPr>
        <p:spPr>
          <a:xfrm>
            <a:off x="135331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Engagement.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AI raised engagement in two manufacturers, unless self-efficacy is low or jobs were cut.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(Tortorella et al., 2025)</a:t>
            </a:r>
          </a:p>
        </p:txBody>
      </p:sp>
      <p:sp>
        <p:nvSpPr>
          <p:cNvPr id="102" name="Shape 10"/>
          <p:cNvSpPr/>
          <p:nvPr/>
        </p:nvSpPr>
        <p:spPr>
          <a:xfrm>
            <a:off x="621792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2</a:t>
            </a:r>
          </a:p>
        </p:txBody>
      </p:sp>
      <p:sp>
        <p:nvSpPr>
          <p:cNvPr id="103" name="Text 11"/>
          <p:cNvSpPr/>
          <p:nvPr/>
        </p:nvSpPr>
        <p:spPr>
          <a:xfrm>
            <a:off x="674827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Trust.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Low employer trust sharply reduces engagement; AI may bring an “alienational” contract.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(Braganza et al., 2021)</a:t>
            </a:r>
          </a:p>
        </p:txBody>
      </p:sp>
      <p:sp>
        <p:nvSpPr>
          <p:cNvPr id="104" name="Shape 10"/>
          <p:cNvSpPr/>
          <p:nvPr/>
        </p:nvSpPr>
        <p:spPr>
          <a:xfrm>
            <a:off x="82296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3</a:t>
            </a:r>
          </a:p>
        </p:txBody>
      </p:sp>
      <p:sp>
        <p:nvSpPr>
          <p:cNvPr id="105" name="Text 11"/>
          <p:cNvSpPr/>
          <p:nvPr/>
        </p:nvSpPr>
        <p:spPr>
          <a:xfrm>
            <a:off x="135331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Preconditions.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Task fit, transparency and expertise. Black boxes breed aversion; bureaucracy builds “algorithmic cages”.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(Bankins et al., 2023; Meijer et al., 2021)</a:t>
            </a:r>
          </a:p>
        </p:txBody>
      </p:sp>
      <p:sp>
        <p:nvSpPr>
          <p:cNvPr id="106" name="Shape 10"/>
          <p:cNvSpPr/>
          <p:nvPr/>
        </p:nvSpPr>
        <p:spPr>
          <a:xfrm>
            <a:off x="621792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4</a:t>
            </a:r>
          </a:p>
        </p:txBody>
      </p:sp>
      <p:sp>
        <p:nvSpPr>
          <p:cNvPr id="107" name="Text 11"/>
          <p:cNvSpPr/>
          <p:nvPr/>
        </p:nvSpPr>
        <p:spPr>
          <a:xfrm>
            <a:off x="674827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Six displacements.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Software engineers report epistemic, identity, normative, phenomenological, social and meaning shifts.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(Tavantzis et al., in press)</a:t>
            </a:r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0" name="Text 7"/>
          <p:cNvSpPr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AI AND SOCIETY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" y="14630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AI can amplify existing inequality unless we design purposefully against it.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22960" y="31089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KEY FINDINGS</a:t>
            </a:r>
            <a:endParaRPr lang="en-US" sz="1050" dirty="0"/>
          </a:p>
        </p:txBody>
      </p:sp>
      <p:sp>
        <p:nvSpPr>
          <p:cNvPr id="100" name="Shape 10"/>
          <p:cNvSpPr/>
          <p:nvPr/>
        </p:nvSpPr>
        <p:spPr>
          <a:xfrm>
            <a:off x="82296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1</a:t>
            </a:r>
          </a:p>
        </p:txBody>
      </p:sp>
      <p:sp>
        <p:nvSpPr>
          <p:cNvPr id="101" name="Text 11"/>
          <p:cNvSpPr/>
          <p:nvPr/>
        </p:nvSpPr>
        <p:spPr>
          <a:xfrm>
            <a:off x="135331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Bias in practice.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A widely used health system under-recommended treatment for black relative to white patients.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(Obermeyer et al., 2019)</a:t>
            </a:r>
          </a:p>
        </p:txBody>
      </p:sp>
      <p:sp>
        <p:nvSpPr>
          <p:cNvPr id="102" name="Shape 10"/>
          <p:cNvSpPr/>
          <p:nvPr/>
        </p:nvSpPr>
        <p:spPr>
          <a:xfrm>
            <a:off x="621792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2</a:t>
            </a:r>
          </a:p>
        </p:txBody>
      </p:sp>
      <p:sp>
        <p:nvSpPr>
          <p:cNvPr id="103" name="Text 11"/>
          <p:cNvSpPr/>
          <p:nvPr/>
        </p:nvSpPr>
        <p:spPr>
          <a:xfrm>
            <a:off x="674827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Hard to remove.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Mitigation strategies exist, but implicit biases are difficult to eradicate.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(Nazer et al., 2023; Howard &amp; Borenstein, 2017)</a:t>
            </a:r>
          </a:p>
        </p:txBody>
      </p:sp>
      <p:sp>
        <p:nvSpPr>
          <p:cNvPr id="104" name="Shape 10"/>
          <p:cNvSpPr/>
          <p:nvPr/>
        </p:nvSpPr>
        <p:spPr>
          <a:xfrm>
            <a:off x="82296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3</a:t>
            </a:r>
          </a:p>
        </p:txBody>
      </p:sp>
      <p:sp>
        <p:nvSpPr>
          <p:cNvPr id="105" name="Text 11"/>
          <p:cNvSpPr/>
          <p:nvPr/>
        </p:nvSpPr>
        <p:spPr>
          <a:xfrm>
            <a:off x="135331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Digital divide.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Inequality can grow between households that can use AI and those that cannot.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(Cornelli et al., 2023)</a:t>
            </a:r>
          </a:p>
        </p:txBody>
      </p:sp>
      <p:sp>
        <p:nvSpPr>
          <p:cNvPr id="106" name="Shape 10"/>
          <p:cNvSpPr/>
          <p:nvPr/>
        </p:nvSpPr>
        <p:spPr>
          <a:xfrm>
            <a:off x="621792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4</a:t>
            </a:r>
          </a:p>
        </p:txBody>
      </p:sp>
      <p:sp>
        <p:nvSpPr>
          <p:cNvPr id="107" name="Text 11"/>
          <p:cNvSpPr/>
          <p:nvPr/>
        </p:nvSpPr>
        <p:spPr>
          <a:xfrm>
            <a:off x="674827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Labor market.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Automation can replace low-skilled tasks, leaving some workers worse off despite seeming economic growth.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(Agrawal et al., 2019; Li &amp; Nichols, 2026)</a:t>
            </a:r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0" name="Text 7"/>
          <p:cNvSpPr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TOWARD HUMAN-CENTERED AI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" y="14630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Human-centered AI keeps people in control, backed by real governance – not just principles.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22960" y="31089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KEY FINDINGS</a:t>
            </a:r>
            <a:endParaRPr lang="en-US" sz="1050" dirty="0"/>
          </a:p>
        </p:txBody>
      </p:sp>
      <p:sp>
        <p:nvSpPr>
          <p:cNvPr id="100" name="Shape 10"/>
          <p:cNvSpPr/>
          <p:nvPr/>
        </p:nvSpPr>
        <p:spPr>
          <a:xfrm>
            <a:off x="82296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1</a:t>
            </a:r>
          </a:p>
        </p:txBody>
      </p:sp>
      <p:sp>
        <p:nvSpPr>
          <p:cNvPr id="101" name="Text 11"/>
          <p:cNvSpPr/>
          <p:nvPr/>
        </p:nvSpPr>
        <p:spPr>
          <a:xfrm>
            <a:off x="135331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Two dimensions.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Human control and computer automation are separate axes, not a single scale.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(Shneiderman, 2020)</a:t>
            </a:r>
          </a:p>
        </p:txBody>
      </p:sp>
      <p:sp>
        <p:nvSpPr>
          <p:cNvPr id="102" name="Shape 10"/>
          <p:cNvSpPr/>
          <p:nvPr/>
        </p:nvSpPr>
        <p:spPr>
          <a:xfrm>
            <a:off x="621792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2</a:t>
            </a:r>
          </a:p>
        </p:txBody>
      </p:sp>
      <p:sp>
        <p:nvSpPr>
          <p:cNvPr id="103" name="Text 11"/>
          <p:cNvSpPr/>
          <p:nvPr/>
        </p:nvSpPr>
        <p:spPr>
          <a:xfrm>
            <a:off x="674827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Copenhagen Manifesto.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35 scholars set five values and twelve principles built on dignity, autonomy and wellbeing.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(Russo et al., 2024)</a:t>
            </a:r>
          </a:p>
        </p:txBody>
      </p:sp>
      <p:sp>
        <p:nvSpPr>
          <p:cNvPr id="104" name="Shape 10"/>
          <p:cNvSpPr/>
          <p:nvPr/>
        </p:nvSpPr>
        <p:spPr>
          <a:xfrm>
            <a:off x="82296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3</a:t>
            </a:r>
          </a:p>
        </p:txBody>
      </p:sp>
      <p:sp>
        <p:nvSpPr>
          <p:cNvPr id="105" name="Text 11"/>
          <p:cNvSpPr/>
          <p:nvPr/>
        </p:nvSpPr>
        <p:spPr>
          <a:xfrm>
            <a:off x="135331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Working definition.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Efficient work while people stay in control, motivated, connected, and free to question or reject AI decisions.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(Initiative draft)</a:t>
            </a:r>
          </a:p>
        </p:txBody>
      </p:sp>
      <p:sp>
        <p:nvSpPr>
          <p:cNvPr id="106" name="Shape 10"/>
          <p:cNvSpPr/>
          <p:nvPr/>
        </p:nvSpPr>
        <p:spPr>
          <a:xfrm>
            <a:off x="621792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4</a:t>
            </a:r>
          </a:p>
        </p:txBody>
      </p:sp>
      <p:sp>
        <p:nvSpPr>
          <p:cNvPr id="107" name="Text 11"/>
          <p:cNvSpPr/>
          <p:nvPr/>
        </p:nvSpPr>
        <p:spPr>
          <a:xfrm>
            <a:off x="674827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Governance gap.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Ethical guidelines say what, not how, and can lose to commercial interests. Structures and processes are needed.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(Mittelstadt, 2019; Mäntymäki et al., 2022)</a:t>
            </a:r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44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5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6" name="Text 3"/>
          <p:cNvSpPr/>
          <p:nvPr/>
        </p:nvSpPr>
        <p:spPr>
          <a:xfrm>
            <a:off x="822960" y="24688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kern="0" spc="400" dirty="0">
                <a:solidFill>
                  <a:srgbClr val="5EE6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THANK YOU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86384" y="292608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From insight to responsible practice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9BC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817</Words>
  <Application>Microsoft Office PowerPoint</Application>
  <PresentationFormat>Widescreen</PresentationFormat>
  <Paragraphs>75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Inter</vt:lpstr>
      <vt:lpstr>Sora</vt:lpstr>
      <vt:lpstr>Arial</vt:lpstr>
      <vt:lpstr>IBM Plex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Chistiaan Verwijs</cp:lastModifiedBy>
  <cp:revision>32</cp:revision>
  <dcterms:created xsi:type="dcterms:W3CDTF">2026-08-16T17:47:46Z</dcterms:created>
  <dcterms:modified xsi:type="dcterms:W3CDTF">2026-09-28T09:28:48Z</dcterms:modified>
</cp:coreProperties>
</file>