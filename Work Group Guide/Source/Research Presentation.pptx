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5" r:id="rId9"/>
    <p:sldId id="262" r:id="rId10"/>
  </p:sldIdLst>
  <p:sldSz cx="12192000" cy="6858000"/>
  <p:notesSz cx="6858000" cy="12192000"/>
  <p:embeddedFontLst>
    <p:embeddedFont>
      <p:font typeface="IBM Plex Mono" panose="020B0509050203000203" pitchFamily="49" charset="0"/>
      <p:regular r:id="rId12"/>
      <p:bold r:id="rId13"/>
    </p:embeddedFont>
    <p:embeddedFont>
      <p:font typeface="Inter"/>
      <p:regular r:id="rId14"/>
      <p:bold r:id="rId15"/>
    </p:embeddedFont>
    <p:embeddedFont>
      <p:font typeface="Sora" pitchFamily="2" charset="0"/>
      <p:regular r:id="rId16"/>
      <p:bold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383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56719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GUIDING QUESTIONS PER THEME</a:t>
            </a:r>
          </a:p>
          <a:p>
            <a:r>
              <a:rPr lang="en-US" dirty="0"/>
              <a:t>Sources: T = Tavantzis et al., 2027 (9 dimensions, design principles, survey N=105, workshops N=4) · K = Kaskin expert interviews (N=10) · I = Initiative's earlier slide-8 themes</a:t>
            </a:r>
          </a:p>
          <a:p>
            <a:endParaRPr lang="en-US" dirty="0"/>
          </a:p>
          <a:p>
            <a:r>
              <a:rPr lang="en-US" dirty="0"/>
              <a:t>DIRECTION &amp; CONTROL</a:t>
            </a:r>
          </a:p>
          <a:p>
            <a:r>
              <a:rPr lang="en-US" dirty="0"/>
              <a:t>1. Purpose &amp; Strategy (T: AI Strategy Design · K1 · I)</a:t>
            </a:r>
          </a:p>
          <a:p>
            <a:r>
              <a:rPr lang="en-US" dirty="0"/>
              <a:t>- What does human-centered AI mean for us: AI as a complementary tool, with people and their dignity as reference point?</a:t>
            </a:r>
          </a:p>
          <a:p>
            <a:r>
              <a:rPr lang="en-US" dirty="0"/>
              <a:t>- Which concrete business and human need does this AI use address? (T: 'recognize a business need' was raised by 7 of 10 interviewees)</a:t>
            </a:r>
          </a:p>
          <a:p>
            <a:r>
              <a:rPr lang="en-US" dirty="0"/>
              <a:t>- Is the solution tailored to our domain and easy to use for the people who work with it?</a:t>
            </a:r>
          </a:p>
          <a:p>
            <a:r>
              <a:rPr lang="en-US" dirty="0"/>
              <a:t>2. Human Agency (K2 · T: Leadership, collective ownership, human retains veto · I: Leadership)</a:t>
            </a:r>
          </a:p>
          <a:p>
            <a:r>
              <a:rPr lang="en-US" dirty="0"/>
              <a:t>- Where does decision authority sit for each AI use, and who is accountable when an AI-influenced decision goes wrong?</a:t>
            </a:r>
          </a:p>
          <a:p>
            <a:r>
              <a:rPr lang="en-US" dirty="0"/>
              <a:t>- Is AI an advisor or a decision-maker here, and how far may AI agents act on their own?</a:t>
            </a:r>
          </a:p>
          <a:p>
            <a:r>
              <a:rPr lang="en-US" dirty="0"/>
              <a:t>- Can employees decide for themselves whether and how they use AI?</a:t>
            </a:r>
          </a:p>
          <a:p>
            <a:r>
              <a:rPr lang="en-US" dirty="0"/>
              <a:t>3. Governance &amp; Ethics (T · K8 · I)</a:t>
            </a:r>
          </a:p>
          <a:p>
            <a:r>
              <a:rPr lang="en-US" dirty="0"/>
              <a:t>- Which guidelines state where AI is not permitted and how sensitive data is handled before prompting?</a:t>
            </a:r>
          </a:p>
          <a:p>
            <a:r>
              <a:rPr lang="en-US" dirty="0"/>
              <a:t>- Who enforces them, through which roles (AI oversight roles, a cross-functional AI unit)?</a:t>
            </a:r>
          </a:p>
          <a:p>
            <a:r>
              <a:rPr lang="en-US" dirty="0"/>
              <a:t>- How do we address shadow AI without excessive control that stalls adoption?</a:t>
            </a:r>
          </a:p>
          <a:p>
            <a:r>
              <a:rPr lang="en-US" dirty="0"/>
              <a:t>4. Review &amp; Adaptation (T: AI Strategy Evaluation · K9 · I: Strategy Evaluation)</a:t>
            </a:r>
          </a:p>
          <a:p>
            <a:r>
              <a:rPr lang="en-US" dirty="0"/>
              <a:t>- Which indicators beyond productivity do we track: harms, rework of AI output, human-oversight ratio, wellbeing?</a:t>
            </a:r>
          </a:p>
          <a:p>
            <a:r>
              <a:rPr lang="en-US" dirty="0"/>
              <a:t>- How often do we reassess AI use, risks and roles, and who takes part?</a:t>
            </a:r>
          </a:p>
          <a:p>
            <a:r>
              <a:rPr lang="en-US" dirty="0"/>
              <a:t>- How do we introduce AI step by step, at a human pace, rather than technology-first?</a:t>
            </a:r>
          </a:p>
          <a:p>
            <a:endParaRPr lang="en-US" dirty="0"/>
          </a:p>
          <a:p>
            <a:r>
              <a:rPr lang="en-US" dirty="0"/>
              <a:t>PEOPLE &amp; WORK</a:t>
            </a:r>
          </a:p>
          <a:p>
            <a:r>
              <a:rPr lang="en-US" dirty="0"/>
              <a:t>5. Meaningful Work (K3 only)</a:t>
            </a:r>
          </a:p>
          <a:p>
            <a:r>
              <a:rPr lang="en-US" dirty="0"/>
              <a:t>- Which tasks keep people feeling needed, competent and connected, and must therefore stay human?</a:t>
            </a:r>
          </a:p>
          <a:p>
            <a:r>
              <a:rPr lang="en-US" dirty="0"/>
              <a:t>- How do roles change, and how do we support job crafting?</a:t>
            </a:r>
          </a:p>
          <a:p>
            <a:r>
              <a:rPr lang="en-US" dirty="0"/>
              <a:t>- Are workload, task switching and pressure rising as people become managers of AI agents?</a:t>
            </a:r>
          </a:p>
          <a:p>
            <a:r>
              <a:rPr lang="en-US" dirty="0"/>
              <a:t>6. Work Design (K4 · T: Collaboration, cross-functional teams · I: Collaboration)</a:t>
            </a:r>
          </a:p>
          <a:p>
            <a:r>
              <a:rPr lang="en-US" dirty="0"/>
              <a:t>- Which tasks go to people and which to AI, and what is AI's defined role in each?</a:t>
            </a:r>
          </a:p>
          <a:p>
            <a:r>
              <a:rPr lang="en-US" dirty="0"/>
              <a:t>- Does the task need close iterative collaboration (restrictive use) or a final human check (loose use)?</a:t>
            </a:r>
          </a:p>
          <a:p>
            <a:r>
              <a:rPr lang="en-US" dirty="0"/>
              <a:t>- Who redesigns the workflow, and are IT, HR, legal and domain experts involved?</a:t>
            </a:r>
          </a:p>
          <a:p>
            <a:r>
              <a:rPr lang="en-US" dirty="0"/>
              <a:t>7. Workforce &amp; Learning (T: Up-skilling · K5 · I: Workforce Development / HRM)</a:t>
            </a:r>
          </a:p>
          <a:p>
            <a:r>
              <a:rPr lang="en-US" dirty="0"/>
              <a:t>- Which skills must people build or preserve: AI literacy, domain expertise, verification, self-regulation?</a:t>
            </a:r>
          </a:p>
          <a:p>
            <a:r>
              <a:rPr lang="en-US" dirty="0"/>
              <a:t>- How do we prevent cognitive deskilling, e.g. skill verification and co-cognition instead of passive use?</a:t>
            </a:r>
          </a:p>
          <a:p>
            <a:r>
              <a:rPr lang="en-US" dirty="0"/>
              <a:t>- Which formats work: hands-on, tailored, cross-generational mentoring rather than passive courses?</a:t>
            </a:r>
          </a:p>
          <a:p>
            <a:r>
              <a:rPr lang="en-US" dirty="0"/>
              <a:t>8. Quality &amp; Oversight (K6 · T: evaluate AI outputs, monitor over-reliance)</a:t>
            </a:r>
          </a:p>
          <a:p>
            <a:r>
              <a:rPr lang="en-US" dirty="0"/>
              <a:t>- Who verifies AI output, how, and against which sources?</a:t>
            </a:r>
          </a:p>
          <a:p>
            <a:r>
              <a:rPr lang="en-US" dirty="0"/>
              <a:t>- How do we detect hallucinations, bias and over-reliance, and does the AI signal uncertainty?</a:t>
            </a:r>
          </a:p>
          <a:p>
            <a:r>
              <a:rPr lang="en-US" dirty="0"/>
              <a:t>- Where must speed yield to precision, knowing agents can break hard rules even when clearly prompted?</a:t>
            </a:r>
          </a:p>
          <a:p>
            <a:endParaRPr lang="en-US" dirty="0"/>
          </a:p>
          <a:p>
            <a:r>
              <a:rPr lang="en-US" dirty="0"/>
              <a:t>CULTURE &amp; VOICE</a:t>
            </a:r>
          </a:p>
          <a:p>
            <a:r>
              <a:rPr lang="en-US" dirty="0"/>
              <a:t>9. Communication (T · K8 transparency · I)</a:t>
            </a:r>
          </a:p>
          <a:p>
            <a:r>
              <a:rPr lang="en-US" dirty="0"/>
              <a:t>- Does everyone know whether we have an AI strategy and what it says? (T: almost 15% of respondents were unsure)</a:t>
            </a:r>
          </a:p>
          <a:p>
            <a:r>
              <a:rPr lang="en-US" dirty="0"/>
              <a:t>- Is it clear where AI is used, how decisions are made and how data is processed?</a:t>
            </a:r>
          </a:p>
          <a:p>
            <a:r>
              <a:rPr lang="en-US" dirty="0"/>
              <a:t>- Which two-way channels let people ask questions and raise concerns?</a:t>
            </a:r>
          </a:p>
          <a:p>
            <a:r>
              <a:rPr lang="en-US" dirty="0"/>
              <a:t>10. Participation (K8: co-design, works council · T: stakeholder engagement, listen to concerns)</a:t>
            </a:r>
          </a:p>
          <a:p>
            <a:r>
              <a:rPr lang="en-US" dirty="0"/>
              <a:t>- How are employees involved in choosing and designing AI uses, not only informed about them?</a:t>
            </a:r>
          </a:p>
          <a:p>
            <a:r>
              <a:rPr lang="en-US" dirty="0"/>
              <a:t>- Is there an independent body, such as a works council, that represents and protects employees?</a:t>
            </a:r>
          </a:p>
          <a:p>
            <a:r>
              <a:rPr lang="en-US" dirty="0"/>
              <a:t>- How can employees challenge or appeal AI-influenced decisions?</a:t>
            </a:r>
          </a:p>
          <a:p>
            <a:r>
              <a:rPr lang="en-US" dirty="0"/>
              <a:t>11. Questioning Culture (T: Organizational Culture · K5 · I)</a:t>
            </a:r>
          </a:p>
          <a:p>
            <a:r>
              <a:rPr lang="en-US" dirty="0"/>
              <a:t>- Can people experiment and make mistakes with AI without fear?</a:t>
            </a:r>
          </a:p>
          <a:p>
            <a:r>
              <a:rPr lang="en-US" dirty="0"/>
              <a:t>- Does top-down pressure for speed crowd out learning and reflection?</a:t>
            </a:r>
          </a:p>
          <a:p>
            <a:r>
              <a:rPr lang="en-US" dirty="0"/>
              <a:t>- Is it legitimate to question or reject AI output?</a:t>
            </a:r>
          </a:p>
          <a:p>
            <a:r>
              <a:rPr lang="en-US" dirty="0"/>
              <a:t>12. Power &amp; Dynamics (T: Organizational Dynamics · I)</a:t>
            </a:r>
          </a:p>
          <a:p>
            <a:r>
              <a:rPr lang="en-US" dirty="0"/>
              <a:t>- Whose interests drive AI adoption, and who gains or loses influence?</a:t>
            </a:r>
          </a:p>
          <a:p>
            <a:r>
              <a:rPr lang="en-US" dirty="0"/>
              <a:t>- Where do differing views and resistance come from, and what do they tell us?</a:t>
            </a:r>
          </a:p>
          <a:p>
            <a:r>
              <a:rPr lang="en-US" dirty="0"/>
              <a:t>- Is the timing right given internal pressures? (T: ranked lowest in the survey, although differing views were a frequent challenge)</a:t>
            </a:r>
          </a:p>
          <a:p>
            <a:endParaRPr lang="en-US" dirty="0"/>
          </a:p>
          <a:p>
            <a:r>
              <a:rPr lang="en-US" dirty="0"/>
              <a:t>BOUNDARIES &amp; DUTIES</a:t>
            </a:r>
          </a:p>
          <a:p>
            <a:r>
              <a:rPr lang="en-US" dirty="0"/>
              <a:t>13. Risk &amp; Boundaries (K7 · T: risk aversion due to sensitive data, the most-cited survey challenge)</a:t>
            </a:r>
          </a:p>
          <a:p>
            <a:r>
              <a:rPr lang="en-US" dirty="0"/>
              <a:t>- Which contexts need restrictions and more human involvement: health, HR, public sector, client-facing work?</a:t>
            </a:r>
          </a:p>
          <a:p>
            <a:r>
              <a:rPr lang="en-US" dirty="0"/>
              <a:t>- Which organizational data may AI agents access, mirroring employees' access rights?</a:t>
            </a:r>
          </a:p>
          <a:p>
            <a:r>
              <a:rPr lang="en-US" dirty="0"/>
              <a:t>- How do we rule out AI-enabled monitoring and surveillance of employees?</a:t>
            </a:r>
          </a:p>
          <a:p>
            <a:r>
              <a:rPr lang="en-US" dirty="0"/>
              <a:t>14. Legal &amp; Compliance (T: external environment, regulation · K8 · I)</a:t>
            </a:r>
          </a:p>
          <a:p>
            <a:r>
              <a:rPr lang="en-US" dirty="0"/>
              <a:t>- Which rules apply to each use: EU AI Act transparency and human oversight, GDPR, sector rules?</a:t>
            </a:r>
          </a:p>
          <a:p>
            <a:r>
              <a:rPr lang="en-US" dirty="0"/>
              <a:t>- Who monitors regulatory change and translates it into our guidelines?</a:t>
            </a:r>
          </a:p>
          <a:p>
            <a:r>
              <a:rPr lang="en-US" dirty="0"/>
              <a:t>15. IP &amp; Data Ownership (I · T: anonymize proprietary data, provide internal AI solutions)</a:t>
            </a:r>
          </a:p>
          <a:p>
            <a:r>
              <a:rPr lang="en-US" dirty="0"/>
              <a:t>- Who owns AI inputs, outputs and derived data?</a:t>
            </a:r>
          </a:p>
          <a:p>
            <a:r>
              <a:rPr lang="en-US" dirty="0"/>
              <a:t>- What may leave the organization through external AI tools, and when do we need internal solutions?</a:t>
            </a:r>
          </a:p>
          <a:p>
            <a:r>
              <a:rPr lang="en-US" dirty="0"/>
              <a:t>16. Sustainability (I · K7 environmental impact)</a:t>
            </a:r>
          </a:p>
          <a:p>
            <a:r>
              <a:rPr lang="en-US" dirty="0"/>
              <a:t>- What is the environmental footprint of our AI use, and is it proportionate to the benefit?</a:t>
            </a:r>
          </a:p>
          <a:p>
            <a:r>
              <a:rPr lang="en-US" dirty="0"/>
              <a:t>- What are the long-term societal effects, for example on jobs and inequality?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44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6" name="Shape 3"/>
          <p:cNvSpPr/>
          <p:nvPr/>
        </p:nvSpPr>
        <p:spPr>
          <a:xfrm>
            <a:off x="822960" y="685800"/>
            <a:ext cx="301752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7" name="Image 1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" y="822960"/>
            <a:ext cx="2187245" cy="47548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22960" y="19659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5EE6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REFLEXIVE AI RESEARCH INITIATIVE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786384" y="2377440"/>
            <a:ext cx="10241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Human-Centered AI</a:t>
            </a:r>
            <a:endParaRPr lang="en-US" sz="5200" dirty="0"/>
          </a:p>
        </p:txBody>
      </p:sp>
      <p:sp>
        <p:nvSpPr>
          <p:cNvPr id="10" name="Text 6"/>
          <p:cNvSpPr/>
          <p:nvPr/>
        </p:nvSpPr>
        <p:spPr>
          <a:xfrm>
            <a:off x="822960" y="36118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D7E6E4"/>
                </a:solidFill>
                <a:latin typeface="Inter" pitchFamily="34" charset="0"/>
                <a:ea typeface="Inter" pitchFamily="34" charset="-122"/>
              </a:rPr>
              <a:t>Overview of </a:t>
            </a:r>
            <a:r>
              <a:rPr lang="en-US" dirty="0">
                <a:solidFill>
                  <a:srgbClr val="D7E6E4"/>
                </a:solidFill>
                <a:latin typeface="Inter" pitchFamily="34" charset="0"/>
                <a:ea typeface="Inter" pitchFamily="34" charset="-122"/>
              </a:rPr>
              <a:t>relevant insights from scientific research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822960" y="4692317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minutes	</a:t>
            </a:r>
          </a:p>
          <a:p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	</a:t>
            </a:r>
          </a:p>
          <a:p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details &amp; sources @ </a:t>
            </a:r>
            <a:r>
              <a:rPr lang="en-US" sz="1400" u="sng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https://github.com/LucidInstitute/Reflexive-AI-Initiative/tree/main/Literature</a:t>
            </a:r>
            <a:endParaRPr lang="en-US" sz="1400" u="sng" dirty="0"/>
          </a:p>
        </p:txBody>
      </p:sp>
      <p:sp>
        <p:nvSpPr>
          <p:cNvPr id="12" name="Text 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9BC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DEFINING AI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" y="14630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AI can take over human thinking, and technology is never neutral.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22960" y="3108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KEY FINDINGS</a:t>
            </a:r>
            <a:endParaRPr lang="en-US" sz="1050" dirty="0"/>
          </a:p>
        </p:txBody>
      </p:sp>
      <p:sp>
        <p:nvSpPr>
          <p:cNvPr id="100" name="Shape 10"/>
          <p:cNvSpPr/>
          <p:nvPr/>
        </p:nvSpPr>
        <p:spPr>
          <a:xfrm>
            <a:off x="82296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1</a:t>
            </a:r>
          </a:p>
        </p:txBody>
      </p:sp>
      <p:sp>
        <p:nvSpPr>
          <p:cNvPr id="101" name="Text 11"/>
          <p:cNvSpPr/>
          <p:nvPr/>
        </p:nvSpPr>
        <p:spPr>
          <a:xfrm>
            <a:off x="135331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OECD definition.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A machine-based system that infers from input how to generate predictions, content, recommendations or decisions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(OECD, 2024)</a:t>
            </a:r>
            <a:r>
              <a:rPr lang="en-US" sz="1100" dirty="0">
                <a:solidFill>
                  <a:schemeClr val="tx2"/>
                </a:solidFill>
                <a:latin typeface="Inter"/>
                <a:ea typeface="Inter"/>
                <a:cs typeface="Inter"/>
              </a:rPr>
              <a:t>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More simply: “Computers that do the sorts of things minds can do”</a:t>
            </a:r>
            <a:r>
              <a:rPr lang="en-US" sz="12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 (Boden, 2016).</a:t>
            </a:r>
          </a:p>
        </p:txBody>
      </p:sp>
      <p:sp>
        <p:nvSpPr>
          <p:cNvPr id="102" name="Shape 10"/>
          <p:cNvSpPr/>
          <p:nvPr/>
        </p:nvSpPr>
        <p:spPr>
          <a:xfrm>
            <a:off x="621792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2</a:t>
            </a:r>
          </a:p>
        </p:txBody>
      </p:sp>
      <p:sp>
        <p:nvSpPr>
          <p:cNvPr id="103" name="Text 11"/>
          <p:cNvSpPr/>
          <p:nvPr/>
        </p:nvSpPr>
        <p:spPr>
          <a:xfrm>
            <a:off x="674827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Minds, delegated.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Unlike earlier revolutions, thinking and creativity can now be delegated, not only physical action.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(Boden, 2016; Hilbert, 2020).</a:t>
            </a:r>
            <a:r>
              <a:rPr lang="en-US" sz="11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Robotics will also replace more physical action.</a:t>
            </a:r>
            <a:endParaRPr lang="en-US" sz="1300" dirty="0">
              <a:solidFill>
                <a:srgbClr val="6B7C88"/>
              </a:solidFill>
              <a:latin typeface="Inter"/>
              <a:ea typeface="Inter"/>
              <a:cs typeface="Inter"/>
            </a:endParaRPr>
          </a:p>
        </p:txBody>
      </p:sp>
      <p:sp>
        <p:nvSpPr>
          <p:cNvPr id="104" name="Shape 10"/>
          <p:cNvSpPr/>
          <p:nvPr/>
        </p:nvSpPr>
        <p:spPr>
          <a:xfrm>
            <a:off x="82296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3</a:t>
            </a:r>
          </a:p>
        </p:txBody>
      </p:sp>
      <p:sp>
        <p:nvSpPr>
          <p:cNvPr id="105" name="Text 11"/>
          <p:cNvSpPr/>
          <p:nvPr/>
        </p:nvSpPr>
        <p:spPr>
          <a:xfrm>
            <a:off x="135331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Technology embodies power.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It shapes how we see the world and imposes behaviors on people.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(Winner, 1985; Latour, 1992)</a:t>
            </a:r>
          </a:p>
        </p:txBody>
      </p:sp>
      <p:sp>
        <p:nvSpPr>
          <p:cNvPr id="106" name="Shape 10"/>
          <p:cNvSpPr/>
          <p:nvPr/>
        </p:nvSpPr>
        <p:spPr>
          <a:xfrm>
            <a:off x="621792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4</a:t>
            </a:r>
          </a:p>
        </p:txBody>
      </p:sp>
      <p:sp>
        <p:nvSpPr>
          <p:cNvPr id="107" name="Text 11"/>
          <p:cNvSpPr/>
          <p:nvPr/>
        </p:nvSpPr>
        <p:spPr>
          <a:xfrm>
            <a:off x="674827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Bias carries over.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AI can perpetuate biases already present in its training data.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(Barocas &amp; Selbst, 2016; Noble, 2018)</a:t>
            </a:r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AI AND PRODUCTIVITY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" y="14630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Individual gains are real, but they do not automatically become team gains.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22960" y="3108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KEY FINDINGS</a:t>
            </a:r>
            <a:endParaRPr lang="en-US" sz="1050" dirty="0"/>
          </a:p>
        </p:txBody>
      </p:sp>
      <p:sp>
        <p:nvSpPr>
          <p:cNvPr id="100" name="Shape 10"/>
          <p:cNvSpPr/>
          <p:nvPr/>
        </p:nvSpPr>
        <p:spPr>
          <a:xfrm>
            <a:off x="82296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1</a:t>
            </a:r>
          </a:p>
        </p:txBody>
      </p:sp>
      <p:sp>
        <p:nvSpPr>
          <p:cNvPr id="101" name="Text 11"/>
          <p:cNvSpPr/>
          <p:nvPr/>
        </p:nvSpPr>
        <p:spPr>
          <a:xfrm>
            <a:off x="135331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Firm level.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Positive productivity effects across sectors, stronger when AI is integrated into work activities.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(Necula et al., 2024; Czarnitzki et al., 2023)</a:t>
            </a:r>
          </a:p>
        </p:txBody>
      </p:sp>
      <p:sp>
        <p:nvSpPr>
          <p:cNvPr id="102" name="Shape 10"/>
          <p:cNvSpPr/>
          <p:nvPr/>
        </p:nvSpPr>
        <p:spPr>
          <a:xfrm>
            <a:off x="621792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2</a:t>
            </a:r>
          </a:p>
        </p:txBody>
      </p:sp>
      <p:sp>
        <p:nvSpPr>
          <p:cNvPr id="103" name="Text 11"/>
          <p:cNvSpPr/>
          <p:nvPr/>
        </p:nvSpPr>
        <p:spPr>
          <a:xfrm>
            <a:off x="674827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Employee level.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In a survey of 359 bank employees, AI use raised productivity and engagement.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(Gusti et al., 2024)</a:t>
            </a:r>
          </a:p>
        </p:txBody>
      </p:sp>
      <p:sp>
        <p:nvSpPr>
          <p:cNvPr id="104" name="Shape 10"/>
          <p:cNvSpPr/>
          <p:nvPr/>
        </p:nvSpPr>
        <p:spPr>
          <a:xfrm>
            <a:off x="82296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3</a:t>
            </a:r>
          </a:p>
        </p:txBody>
      </p:sp>
      <p:sp>
        <p:nvSpPr>
          <p:cNvPr id="105" name="Text 11"/>
          <p:cNvSpPr/>
          <p:nvPr/>
        </p:nvSpPr>
        <p:spPr>
          <a:xfrm>
            <a:off x="135331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Perception gap.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Developers felt more productive, yet commit activity did not change and experienced developers were not faster.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(Stray et al., 2026; Becker et al., 2025)</a:t>
            </a:r>
          </a:p>
        </p:txBody>
      </p:sp>
      <p:sp>
        <p:nvSpPr>
          <p:cNvPr id="106" name="Shape 10"/>
          <p:cNvSpPr/>
          <p:nvPr/>
        </p:nvSpPr>
        <p:spPr>
          <a:xfrm>
            <a:off x="621792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4</a:t>
            </a:r>
          </a:p>
        </p:txBody>
      </p:sp>
      <p:sp>
        <p:nvSpPr>
          <p:cNvPr id="107" name="Text 11"/>
          <p:cNvSpPr/>
          <p:nvPr/>
        </p:nvSpPr>
        <p:spPr>
          <a:xfrm>
            <a:off x="674827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Lost downstream.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Local gains are absorbed by workflow and organizational constraints.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(DORA, 2025; Russo, 2026)</a:t>
            </a:r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HUMAN EXPERIENCE OF WORK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" y="14630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Whether AI helps or harms depends on trust, fit and culture.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22960" y="3108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KEY FINDINGS</a:t>
            </a:r>
            <a:endParaRPr lang="en-US" sz="1050" dirty="0"/>
          </a:p>
        </p:txBody>
      </p:sp>
      <p:sp>
        <p:nvSpPr>
          <p:cNvPr id="100" name="Shape 10"/>
          <p:cNvSpPr/>
          <p:nvPr/>
        </p:nvSpPr>
        <p:spPr>
          <a:xfrm>
            <a:off x="82296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1</a:t>
            </a:r>
          </a:p>
        </p:txBody>
      </p:sp>
      <p:sp>
        <p:nvSpPr>
          <p:cNvPr id="101" name="Text 11"/>
          <p:cNvSpPr/>
          <p:nvPr/>
        </p:nvSpPr>
        <p:spPr>
          <a:xfrm>
            <a:off x="135331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Engagement.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AI raised engagement in two manufacturers, unless self-efficacy is low or jobs were cut.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(Tortorella et al., 2025)</a:t>
            </a:r>
          </a:p>
        </p:txBody>
      </p:sp>
      <p:sp>
        <p:nvSpPr>
          <p:cNvPr id="102" name="Shape 10"/>
          <p:cNvSpPr/>
          <p:nvPr/>
        </p:nvSpPr>
        <p:spPr>
          <a:xfrm>
            <a:off x="621792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2</a:t>
            </a:r>
          </a:p>
        </p:txBody>
      </p:sp>
      <p:sp>
        <p:nvSpPr>
          <p:cNvPr id="103" name="Text 11"/>
          <p:cNvSpPr/>
          <p:nvPr/>
        </p:nvSpPr>
        <p:spPr>
          <a:xfrm>
            <a:off x="674827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Trust.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Low employer trust sharply reduces engagement; AI may bring an “alienational” contract.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(Braganza et al., 2021)</a:t>
            </a:r>
          </a:p>
        </p:txBody>
      </p:sp>
      <p:sp>
        <p:nvSpPr>
          <p:cNvPr id="104" name="Shape 10"/>
          <p:cNvSpPr/>
          <p:nvPr/>
        </p:nvSpPr>
        <p:spPr>
          <a:xfrm>
            <a:off x="82296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3</a:t>
            </a:r>
          </a:p>
        </p:txBody>
      </p:sp>
      <p:sp>
        <p:nvSpPr>
          <p:cNvPr id="105" name="Text 11"/>
          <p:cNvSpPr/>
          <p:nvPr/>
        </p:nvSpPr>
        <p:spPr>
          <a:xfrm>
            <a:off x="135331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Preconditions.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Task fit, transparency and expertise. Black boxes breed aversion; bureaucracy builds “algorithmic cages”.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(Bankins et al., 2023; Meijer et al., 2021)</a:t>
            </a:r>
          </a:p>
        </p:txBody>
      </p:sp>
      <p:sp>
        <p:nvSpPr>
          <p:cNvPr id="106" name="Shape 10"/>
          <p:cNvSpPr/>
          <p:nvPr/>
        </p:nvSpPr>
        <p:spPr>
          <a:xfrm>
            <a:off x="621792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4</a:t>
            </a:r>
          </a:p>
        </p:txBody>
      </p:sp>
      <p:sp>
        <p:nvSpPr>
          <p:cNvPr id="107" name="Text 11"/>
          <p:cNvSpPr/>
          <p:nvPr/>
        </p:nvSpPr>
        <p:spPr>
          <a:xfrm>
            <a:off x="674827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Six displacements.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Software engineers report epistemic, identity, normative, phenomenological, social and meaning shifts.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(Tavantzis et al., in press)</a:t>
            </a:r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AI AND SOCIETY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" y="14630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AI can amplify existing inequality unless we design purposefully against it.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22960" y="3108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KEY FINDINGS</a:t>
            </a:r>
            <a:endParaRPr lang="en-US" sz="1050" dirty="0"/>
          </a:p>
        </p:txBody>
      </p:sp>
      <p:sp>
        <p:nvSpPr>
          <p:cNvPr id="100" name="Shape 10"/>
          <p:cNvSpPr/>
          <p:nvPr/>
        </p:nvSpPr>
        <p:spPr>
          <a:xfrm>
            <a:off x="82296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1</a:t>
            </a:r>
          </a:p>
        </p:txBody>
      </p:sp>
      <p:sp>
        <p:nvSpPr>
          <p:cNvPr id="101" name="Text 11"/>
          <p:cNvSpPr/>
          <p:nvPr/>
        </p:nvSpPr>
        <p:spPr>
          <a:xfrm>
            <a:off x="135331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Bias in practice.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A widely used health system under-recommended treatment for black relative to white patients.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(Obermeyer et al., 2019)</a:t>
            </a:r>
          </a:p>
        </p:txBody>
      </p:sp>
      <p:sp>
        <p:nvSpPr>
          <p:cNvPr id="102" name="Shape 10"/>
          <p:cNvSpPr/>
          <p:nvPr/>
        </p:nvSpPr>
        <p:spPr>
          <a:xfrm>
            <a:off x="621792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2</a:t>
            </a:r>
          </a:p>
        </p:txBody>
      </p:sp>
      <p:sp>
        <p:nvSpPr>
          <p:cNvPr id="103" name="Text 11"/>
          <p:cNvSpPr/>
          <p:nvPr/>
        </p:nvSpPr>
        <p:spPr>
          <a:xfrm>
            <a:off x="674827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Hard to remove.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Mitigation strategies exist, but implicit biases are difficult to eradicate.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(Nazer et al., 2023; Howard &amp; Borenstein, 2017)</a:t>
            </a:r>
          </a:p>
        </p:txBody>
      </p:sp>
      <p:sp>
        <p:nvSpPr>
          <p:cNvPr id="104" name="Shape 10"/>
          <p:cNvSpPr/>
          <p:nvPr/>
        </p:nvSpPr>
        <p:spPr>
          <a:xfrm>
            <a:off x="82296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3</a:t>
            </a:r>
          </a:p>
        </p:txBody>
      </p:sp>
      <p:sp>
        <p:nvSpPr>
          <p:cNvPr id="105" name="Text 11"/>
          <p:cNvSpPr/>
          <p:nvPr/>
        </p:nvSpPr>
        <p:spPr>
          <a:xfrm>
            <a:off x="135331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Digital divide.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Inequality can grow between households that can use AI and those that cannot.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(Cornelli et al., 2023)</a:t>
            </a:r>
          </a:p>
        </p:txBody>
      </p:sp>
      <p:sp>
        <p:nvSpPr>
          <p:cNvPr id="106" name="Shape 10"/>
          <p:cNvSpPr/>
          <p:nvPr/>
        </p:nvSpPr>
        <p:spPr>
          <a:xfrm>
            <a:off x="621792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4</a:t>
            </a:r>
          </a:p>
        </p:txBody>
      </p:sp>
      <p:sp>
        <p:nvSpPr>
          <p:cNvPr id="107" name="Text 11"/>
          <p:cNvSpPr/>
          <p:nvPr/>
        </p:nvSpPr>
        <p:spPr>
          <a:xfrm>
            <a:off x="674827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Labor market.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Automation can replace low-skilled tasks, leaving some workers worse off despite seeming economic growth.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(Agrawal et al., 2019; Li &amp; Nichols, 2026)</a:t>
            </a:r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HUMAN-CENTERED AI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" y="14630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Human-centered AI balances human control and automation, guided by shared values.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22960" y="3108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KEY FINDINGS</a:t>
            </a:r>
            <a:endParaRPr lang="en-US" sz="1050" dirty="0"/>
          </a:p>
        </p:txBody>
      </p:sp>
      <p:sp>
        <p:nvSpPr>
          <p:cNvPr id="100" name="Shape 10"/>
          <p:cNvSpPr/>
          <p:nvPr/>
        </p:nvSpPr>
        <p:spPr>
          <a:xfrm>
            <a:off x="82296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1</a:t>
            </a:r>
          </a:p>
        </p:txBody>
      </p:sp>
      <p:sp>
        <p:nvSpPr>
          <p:cNvPr id="101" name="Text 11"/>
          <p:cNvSpPr/>
          <p:nvPr/>
        </p:nvSpPr>
        <p:spPr>
          <a:xfrm>
            <a:off x="135331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One scale is not enough.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Early models run from no automation to full autonomy, as in self-driving cars, and force a choice. Too much control or too much automation can both add risk.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(Sheridan &amp; Verplank, 1978; SAE, 2014)</a:t>
            </a:r>
          </a:p>
        </p:txBody>
      </p:sp>
      <p:sp>
        <p:nvSpPr>
          <p:cNvPr id="102" name="Shape 10"/>
          <p:cNvSpPr/>
          <p:nvPr/>
        </p:nvSpPr>
        <p:spPr>
          <a:xfrm>
            <a:off x="621792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2</a:t>
            </a:r>
          </a:p>
        </p:txBody>
      </p:sp>
      <p:sp>
        <p:nvSpPr>
          <p:cNvPr id="103" name="Text 11"/>
          <p:cNvSpPr/>
          <p:nvPr/>
        </p:nvSpPr>
        <p:spPr>
          <a:xfrm>
            <a:off x="674827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Two dimensions.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Human control and computer automation are separate axes. Life-critical systems such as pacemakers and self-driving cars need both high to be reliable, safe and trustworthy.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(Shneiderman, 2020)</a:t>
            </a:r>
          </a:p>
        </p:txBody>
      </p:sp>
      <p:sp>
        <p:nvSpPr>
          <p:cNvPr id="104" name="Shape 10"/>
          <p:cNvSpPr/>
          <p:nvPr/>
        </p:nvSpPr>
        <p:spPr>
          <a:xfrm>
            <a:off x="82296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3</a:t>
            </a:r>
          </a:p>
        </p:txBody>
      </p:sp>
      <p:sp>
        <p:nvSpPr>
          <p:cNvPr id="105" name="Text 11"/>
          <p:cNvSpPr/>
          <p:nvPr/>
        </p:nvSpPr>
        <p:spPr>
          <a:xfrm>
            <a:off x="135331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Copenhagen Manifesto.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35 scholars set five values and twelve principles on human dignity, autonomy and collective wellbeing, including human sovereignty and responsible management.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(Russo et al., 2024)</a:t>
            </a:r>
          </a:p>
        </p:txBody>
      </p:sp>
      <p:sp>
        <p:nvSpPr>
          <p:cNvPr id="106" name="Shape 10"/>
          <p:cNvSpPr/>
          <p:nvPr/>
        </p:nvSpPr>
        <p:spPr>
          <a:xfrm>
            <a:off x="621792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4</a:t>
            </a:r>
          </a:p>
        </p:txBody>
      </p:sp>
      <p:sp>
        <p:nvSpPr>
          <p:cNvPr id="107" name="Text 11"/>
          <p:cNvSpPr/>
          <p:nvPr/>
        </p:nvSpPr>
        <p:spPr>
          <a:xfrm>
            <a:off x="674827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Working definition.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No agreed definition yet. Our draft: efficient work while people stay in control, motivated, connected, and free to question, change or reject AI decisions.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(Initiative draft)</a:t>
            </a:r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GOVERNANCE OF AI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" y="14630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Governance must turn principles into structures, processes and enforcement.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22960" y="3108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WHERE TO FOCUS</a:t>
            </a:r>
            <a:endParaRPr lang="en-US" sz="1050" dirty="0"/>
          </a:p>
        </p:txBody>
      </p:sp>
      <p:sp>
        <p:nvSpPr>
          <p:cNvPr id="100" name="Shape 10"/>
          <p:cNvSpPr/>
          <p:nvPr/>
        </p:nvSpPr>
        <p:spPr>
          <a:xfrm>
            <a:off x="82296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1</a:t>
            </a:r>
          </a:p>
        </p:txBody>
      </p:sp>
      <p:sp>
        <p:nvSpPr>
          <p:cNvPr id="101" name="Text 11"/>
          <p:cNvSpPr/>
          <p:nvPr/>
        </p:nvSpPr>
        <p:spPr>
          <a:xfrm>
            <a:off x="135331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Answer how, not just what.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Ethical guidelines say what, not how, and can lose to commercial interests. Define structures, processes and relational mechanisms, with enforcement.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(Mittelstadt, 2019; Mäntymäki et al., 2022)</a:t>
            </a:r>
          </a:p>
        </p:txBody>
      </p:sp>
      <p:sp>
        <p:nvSpPr>
          <p:cNvPr id="102" name="Shape 10"/>
          <p:cNvSpPr/>
          <p:nvPr/>
        </p:nvSpPr>
        <p:spPr>
          <a:xfrm>
            <a:off x="6217920" y="370332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2</a:t>
            </a:r>
          </a:p>
        </p:txBody>
      </p:sp>
      <p:sp>
        <p:nvSpPr>
          <p:cNvPr id="103" name="Text 11"/>
          <p:cNvSpPr/>
          <p:nvPr/>
        </p:nvSpPr>
        <p:spPr>
          <a:xfrm>
            <a:off x="6748272" y="365760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Cover who, what, when and how.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Define who governs, what is governed, when across the lifecycle, and how through policies, tools and models. Think system-level, not just algorithm ethics.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(Batool et al., 2025; Lu et al., 2022)</a:t>
            </a:r>
          </a:p>
        </p:txBody>
      </p:sp>
      <p:sp>
        <p:nvSpPr>
          <p:cNvPr id="104" name="Shape 10"/>
          <p:cNvSpPr/>
          <p:nvPr/>
        </p:nvSpPr>
        <p:spPr>
          <a:xfrm>
            <a:off x="82296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3</a:t>
            </a:r>
          </a:p>
        </p:txBody>
      </p:sp>
      <p:sp>
        <p:nvSpPr>
          <p:cNvPr id="105" name="Text 11"/>
          <p:cNvSpPr/>
          <p:nvPr/>
        </p:nvSpPr>
        <p:spPr>
          <a:xfrm>
            <a:off x="135331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Go beyond fairness and privacy.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Most solutions address only one or two principles. Build in the human-centered ones: control, autonomy, wellbeing and creativity.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(Batool et al., 2025; Russo et al., 2024)</a:t>
            </a:r>
          </a:p>
        </p:txBody>
      </p:sp>
      <p:sp>
        <p:nvSpPr>
          <p:cNvPr id="106" name="Shape 10"/>
          <p:cNvSpPr/>
          <p:nvPr/>
        </p:nvSpPr>
        <p:spPr>
          <a:xfrm>
            <a:off x="6217920" y="4937760"/>
            <a:ext cx="402336" cy="402336"/>
          </a:xfrm>
          <a:prstGeom prst="ellipse">
            <a:avLst/>
          </a:prstGeom>
          <a:solidFill>
            <a:srgbClr val="EAF6F3"/>
          </a:solidFill>
          <a:ln w="12700">
            <a:solidFill>
              <a:srgbClr val="BFE3DC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300" b="1">
                <a:solidFill>
                  <a:srgbClr val="0B6F63"/>
                </a:solidFill>
                <a:latin typeface="IBM Plex Mono"/>
              </a:rPr>
              <a:t>4</a:t>
            </a:r>
          </a:p>
        </p:txBody>
      </p:sp>
      <p:sp>
        <p:nvSpPr>
          <p:cNvPr id="107" name="Text 11"/>
          <p:cNvSpPr/>
          <p:nvPr/>
        </p:nvSpPr>
        <p:spPr>
          <a:xfrm>
            <a:off x="6748272" y="4892040"/>
            <a:ext cx="47000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B6F63"/>
                </a:solidFill>
                <a:latin typeface="Inter"/>
                <a:ea typeface="Inter"/>
                <a:cs typeface="Inter"/>
              </a:rPr>
              <a:t>Make it actionable. </a:t>
            </a:r>
            <a:r>
              <a:rPr lang="en-US" sz="1300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Use concrete patterns, fit them to culture, leadership and up-skilling, and test with Action Research in real organizations. </a:t>
            </a:r>
            <a:r>
              <a:rPr lang="en-US" sz="1100" dirty="0">
                <a:solidFill>
                  <a:srgbClr val="6B7C88"/>
                </a:solidFill>
                <a:latin typeface="Inter"/>
                <a:ea typeface="Inter"/>
                <a:cs typeface="Inter"/>
              </a:rPr>
              <a:t>(Lu et al., 2022; Tavantzis et al., 2027)</a:t>
            </a:r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10" name="Text 7"/>
          <p:cNvSpPr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0B6F6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GOVERNANCE FRAMEWORK · THEMES FROM LITERATURE REVIEW &amp; EXPERT INTERVIEWS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" y="14630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Sixteen </a:t>
            </a:r>
            <a:r>
              <a:rPr lang="en-US" sz="3200" b="1" u="sng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starting</a:t>
            </a:r>
            <a:r>
              <a:rPr lang="en-US" sz="3200" b="1" dirty="0">
                <a:solidFill>
                  <a:srgbClr val="14202B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 themes for human-centered AI</a:t>
            </a:r>
            <a:endParaRPr lang="en-US" sz="3200" dirty="0"/>
          </a:p>
        </p:txBody>
      </p:sp>
      <p:sp>
        <p:nvSpPr>
          <p:cNvPr id="301" name="Shape 301"/>
          <p:cNvSpPr/>
          <p:nvPr/>
        </p:nvSpPr>
        <p:spPr>
          <a:xfrm>
            <a:off x="822960" y="2377440"/>
            <a:ext cx="2457450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302" name="Shape 302"/>
          <p:cNvSpPr/>
          <p:nvPr/>
        </p:nvSpPr>
        <p:spPr>
          <a:xfrm>
            <a:off x="960120" y="2542032"/>
            <a:ext cx="2183130" cy="320040"/>
          </a:xfrm>
          <a:prstGeom prst="roundRect">
            <a:avLst>
              <a:gd name="adj" fmla="val 50000"/>
            </a:avLst>
          </a:prstGeom>
          <a:solidFill>
            <a:srgbClr val="EAF6F3"/>
          </a:solidFill>
          <a:ln w="12700">
            <a:solidFill>
              <a:srgbClr val="BFE3DC"/>
            </a:solidFill>
          </a:ln>
        </p:spPr>
        <p:txBody>
          <a:bodyPr wrap="square" lIns="0" tIns="0" rIns="0" bIns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900" b="1" spc="80" dirty="0">
                <a:solidFill>
                  <a:srgbClr val="0B6F63"/>
                </a:solidFill>
                <a:latin typeface="IBM Plex Mono"/>
                <a:ea typeface="IBM Plex Mono"/>
                <a:cs typeface="IBM Plex Mono"/>
              </a:rPr>
              <a:t>DIRECTION &amp; CONTROL</a:t>
            </a:r>
          </a:p>
        </p:txBody>
      </p:sp>
      <p:sp>
        <p:nvSpPr>
          <p:cNvPr id="303" name="Shape 303"/>
          <p:cNvSpPr/>
          <p:nvPr/>
        </p:nvSpPr>
        <p:spPr>
          <a:xfrm>
            <a:off x="1005840" y="301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Purpose &amp; Strategy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What does human-centered mean here, and which real need does each AI use serve?</a:t>
            </a:r>
          </a:p>
        </p:txBody>
      </p:sp>
      <p:sp>
        <p:nvSpPr>
          <p:cNvPr id="304" name="Shape 304"/>
          <p:cNvSpPr/>
          <p:nvPr/>
        </p:nvSpPr>
        <p:spPr>
          <a:xfrm>
            <a:off x="1005840" y="373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Human Agency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Who decides, how far may AI agents act alone, and who answers for the result?</a:t>
            </a:r>
          </a:p>
        </p:txBody>
      </p:sp>
      <p:sp>
        <p:nvSpPr>
          <p:cNvPr id="305" name="Shape 305"/>
          <p:cNvSpPr/>
          <p:nvPr/>
        </p:nvSpPr>
        <p:spPr>
          <a:xfrm>
            <a:off x="1005840" y="445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Governance &amp; Ethics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Which rules, roles and enforcement turn our principles into daily practice?</a:t>
            </a:r>
          </a:p>
        </p:txBody>
      </p:sp>
      <p:sp>
        <p:nvSpPr>
          <p:cNvPr id="306" name="Shape 306"/>
          <p:cNvSpPr/>
          <p:nvPr/>
        </p:nvSpPr>
        <p:spPr>
          <a:xfrm>
            <a:off x="1005840" y="517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Review &amp; Adaptation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How do we track outcomes, harms and wellbeing, and adapt at a human pace?</a:t>
            </a:r>
          </a:p>
        </p:txBody>
      </p:sp>
      <p:sp>
        <p:nvSpPr>
          <p:cNvPr id="307" name="Shape 307"/>
          <p:cNvSpPr/>
          <p:nvPr/>
        </p:nvSpPr>
        <p:spPr>
          <a:xfrm>
            <a:off x="3509010" y="2377440"/>
            <a:ext cx="2457450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308" name="Shape 308"/>
          <p:cNvSpPr/>
          <p:nvPr/>
        </p:nvSpPr>
        <p:spPr>
          <a:xfrm>
            <a:off x="3646170" y="2542032"/>
            <a:ext cx="2183130" cy="320040"/>
          </a:xfrm>
          <a:prstGeom prst="roundRect">
            <a:avLst>
              <a:gd name="adj" fmla="val 50000"/>
            </a:avLst>
          </a:prstGeom>
          <a:solidFill>
            <a:srgbClr val="E8EBF8"/>
          </a:solidFill>
          <a:ln w="12700">
            <a:solidFill>
              <a:srgbClr val="C6CDEE"/>
            </a:solidFill>
          </a:ln>
        </p:spPr>
        <p:txBody>
          <a:bodyPr wrap="square" lIns="0" tIns="0" rIns="0" bIns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900" b="1" spc="80" dirty="0">
                <a:solidFill>
                  <a:srgbClr val="2B3F9E"/>
                </a:solidFill>
                <a:latin typeface="IBM Plex Mono"/>
                <a:ea typeface="IBM Plex Mono"/>
                <a:cs typeface="IBM Plex Mono"/>
              </a:rPr>
              <a:t>PEOPLE &amp; WORK</a:t>
            </a:r>
          </a:p>
        </p:txBody>
      </p:sp>
      <p:sp>
        <p:nvSpPr>
          <p:cNvPr id="309" name="Shape 309"/>
          <p:cNvSpPr/>
          <p:nvPr/>
        </p:nvSpPr>
        <p:spPr>
          <a:xfrm>
            <a:off x="3691890" y="301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Meaningful Work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Which tasks must stay human to keep work competent and meaningful?</a:t>
            </a:r>
          </a:p>
        </p:txBody>
      </p:sp>
      <p:sp>
        <p:nvSpPr>
          <p:cNvPr id="310" name="Shape 310"/>
          <p:cNvSpPr/>
          <p:nvPr/>
        </p:nvSpPr>
        <p:spPr>
          <a:xfrm>
            <a:off x="3691890" y="373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Work Design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How do we split tasks between people and AI and redesign workflows?</a:t>
            </a:r>
          </a:p>
        </p:txBody>
      </p:sp>
      <p:sp>
        <p:nvSpPr>
          <p:cNvPr id="311" name="Shape 311"/>
          <p:cNvSpPr/>
          <p:nvPr/>
        </p:nvSpPr>
        <p:spPr>
          <a:xfrm>
            <a:off x="3691890" y="445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Workforce &amp; Learning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Which skills must people build or keep to use, verify and question AI?</a:t>
            </a:r>
          </a:p>
        </p:txBody>
      </p:sp>
      <p:sp>
        <p:nvSpPr>
          <p:cNvPr id="312" name="Shape 312"/>
          <p:cNvSpPr/>
          <p:nvPr/>
        </p:nvSpPr>
        <p:spPr>
          <a:xfrm>
            <a:off x="3691890" y="517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Quality &amp; Oversight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How do we verify AI output, surface uncertainty and prevent over-reliance?</a:t>
            </a:r>
          </a:p>
        </p:txBody>
      </p:sp>
      <p:sp>
        <p:nvSpPr>
          <p:cNvPr id="313" name="Shape 313"/>
          <p:cNvSpPr/>
          <p:nvPr/>
        </p:nvSpPr>
        <p:spPr>
          <a:xfrm>
            <a:off x="6195060" y="2377440"/>
            <a:ext cx="2457450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314" name="Shape 314"/>
          <p:cNvSpPr/>
          <p:nvPr/>
        </p:nvSpPr>
        <p:spPr>
          <a:xfrm>
            <a:off x="6332220" y="2542032"/>
            <a:ext cx="2183130" cy="320040"/>
          </a:xfrm>
          <a:prstGeom prst="roundRect">
            <a:avLst>
              <a:gd name="adj" fmla="val 50000"/>
            </a:avLst>
          </a:prstGeom>
          <a:solidFill>
            <a:srgbClr val="FEF3DD"/>
          </a:solidFill>
          <a:ln w="12700">
            <a:solidFill>
              <a:srgbClr val="F3DDA8"/>
            </a:solidFill>
          </a:ln>
        </p:spPr>
        <p:txBody>
          <a:bodyPr wrap="square" lIns="0" tIns="0" rIns="0" bIns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900" b="1" spc="80" dirty="0">
                <a:solidFill>
                  <a:srgbClr val="8A5A00"/>
                </a:solidFill>
                <a:latin typeface="IBM Plex Mono"/>
                <a:ea typeface="IBM Plex Mono"/>
                <a:cs typeface="IBM Plex Mono"/>
              </a:rPr>
              <a:t>CULTURE &amp; VOICE</a:t>
            </a:r>
          </a:p>
        </p:txBody>
      </p:sp>
      <p:sp>
        <p:nvSpPr>
          <p:cNvPr id="315" name="Shape 315"/>
          <p:cNvSpPr/>
          <p:nvPr/>
        </p:nvSpPr>
        <p:spPr>
          <a:xfrm>
            <a:off x="6377940" y="301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Communication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Do people know where, how and why AI is used, and how their data is handled?</a:t>
            </a:r>
          </a:p>
        </p:txBody>
      </p:sp>
      <p:sp>
        <p:nvSpPr>
          <p:cNvPr id="316" name="Shape 316"/>
          <p:cNvSpPr/>
          <p:nvPr/>
        </p:nvSpPr>
        <p:spPr>
          <a:xfrm>
            <a:off x="6377940" y="373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Participation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How do employees and their representatives co-design and contest AI use?</a:t>
            </a:r>
          </a:p>
        </p:txBody>
      </p:sp>
      <p:sp>
        <p:nvSpPr>
          <p:cNvPr id="317" name="Shape 317"/>
          <p:cNvSpPr/>
          <p:nvPr/>
        </p:nvSpPr>
        <p:spPr>
          <a:xfrm>
            <a:off x="6377940" y="445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Questioning Culture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Can people experiment, make mistakes and reject AI output without pressure?</a:t>
            </a:r>
          </a:p>
        </p:txBody>
      </p:sp>
      <p:sp>
        <p:nvSpPr>
          <p:cNvPr id="318" name="Shape 318"/>
          <p:cNvSpPr/>
          <p:nvPr/>
        </p:nvSpPr>
        <p:spPr>
          <a:xfrm>
            <a:off x="6377940" y="517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Power &amp; Dynamics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Whose interests, roles and timing shape AI, and where does resistance come from?</a:t>
            </a:r>
          </a:p>
        </p:txBody>
      </p:sp>
      <p:sp>
        <p:nvSpPr>
          <p:cNvPr id="319" name="Shape 319"/>
          <p:cNvSpPr/>
          <p:nvPr/>
        </p:nvSpPr>
        <p:spPr>
          <a:xfrm>
            <a:off x="8881110" y="2377440"/>
            <a:ext cx="2457450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8E5"/>
            </a:solidFill>
          </a:ln>
        </p:spPr>
        <p:txBody>
          <a:bodyPr wrap="square" lIns="0" tIns="0" rIns="0" bIns="0" anchor="t"/>
          <a:lstStyle/>
          <a:p>
            <a:endParaRPr lang="en-US"/>
          </a:p>
        </p:txBody>
      </p:sp>
      <p:sp>
        <p:nvSpPr>
          <p:cNvPr id="320" name="Shape 320"/>
          <p:cNvSpPr/>
          <p:nvPr/>
        </p:nvSpPr>
        <p:spPr>
          <a:xfrm>
            <a:off x="9018270" y="2542032"/>
            <a:ext cx="2183130" cy="320040"/>
          </a:xfrm>
          <a:prstGeom prst="roundRect">
            <a:avLst>
              <a:gd name="adj" fmla="val 50000"/>
            </a:avLst>
          </a:prstGeom>
          <a:solidFill>
            <a:srgbClr val="EEF1F4"/>
          </a:solidFill>
          <a:ln w="12700">
            <a:solidFill>
              <a:srgbClr val="CDD5DC"/>
            </a:solidFill>
          </a:ln>
        </p:spPr>
        <p:txBody>
          <a:bodyPr wrap="square" lIns="0" tIns="0" rIns="0" bIns="0" anchor="ctr"/>
          <a:lstStyle/>
          <a:p>
            <a:pPr marL="0" indent="0" algn="ctr">
              <a:spcAft>
                <a:spcPts val="0"/>
              </a:spcAft>
              <a:buNone/>
            </a:pPr>
            <a:r>
              <a:rPr lang="en-US" sz="900" b="1" spc="80" dirty="0">
                <a:solidFill>
                  <a:srgbClr val="33424D"/>
                </a:solidFill>
                <a:latin typeface="IBM Plex Mono"/>
                <a:ea typeface="IBM Plex Mono"/>
                <a:cs typeface="IBM Plex Mono"/>
              </a:rPr>
              <a:t>BOUNDARIES &amp; DUTIES</a:t>
            </a:r>
          </a:p>
        </p:txBody>
      </p:sp>
      <p:sp>
        <p:nvSpPr>
          <p:cNvPr id="321" name="Shape 321"/>
          <p:cNvSpPr/>
          <p:nvPr/>
        </p:nvSpPr>
        <p:spPr>
          <a:xfrm>
            <a:off x="9063990" y="301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Risk &amp; Boundaries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Where is AI restricted or off-limits, e.g. HR, health, monitoring of staff?</a:t>
            </a:r>
          </a:p>
        </p:txBody>
      </p:sp>
      <p:sp>
        <p:nvSpPr>
          <p:cNvPr id="322" name="Shape 322"/>
          <p:cNvSpPr/>
          <p:nvPr/>
        </p:nvSpPr>
        <p:spPr>
          <a:xfrm>
            <a:off x="9063990" y="373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Legal &amp; Compliance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T·K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Which laws and regulations, like the EU AI Act, apply to each AI use?</a:t>
            </a:r>
          </a:p>
        </p:txBody>
      </p:sp>
      <p:sp>
        <p:nvSpPr>
          <p:cNvPr id="323" name="Shape 323"/>
          <p:cNvSpPr/>
          <p:nvPr/>
        </p:nvSpPr>
        <p:spPr>
          <a:xfrm>
            <a:off x="9063990" y="445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IP &amp; Data Ownership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T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Who owns AI inputs, outputs and data, and what may leave the organization?</a:t>
            </a:r>
          </a:p>
        </p:txBody>
      </p:sp>
      <p:sp>
        <p:nvSpPr>
          <p:cNvPr id="324" name="Shape 324"/>
          <p:cNvSpPr/>
          <p:nvPr/>
        </p:nvSpPr>
        <p:spPr>
          <a:xfrm>
            <a:off x="9063990" y="5177520"/>
            <a:ext cx="2091690" cy="6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4202B"/>
                </a:solidFill>
                <a:latin typeface="Inter"/>
                <a:ea typeface="Inter"/>
                <a:cs typeface="Inter"/>
              </a:rPr>
              <a:t>Sustainability</a:t>
            </a:r>
            <a:r>
              <a:rPr lang="en-US" sz="750" b="0" dirty="0">
                <a:solidFill>
                  <a:srgbClr val="5F6F7A"/>
                </a:solidFill>
                <a:latin typeface="Inter"/>
                <a:ea typeface="Inter"/>
                <a:cs typeface="Inter"/>
              </a:rPr>
              <a:t>  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000" i="1" dirty="0">
                <a:solidFill>
                  <a:srgbClr val="33424D"/>
                </a:solidFill>
                <a:latin typeface="Inter"/>
                <a:ea typeface="Inter"/>
                <a:cs typeface="Inter"/>
              </a:rPr>
              <a:t>What is the environmental and long-term societal cost of our AI use?</a:t>
            </a:r>
          </a:p>
        </p:txBody>
      </p:sp>
      <p:sp>
        <p:nvSpPr>
          <p:cNvPr id="25" name="Text 18"/>
          <p:cNvSpPr/>
          <p:nvPr/>
        </p:nvSpPr>
        <p:spPr>
          <a:xfrm>
            <a:off x="822960" y="6419088"/>
            <a:ext cx="480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  <p:sp>
        <p:nvSpPr>
          <p:cNvPr id="26" name="Source legend"/>
          <p:cNvSpPr/>
          <p:nvPr/>
        </p:nvSpPr>
        <p:spPr>
          <a:xfrm>
            <a:off x="5600000" y="6419088"/>
            <a:ext cx="57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 = Literature Review by Tavantzis et al. (2027) · K = Expert interviews by Z. Keskin (2026)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44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063898" cy="146304"/>
          </a:xfrm>
          <a:prstGeom prst="rect">
            <a:avLst/>
          </a:prstGeom>
          <a:solidFill>
            <a:srgbClr val="0F9E8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4" name="Shape 1"/>
          <p:cNvSpPr/>
          <p:nvPr/>
        </p:nvSpPr>
        <p:spPr>
          <a:xfrm>
            <a:off x="4063898" y="0"/>
            <a:ext cx="4063898" cy="146304"/>
          </a:xfrm>
          <a:prstGeom prst="rect">
            <a:avLst/>
          </a:prstGeom>
          <a:solidFill>
            <a:srgbClr val="2B3F9E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5" name="Shape 2"/>
          <p:cNvSpPr/>
          <p:nvPr/>
        </p:nvSpPr>
        <p:spPr>
          <a:xfrm>
            <a:off x="8127797" y="0"/>
            <a:ext cx="4063898" cy="146304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lstStyle/>
          <a:p>
            <a:endParaRPr lang="LID4096"/>
          </a:p>
        </p:txBody>
      </p:sp>
      <p:sp>
        <p:nvSpPr>
          <p:cNvPr id="6" name="Text 3"/>
          <p:cNvSpPr/>
          <p:nvPr/>
        </p:nvSpPr>
        <p:spPr>
          <a:xfrm>
            <a:off x="822960" y="24688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kern="0" spc="400" dirty="0">
                <a:solidFill>
                  <a:srgbClr val="5EE6D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6384" y="29260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Now its up to us to create concrete help for organizations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822960" y="64190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9BC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Reflexive AI Research Initiative · Lucid Institute for Organizational Science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2569</Words>
  <Application>Microsoft Office PowerPoint</Application>
  <PresentationFormat>Widescreen</PresentationFormat>
  <Paragraphs>201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Sora</vt:lpstr>
      <vt:lpstr>Arial</vt:lpstr>
      <vt:lpstr>IBM Plex Mono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Chistiaan Verwijs</cp:lastModifiedBy>
  <cp:revision>42</cp:revision>
  <dcterms:created xsi:type="dcterms:W3CDTF">2026-08-16T17:47:46Z</dcterms:created>
  <dcterms:modified xsi:type="dcterms:W3CDTF">2026-10-01T18:08:16Z</dcterms:modified>
</cp:coreProperties>
</file>